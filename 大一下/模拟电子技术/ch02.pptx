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sldIdLst>
    <p:sldId id="550" r:id="rId3"/>
    <p:sldId id="615" r:id="rId4"/>
    <p:sldId id="551" r:id="rId5"/>
    <p:sldId id="552" r:id="rId6"/>
    <p:sldId id="553" r:id="rId7"/>
    <p:sldId id="555" r:id="rId8"/>
    <p:sldId id="556" r:id="rId9"/>
    <p:sldId id="557" r:id="rId10"/>
    <p:sldId id="603" r:id="rId11"/>
    <p:sldId id="604" r:id="rId12"/>
    <p:sldId id="616" r:id="rId13"/>
    <p:sldId id="617" r:id="rId14"/>
    <p:sldId id="618" r:id="rId15"/>
    <p:sldId id="609" r:id="rId16"/>
    <p:sldId id="562" r:id="rId17"/>
    <p:sldId id="563" r:id="rId18"/>
    <p:sldId id="564" r:id="rId19"/>
    <p:sldId id="565" r:id="rId20"/>
    <p:sldId id="566" r:id="rId21"/>
    <p:sldId id="567" r:id="rId22"/>
    <p:sldId id="568" r:id="rId23"/>
    <p:sldId id="569" r:id="rId24"/>
    <p:sldId id="570" r:id="rId25"/>
    <p:sldId id="571" r:id="rId26"/>
    <p:sldId id="572" r:id="rId27"/>
    <p:sldId id="573" r:id="rId28"/>
    <p:sldId id="574" r:id="rId29"/>
    <p:sldId id="575" r:id="rId30"/>
    <p:sldId id="606" r:id="rId31"/>
    <p:sldId id="576" r:id="rId32"/>
    <p:sldId id="577" r:id="rId33"/>
    <p:sldId id="578" r:id="rId34"/>
    <p:sldId id="579" r:id="rId35"/>
    <p:sldId id="580" r:id="rId36"/>
    <p:sldId id="581" r:id="rId37"/>
    <p:sldId id="607" r:id="rId38"/>
    <p:sldId id="582" r:id="rId39"/>
    <p:sldId id="608" r:id="rId40"/>
    <p:sldId id="583" r:id="rId41"/>
    <p:sldId id="584" r:id="rId42"/>
    <p:sldId id="591" r:id="rId43"/>
    <p:sldId id="590" r:id="rId44"/>
    <p:sldId id="585" r:id="rId45"/>
    <p:sldId id="586" r:id="rId46"/>
    <p:sldId id="587" r:id="rId47"/>
    <p:sldId id="588" r:id="rId48"/>
    <p:sldId id="593" r:id="rId49"/>
    <p:sldId id="594" r:id="rId50"/>
    <p:sldId id="595" r:id="rId51"/>
    <p:sldId id="596" r:id="rId52"/>
    <p:sldId id="597" r:id="rId53"/>
    <p:sldId id="598" r:id="rId54"/>
    <p:sldId id="599" r:id="rId55"/>
    <p:sldId id="612" r:id="rId56"/>
    <p:sldId id="600" r:id="rId57"/>
    <p:sldId id="601" r:id="rId58"/>
  </p:sldIdLst>
  <p:sldSz cx="9144000" cy="6858000" type="screen4x3"/>
  <p:notesSz cx="6858000" cy="9144000"/>
  <p:custDataLst>
    <p:tags r:id="rId6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0000CC"/>
    <a:srgbClr val="CC6600"/>
    <a:srgbClr val="000099"/>
    <a:srgbClr val="000066"/>
    <a:srgbClr val="00FFFF"/>
    <a:srgbClr val="D0D8E8"/>
    <a:srgbClr val="E9ED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3" autoAdjust="0"/>
    <p:restoredTop sz="92604" autoAdjust="0"/>
  </p:normalViewPr>
  <p:slideViewPr>
    <p:cSldViewPr showGuides="1">
      <p:cViewPr>
        <p:scale>
          <a:sx n="90" d="100"/>
          <a:sy n="90" d="100"/>
        </p:scale>
        <p:origin x="1140" y="150"/>
      </p:cViewPr>
      <p:guideLst>
        <p:guide orient="horz" pos="2160"/>
        <p:guide pos="28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3" Type="http://schemas.openxmlformats.org/officeDocument/2006/relationships/tags" Target="tags/tag1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4.xml"/><Relationship Id="rId59" Type="http://schemas.openxmlformats.org/officeDocument/2006/relationships/notesMaster" Target="notesMasters/notesMaster1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20.wmf"/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7" Type="http://schemas.openxmlformats.org/officeDocument/2006/relationships/image" Target="../media/image27.emf"/><Relationship Id="rId6" Type="http://schemas.openxmlformats.org/officeDocument/2006/relationships/image" Target="../media/image26.emf"/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31.wmf"/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emf"/></Relationships>
</file>

<file path=ppt/drawings/_rels/vmlDrawing8.vml.rels><?xml version="1.0" encoding="UTF-8" standalone="yes"?>
<Relationships xmlns="http://schemas.openxmlformats.org/package/2006/relationships"><Relationship Id="rId7" Type="http://schemas.openxmlformats.org/officeDocument/2006/relationships/image" Target="../media/image34.wmf"/><Relationship Id="rId6" Type="http://schemas.openxmlformats.org/officeDocument/2006/relationships/image" Target="../media/image33.wmf"/><Relationship Id="rId5" Type="http://schemas.openxmlformats.org/officeDocument/2006/relationships/image" Target="../media/image23.emf"/><Relationship Id="rId4" Type="http://schemas.openxmlformats.org/officeDocument/2006/relationships/image" Target="../media/image27.emf"/><Relationship Id="rId3" Type="http://schemas.openxmlformats.org/officeDocument/2006/relationships/image" Target="../media/image26.emf"/><Relationship Id="rId2" Type="http://schemas.openxmlformats.org/officeDocument/2006/relationships/image" Target="../media/image32.wmf"/><Relationship Id="rId1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7" Type="http://schemas.openxmlformats.org/officeDocument/2006/relationships/image" Target="../media/image37.wmf"/><Relationship Id="rId6" Type="http://schemas.openxmlformats.org/officeDocument/2006/relationships/image" Target="../media/image36.wmf"/><Relationship Id="rId5" Type="http://schemas.openxmlformats.org/officeDocument/2006/relationships/image" Target="../media/image31.wmf"/><Relationship Id="rId4" Type="http://schemas.openxmlformats.org/officeDocument/2006/relationships/image" Target="../media/image28.emf"/><Relationship Id="rId3" Type="http://schemas.openxmlformats.org/officeDocument/2006/relationships/image" Target="../media/image34.wmf"/><Relationship Id="rId2" Type="http://schemas.openxmlformats.org/officeDocument/2006/relationships/image" Target="../media/image35.wmf"/><Relationship Id="rId1" Type="http://schemas.openxmlformats.org/officeDocument/2006/relationships/image" Target="../media/image2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40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1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emf"/><Relationship Id="rId1" Type="http://schemas.openxmlformats.org/officeDocument/2006/relationships/image" Target="../media/image44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5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emf"/><Relationship Id="rId1" Type="http://schemas.openxmlformats.org/officeDocument/2006/relationships/image" Target="../media/image61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55.wmf"/><Relationship Id="rId1" Type="http://schemas.openxmlformats.org/officeDocument/2006/relationships/image" Target="../media/image65.wmf"/></Relationships>
</file>

<file path=ppt/drawings/_rels/vmlDrawing22.vml.rels><?xml version="1.0" encoding="UTF-8" standalone="yes"?>
<Relationships xmlns="http://schemas.openxmlformats.org/package/2006/relationships"><Relationship Id="rId5" Type="http://schemas.openxmlformats.org/officeDocument/2006/relationships/image" Target="../media/image70.wmf"/><Relationship Id="rId4" Type="http://schemas.openxmlformats.org/officeDocument/2006/relationships/image" Target="../media/image49.wmf"/><Relationship Id="rId3" Type="http://schemas.openxmlformats.org/officeDocument/2006/relationships/image" Target="../media/image69.emf"/><Relationship Id="rId2" Type="http://schemas.openxmlformats.org/officeDocument/2006/relationships/image" Target="../media/image68.emf"/><Relationship Id="rId1" Type="http://schemas.openxmlformats.org/officeDocument/2006/relationships/image" Target="../media/image67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emf"/></Relationships>
</file>

<file path=ppt/drawings/_rels/vmlDrawing24.vml.rels><?xml version="1.0" encoding="UTF-8" standalone="yes"?>
<Relationships xmlns="http://schemas.openxmlformats.org/package/2006/relationships"><Relationship Id="rId4" Type="http://schemas.openxmlformats.org/officeDocument/2006/relationships/image" Target="../media/image77.wmf"/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2.emf"/></Relationships>
</file>

<file path=ppt/drawings/_rels/vmlDrawing25.vml.rels><?xml version="1.0" encoding="UTF-8" standalone="yes"?>
<Relationships xmlns="http://schemas.openxmlformats.org/package/2006/relationships"><Relationship Id="rId7" Type="http://schemas.openxmlformats.org/officeDocument/2006/relationships/image" Target="../media/image85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26.vml.rels><?xml version="1.0" encoding="UTF-8" standalone="yes"?>
<Relationships xmlns="http://schemas.openxmlformats.org/package/2006/relationships"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emf"/></Relationships>
</file>

<file path=ppt/drawings/_rels/vmlDrawing27.vml.rels><?xml version="1.0" encoding="UTF-8" standalone="yes"?>
<Relationships xmlns="http://schemas.openxmlformats.org/package/2006/relationships"><Relationship Id="rId7" Type="http://schemas.openxmlformats.org/officeDocument/2006/relationships/image" Target="../media/image95.emf"/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emf"/></Relationships>
</file>

<file path=ppt/drawings/_rels/vmlDrawing28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0.wmf"/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drawings/_rels/vmlDrawing29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7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30.vml.rels><?xml version="1.0" encoding="UTF-8" standalone="yes"?>
<Relationships xmlns="http://schemas.openxmlformats.org/package/2006/relationships"><Relationship Id="rId7" Type="http://schemas.openxmlformats.org/officeDocument/2006/relationships/image" Target="../media/image115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/Relationships>
</file>

<file path=ppt/drawings/_rels/vmlDrawing31.vml.rels><?xml version="1.0" encoding="UTF-8" standalone="yes"?>
<Relationships xmlns="http://schemas.openxmlformats.org/package/2006/relationships"><Relationship Id="rId5" Type="http://schemas.openxmlformats.org/officeDocument/2006/relationships/image" Target="../media/image121.wmf"/><Relationship Id="rId4" Type="http://schemas.openxmlformats.org/officeDocument/2006/relationships/image" Target="../media/image120.wmf"/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2" Type="http://schemas.openxmlformats.org/officeDocument/2006/relationships/image" Target="../media/image121.wmf"/><Relationship Id="rId1" Type="http://schemas.openxmlformats.org/officeDocument/2006/relationships/image" Target="../media/image122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emf"/><Relationship Id="rId2" Type="http://schemas.openxmlformats.org/officeDocument/2006/relationships/image" Target="../media/image129.wmf"/><Relationship Id="rId1" Type="http://schemas.openxmlformats.org/officeDocument/2006/relationships/image" Target="../media/image128.e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/Relationships>
</file>

<file path=ppt/drawings/_rels/vmlDrawing36.vml.rels><?xml version="1.0" encoding="UTF-8" standalone="yes"?>
<Relationships xmlns="http://schemas.openxmlformats.org/package/2006/relationships"><Relationship Id="rId7" Type="http://schemas.openxmlformats.org/officeDocument/2006/relationships/image" Target="../media/image142.wmf"/><Relationship Id="rId6" Type="http://schemas.openxmlformats.org/officeDocument/2006/relationships/image" Target="../media/image141.wmf"/><Relationship Id="rId5" Type="http://schemas.openxmlformats.org/officeDocument/2006/relationships/image" Target="../media/image140.wmf"/><Relationship Id="rId4" Type="http://schemas.openxmlformats.org/officeDocument/2006/relationships/image" Target="../media/image139.emf"/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image" Target="../media/image139.emf"/><Relationship Id="rId1" Type="http://schemas.openxmlformats.org/officeDocument/2006/relationships/image" Target="../media/image143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9.emf"/></Relationships>
</file>

<file path=ppt/drawings/_rels/vmlDrawing39.vml.rels><?xml version="1.0" encoding="UTF-8" standalone="yes"?>
<Relationships xmlns="http://schemas.openxmlformats.org/package/2006/relationships"><Relationship Id="rId6" Type="http://schemas.openxmlformats.org/officeDocument/2006/relationships/image" Target="../media/image152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Relationship Id="rId3" Type="http://schemas.openxmlformats.org/officeDocument/2006/relationships/image" Target="../media/image149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FF0292-CE89-4AE0-A0A8-DADC9864CE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AFB88-D1C7-4D25-8F20-1D80C72D0C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467544" y="764704"/>
            <a:ext cx="8007325" cy="86409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400" b="1">
                <a:solidFill>
                  <a:schemeClr val="accent1">
                    <a:lumMod val="75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371600" y="1988840"/>
            <a:ext cx="6400800" cy="3649960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buNone/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7" name="AutoShape 4"/>
          <p:cNvSpPr>
            <a:spLocks noChangeArrowheads="1"/>
          </p:cNvSpPr>
          <p:nvPr userDrawn="1"/>
        </p:nvSpPr>
        <p:spPr bwMode="auto">
          <a:xfrm>
            <a:off x="609600" y="1700808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pic>
        <p:nvPicPr>
          <p:cNvPr id="8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 userDrawn="1"/>
        </p:nvSpPr>
        <p:spPr>
          <a:xfrm>
            <a:off x="2987824" y="6429450"/>
            <a:ext cx="18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980728"/>
            <a:ext cx="7772400" cy="72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1988840"/>
            <a:ext cx="6400800" cy="364996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7" name="AutoShape 4"/>
          <p:cNvSpPr>
            <a:spLocks noChangeArrowheads="1"/>
          </p:cNvSpPr>
          <p:nvPr userDrawn="1"/>
        </p:nvSpPr>
        <p:spPr bwMode="auto">
          <a:xfrm>
            <a:off x="609600" y="1700808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2987824" y="6429450"/>
            <a:ext cx="18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10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Line 5"/>
          <p:cNvSpPr>
            <a:spLocks noChangeShapeType="1"/>
          </p:cNvSpPr>
          <p:nvPr userDrawn="1"/>
        </p:nvSpPr>
        <p:spPr bwMode="auto">
          <a:xfrm flipV="1">
            <a:off x="609600" y="6429375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728700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18002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8410-958B-4436-8EF9-039AB3ED97F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09600" y="674725"/>
            <a:ext cx="7958138" cy="53975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15866" y="642945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F829D2-C334-4D83-BBFA-28B1390E7F5B}" type="slidenum">
              <a:rPr kumimoji="0" lang="zh-CN" altLang="en-US" sz="1200" b="0" i="1" u="none" strike="noStrike" kern="1200" cap="none" spc="0" normalizeH="0" baseline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dirty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9" name="Picture 12" descr="前进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播放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后退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8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5" descr="机动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496050"/>
            <a:ext cx="61912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ine 5"/>
          <p:cNvSpPr>
            <a:spLocks noChangeShapeType="1"/>
          </p:cNvSpPr>
          <p:nvPr userDrawn="1"/>
        </p:nvSpPr>
        <p:spPr bwMode="auto">
          <a:xfrm flipV="1">
            <a:off x="609600" y="6381328"/>
            <a:ext cx="7956550" cy="0"/>
          </a:xfrm>
          <a:prstGeom prst="line">
            <a:avLst/>
          </a:prstGeom>
          <a:noFill/>
          <a:ln w="12700">
            <a:solidFill>
              <a:srgbClr val="0099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987824" y="6429450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</a:rPr>
              <a:t>华中科技大学电信学院     张林   </a:t>
            </a:r>
            <a:endParaRPr kumimoji="0" lang="zh-CN" altLang="en-US" sz="1200" b="0" i="1" u="none" strike="noStrike" kern="1200" cap="none" spc="0" normalizeH="0" baseline="0" noProof="0" dirty="0" smtClean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5" name="Rectangle 18"/>
          <p:cNvSpPr>
            <a:spLocks noChangeArrowheads="1"/>
          </p:cNvSpPr>
          <p:nvPr userDrawn="1"/>
        </p:nvSpPr>
        <p:spPr bwMode="auto">
          <a:xfrm>
            <a:off x="1403350" y="6475616"/>
            <a:ext cx="64770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b="0" i="1" dirty="0" smtClean="0">
                <a:solidFill>
                  <a:srgbClr val="0099CC"/>
                </a:solidFill>
                <a:latin typeface="Arial" panose="020B0604020202020204" pitchFamily="34" charset="0"/>
              </a:rPr>
              <a:t>ch02</a:t>
            </a:r>
            <a:endParaRPr lang="en-US" altLang="zh-CN" sz="1200" b="0" i="1" dirty="0" smtClean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7" Type="http://schemas.openxmlformats.org/officeDocument/2006/relationships/theme" Target="../theme/theme1.xml"/><Relationship Id="rId66" Type="http://schemas.openxmlformats.org/officeDocument/2006/relationships/image" Target="../media/image7.png"/><Relationship Id="rId65" Type="http://schemas.openxmlformats.org/officeDocument/2006/relationships/image" Target="../media/image6.png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0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.xml"/><Relationship Id="rId59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58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38410-958B-4436-8EF9-039AB3ED97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37DCB-93B7-43BA-9650-2B9DF94B1A4F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Picture 23" descr="HUSTXiaohui(s)"/>
          <p:cNvPicPr>
            <a:picLocks noChangeAspect="1" noChangeArrowheads="1"/>
          </p:cNvPicPr>
          <p:nvPr userDrawn="1"/>
        </p:nvPicPr>
        <p:blipFill>
          <a:blip r:embed="rId6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44624"/>
            <a:ext cx="842772" cy="631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3" descr="未命名-1"/>
          <p:cNvPicPr>
            <a:picLocks noChangeAspect="1" noChangeArrowheads="1"/>
          </p:cNvPicPr>
          <p:nvPr userDrawn="1"/>
        </p:nvPicPr>
        <p:blipFill>
          <a:blip r:embed="rId6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040" y="6461906"/>
            <a:ext cx="331788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ine 20"/>
          <p:cNvSpPr>
            <a:spLocks noChangeShapeType="1"/>
          </p:cNvSpPr>
          <p:nvPr userDrawn="1"/>
        </p:nvSpPr>
        <p:spPr bwMode="auto">
          <a:xfrm>
            <a:off x="0" y="0"/>
            <a:ext cx="0" cy="6858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Line 21"/>
          <p:cNvSpPr>
            <a:spLocks noChangeShapeType="1"/>
          </p:cNvSpPr>
          <p:nvPr userDrawn="1"/>
        </p:nvSpPr>
        <p:spPr bwMode="auto">
          <a:xfrm>
            <a:off x="107504" y="0"/>
            <a:ext cx="0" cy="68580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" name="Line 22"/>
          <p:cNvSpPr>
            <a:spLocks noChangeShapeType="1"/>
          </p:cNvSpPr>
          <p:nvPr userDrawn="1"/>
        </p:nvSpPr>
        <p:spPr bwMode="auto">
          <a:xfrm>
            <a:off x="50800" y="0"/>
            <a:ext cx="0" cy="6858000"/>
          </a:xfrm>
          <a:prstGeom prst="line">
            <a:avLst/>
          </a:prstGeom>
          <a:noFill/>
          <a:ln w="25400">
            <a:solidFill>
              <a:srgbClr val="00FF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</p:sldLayoutIdLst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3.xml"/><Relationship Id="rId4" Type="http://schemas.openxmlformats.org/officeDocument/2006/relationships/slide" Target="slide2.xml"/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" Target="slide2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3.xml"/><Relationship Id="rId3" Type="http://schemas.openxmlformats.org/officeDocument/2006/relationships/slide" Target="slide2.xml"/><Relationship Id="rId2" Type="http://schemas.openxmlformats.org/officeDocument/2006/relationships/image" Target="../media/image12.emf"/><Relationship Id="rId1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emf"/><Relationship Id="rId1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6.jpeg"/><Relationship Id="rId2" Type="http://schemas.openxmlformats.org/officeDocument/2006/relationships/image" Target="../media/image15.emf"/><Relationship Id="rId1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wmf"/><Relationship Id="rId8" Type="http://schemas.openxmlformats.org/officeDocument/2006/relationships/oleObject" Target="../embeddings/oleObject9.bin"/><Relationship Id="rId7" Type="http://schemas.openxmlformats.org/officeDocument/2006/relationships/oleObject" Target="../embeddings/oleObject8.bin"/><Relationship Id="rId6" Type="http://schemas.openxmlformats.org/officeDocument/2006/relationships/image" Target="../media/image19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8.e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17.emf"/><Relationship Id="rId11" Type="http://schemas.openxmlformats.org/officeDocument/2006/relationships/vmlDrawing" Target="../drawings/vmlDrawing5.vml"/><Relationship Id="rId10" Type="http://schemas.openxmlformats.org/officeDocument/2006/relationships/slideLayout" Target="../slideLayouts/slideLayout3.xml"/><Relationship Id="rId1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24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23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2.e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21.wmf"/><Relationship Id="rId16" Type="http://schemas.openxmlformats.org/officeDocument/2006/relationships/vmlDrawing" Target="../drawings/vmlDrawing6.vml"/><Relationship Id="rId15" Type="http://schemas.openxmlformats.org/officeDocument/2006/relationships/slideLayout" Target="../slideLayouts/slideLayout3.xml"/><Relationship Id="rId14" Type="http://schemas.openxmlformats.org/officeDocument/2006/relationships/image" Target="../media/image27.emf"/><Relationship Id="rId13" Type="http://schemas.openxmlformats.org/officeDocument/2006/relationships/oleObject" Target="../embeddings/oleObject16.bin"/><Relationship Id="rId12" Type="http://schemas.openxmlformats.org/officeDocument/2006/relationships/image" Target="../media/image26.emf"/><Relationship Id="rId11" Type="http://schemas.openxmlformats.org/officeDocument/2006/relationships/oleObject" Target="../embeddings/oleObject15.bin"/><Relationship Id="rId10" Type="http://schemas.openxmlformats.org/officeDocument/2006/relationships/image" Target="../media/image25.wmf"/><Relationship Id="rId1" Type="http://schemas.openxmlformats.org/officeDocument/2006/relationships/oleObject" Target="../embeddings/oleObject10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.bin"/><Relationship Id="rId8" Type="http://schemas.openxmlformats.org/officeDocument/2006/relationships/image" Target="../media/image31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28.emf"/><Relationship Id="rId14" Type="http://schemas.openxmlformats.org/officeDocument/2006/relationships/vmlDrawing" Target="../drawings/vmlDrawing7.vml"/><Relationship Id="rId13" Type="http://schemas.openxmlformats.org/officeDocument/2006/relationships/slideLayout" Target="../slideLayouts/slideLayout3.xml"/><Relationship Id="rId12" Type="http://schemas.openxmlformats.org/officeDocument/2006/relationships/image" Target="../media/image27.emf"/><Relationship Id="rId11" Type="http://schemas.openxmlformats.org/officeDocument/2006/relationships/oleObject" Target="../embeddings/oleObject22.bin"/><Relationship Id="rId10" Type="http://schemas.openxmlformats.org/officeDocument/2006/relationships/image" Target="../media/image26.emf"/><Relationship Id="rId1" Type="http://schemas.openxmlformats.org/officeDocument/2006/relationships/oleObject" Target="../embeddings/oleObject17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.bin"/><Relationship Id="rId8" Type="http://schemas.openxmlformats.org/officeDocument/2006/relationships/image" Target="../media/image27.e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26.e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29.wmf"/><Relationship Id="rId16" Type="http://schemas.openxmlformats.org/officeDocument/2006/relationships/vmlDrawing" Target="../drawings/vmlDrawing8.vml"/><Relationship Id="rId15" Type="http://schemas.openxmlformats.org/officeDocument/2006/relationships/slideLayout" Target="../slideLayouts/slideLayout3.xml"/><Relationship Id="rId14" Type="http://schemas.openxmlformats.org/officeDocument/2006/relationships/image" Target="../media/image34.wmf"/><Relationship Id="rId13" Type="http://schemas.openxmlformats.org/officeDocument/2006/relationships/oleObject" Target="../embeddings/oleObject29.bin"/><Relationship Id="rId12" Type="http://schemas.openxmlformats.org/officeDocument/2006/relationships/image" Target="../media/image33.wmf"/><Relationship Id="rId11" Type="http://schemas.openxmlformats.org/officeDocument/2006/relationships/oleObject" Target="../embeddings/oleObject28.bin"/><Relationship Id="rId10" Type="http://schemas.openxmlformats.org/officeDocument/2006/relationships/image" Target="../media/image23.emf"/><Relationship Id="rId1" Type="http://schemas.openxmlformats.org/officeDocument/2006/relationships/oleObject" Target="../embeddings/oleObject23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.bin"/><Relationship Id="rId8" Type="http://schemas.openxmlformats.org/officeDocument/2006/relationships/image" Target="../media/image28.emf"/><Relationship Id="rId7" Type="http://schemas.openxmlformats.org/officeDocument/2006/relationships/oleObject" Target="../embeddings/oleObject33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5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23.emf"/><Relationship Id="rId18" Type="http://schemas.openxmlformats.org/officeDocument/2006/relationships/vmlDrawing" Target="../drawings/vmlDrawing9.vml"/><Relationship Id="rId17" Type="http://schemas.openxmlformats.org/officeDocument/2006/relationships/slideLayout" Target="../slideLayouts/slideLayout3.xml"/><Relationship Id="rId16" Type="http://schemas.openxmlformats.org/officeDocument/2006/relationships/image" Target="../media/image38.wmf"/><Relationship Id="rId15" Type="http://schemas.openxmlformats.org/officeDocument/2006/relationships/oleObject" Target="../embeddings/oleObject37.bin"/><Relationship Id="rId14" Type="http://schemas.openxmlformats.org/officeDocument/2006/relationships/image" Target="../media/image37.wmf"/><Relationship Id="rId13" Type="http://schemas.openxmlformats.org/officeDocument/2006/relationships/oleObject" Target="../embeddings/oleObject36.bin"/><Relationship Id="rId12" Type="http://schemas.openxmlformats.org/officeDocument/2006/relationships/image" Target="../media/image36.wmf"/><Relationship Id="rId11" Type="http://schemas.openxmlformats.org/officeDocument/2006/relationships/oleObject" Target="../embeddings/oleObject35.bin"/><Relationship Id="rId10" Type="http://schemas.openxmlformats.org/officeDocument/2006/relationships/image" Target="../media/image31.wmf"/><Relationship Id="rId1" Type="http://schemas.openxmlformats.org/officeDocument/2006/relationships/oleObject" Target="../embeddings/oleObject30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9.emf"/><Relationship Id="rId2" Type="http://schemas.openxmlformats.org/officeDocument/2006/relationships/oleObject" Target="../embeddings/oleObject38.bin"/><Relationship Id="rId1" Type="http://schemas.openxmlformats.org/officeDocument/2006/relationships/slide" Target="slide3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9.e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40.emf"/><Relationship Id="rId1" Type="http://schemas.openxmlformats.org/officeDocument/2006/relationships/oleObject" Target="../embeddings/oleObject39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2.vml"/><Relationship Id="rId7" Type="http://schemas.openxmlformats.org/officeDocument/2006/relationships/slideLayout" Target="../slideLayouts/slideLayout3.xml"/><Relationship Id="rId6" Type="http://schemas.openxmlformats.org/officeDocument/2006/relationships/slide" Target="slide3.x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42.bin"/><Relationship Id="rId3" Type="http://schemas.openxmlformats.org/officeDocument/2006/relationships/image" Target="../media/image42.jpeg"/><Relationship Id="rId2" Type="http://schemas.openxmlformats.org/officeDocument/2006/relationships/image" Target="../media/image41.emf"/><Relationship Id="rId1" Type="http://schemas.openxmlformats.org/officeDocument/2006/relationships/oleObject" Target="../embeddings/oleObject41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3.v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46.wmf"/><Relationship Id="rId6" Type="http://schemas.openxmlformats.org/officeDocument/2006/relationships/oleObject" Target="../embeddings/oleObject45.bin"/><Relationship Id="rId5" Type="http://schemas.openxmlformats.org/officeDocument/2006/relationships/image" Target="../media/image45.emf"/><Relationship Id="rId4" Type="http://schemas.openxmlformats.org/officeDocument/2006/relationships/oleObject" Target="../embeddings/oleObject44.bin"/><Relationship Id="rId3" Type="http://schemas.openxmlformats.org/officeDocument/2006/relationships/slide" Target="slide3.xml"/><Relationship Id="rId2" Type="http://schemas.openxmlformats.org/officeDocument/2006/relationships/image" Target="../media/image44.wmf"/><Relationship Id="rId1" Type="http://schemas.openxmlformats.org/officeDocument/2006/relationships/oleObject" Target="../embeddings/oleObject43.bin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4.v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7.jpeg"/><Relationship Id="rId2" Type="http://schemas.openxmlformats.org/officeDocument/2006/relationships/image" Target="../media/image40.emf"/><Relationship Id="rId1" Type="http://schemas.openxmlformats.org/officeDocument/2006/relationships/oleObject" Target="../embeddings/oleObject4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48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45.emf"/><Relationship Id="rId1" Type="http://schemas.openxmlformats.org/officeDocument/2006/relationships/oleObject" Target="../embeddings/oleObject4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51.bin"/><Relationship Id="rId2" Type="http://schemas.openxmlformats.org/officeDocument/2006/relationships/image" Target="../media/image50.emf"/><Relationship Id="rId1" Type="http://schemas.openxmlformats.org/officeDocument/2006/relationships/oleObject" Target="../embeddings/oleObject50.bin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3.wmf"/><Relationship Id="rId1" Type="http://schemas.openxmlformats.org/officeDocument/2006/relationships/oleObject" Target="../embeddings/oleObject53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8.v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45.e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55.bin"/><Relationship Id="rId2" Type="http://schemas.openxmlformats.org/officeDocument/2006/relationships/image" Target="../media/image54.wmf"/><Relationship Id="rId1" Type="http://schemas.openxmlformats.org/officeDocument/2006/relationships/oleObject" Target="../embeddings/oleObject54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" Target="slide3.xml"/><Relationship Id="rId8" Type="http://schemas.openxmlformats.org/officeDocument/2006/relationships/image" Target="../media/image60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wmf"/><Relationship Id="rId3" Type="http://schemas.openxmlformats.org/officeDocument/2006/relationships/oleObject" Target="../embeddings/oleObject58.bin"/><Relationship Id="rId2" Type="http://schemas.openxmlformats.org/officeDocument/2006/relationships/image" Target="../media/image56.wmf"/><Relationship Id="rId11" Type="http://schemas.openxmlformats.org/officeDocument/2006/relationships/vmlDrawing" Target="../drawings/vmlDrawing19.vml"/><Relationship Id="rId10" Type="http://schemas.openxmlformats.org/officeDocument/2006/relationships/slideLayout" Target="../slideLayouts/slideLayout3.xml"/><Relationship Id="rId1" Type="http://schemas.openxmlformats.org/officeDocument/2006/relationships/oleObject" Target="../embeddings/oleObject57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0.v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62.emf"/><Relationship Id="rId3" Type="http://schemas.openxmlformats.org/officeDocument/2006/relationships/oleObject" Target="../embeddings/oleObject61.bin"/><Relationship Id="rId2" Type="http://schemas.openxmlformats.org/officeDocument/2006/relationships/image" Target="../media/image61.emf"/><Relationship Id="rId1" Type="http://schemas.openxmlformats.org/officeDocument/2006/relationships/oleObject" Target="../embeddings/oleObject60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1.v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66.wmf"/><Relationship Id="rId6" Type="http://schemas.openxmlformats.org/officeDocument/2006/relationships/oleObject" Target="../embeddings/oleObject65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64.bin"/><Relationship Id="rId3" Type="http://schemas.openxmlformats.org/officeDocument/2006/relationships/image" Target="../media/image65.wmf"/><Relationship Id="rId2" Type="http://schemas.openxmlformats.org/officeDocument/2006/relationships/oleObject" Target="../embeddings/oleObject63.bin"/><Relationship Id="rId1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0.bin"/><Relationship Id="rId8" Type="http://schemas.openxmlformats.org/officeDocument/2006/relationships/image" Target="../media/image49.w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69.e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68.e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67.emf"/><Relationship Id="rId12" Type="http://schemas.openxmlformats.org/officeDocument/2006/relationships/vmlDrawing" Target="../drawings/vmlDrawing22.vml"/><Relationship Id="rId11" Type="http://schemas.openxmlformats.org/officeDocument/2006/relationships/slideLayout" Target="../slideLayouts/slideLayout3.xml"/><Relationship Id="rId10" Type="http://schemas.openxmlformats.org/officeDocument/2006/relationships/image" Target="../media/image70.wmf"/><Relationship Id="rId1" Type="http://schemas.openxmlformats.org/officeDocument/2006/relationships/oleObject" Target="../embeddings/oleObject66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3.v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73.wmf"/><Relationship Id="rId3" Type="http://schemas.openxmlformats.org/officeDocument/2006/relationships/oleObject" Target="../embeddings/oleObject72.bin"/><Relationship Id="rId2" Type="http://schemas.openxmlformats.org/officeDocument/2006/relationships/image" Target="../media/image72.emf"/><Relationship Id="rId1" Type="http://schemas.openxmlformats.org/officeDocument/2006/relationships/oleObject" Target="../embeddings/oleObject71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77.w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76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75.wmf"/><Relationship Id="rId3" Type="http://schemas.openxmlformats.org/officeDocument/2006/relationships/oleObject" Target="../embeddings/oleObject75.bin"/><Relationship Id="rId2" Type="http://schemas.openxmlformats.org/officeDocument/2006/relationships/image" Target="../media/image72.emf"/><Relationship Id="rId10" Type="http://schemas.openxmlformats.org/officeDocument/2006/relationships/vmlDrawing" Target="../drawings/vmlDrawing24.vml"/><Relationship Id="rId1" Type="http://schemas.openxmlformats.org/officeDocument/2006/relationships/oleObject" Target="../embeddings/oleObject74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2.wmf"/><Relationship Id="rId8" Type="http://schemas.openxmlformats.org/officeDocument/2006/relationships/oleObject" Target="../embeddings/oleObject81.bin"/><Relationship Id="rId7" Type="http://schemas.openxmlformats.org/officeDocument/2006/relationships/image" Target="../media/image81.wmf"/><Relationship Id="rId6" Type="http://schemas.openxmlformats.org/officeDocument/2006/relationships/oleObject" Target="../embeddings/oleObject80.bin"/><Relationship Id="rId5" Type="http://schemas.openxmlformats.org/officeDocument/2006/relationships/image" Target="../media/image80.wmf"/><Relationship Id="rId4" Type="http://schemas.openxmlformats.org/officeDocument/2006/relationships/oleObject" Target="../embeddings/oleObject79.bin"/><Relationship Id="rId3" Type="http://schemas.openxmlformats.org/officeDocument/2006/relationships/image" Target="../media/image79.wmf"/><Relationship Id="rId2" Type="http://schemas.openxmlformats.org/officeDocument/2006/relationships/oleObject" Target="../embeddings/oleObject78.bin"/><Relationship Id="rId17" Type="http://schemas.openxmlformats.org/officeDocument/2006/relationships/vmlDrawing" Target="../drawings/vmlDrawing25.vml"/><Relationship Id="rId16" Type="http://schemas.openxmlformats.org/officeDocument/2006/relationships/slideLayout" Target="../slideLayouts/slideLayout3.xml"/><Relationship Id="rId15" Type="http://schemas.openxmlformats.org/officeDocument/2006/relationships/image" Target="../media/image85.wmf"/><Relationship Id="rId14" Type="http://schemas.openxmlformats.org/officeDocument/2006/relationships/oleObject" Target="../embeddings/oleObject84.bin"/><Relationship Id="rId13" Type="http://schemas.openxmlformats.org/officeDocument/2006/relationships/image" Target="../media/image84.wmf"/><Relationship Id="rId12" Type="http://schemas.openxmlformats.org/officeDocument/2006/relationships/oleObject" Target="../embeddings/oleObject83.bin"/><Relationship Id="rId11" Type="http://schemas.openxmlformats.org/officeDocument/2006/relationships/image" Target="../media/image83.wmf"/><Relationship Id="rId10" Type="http://schemas.openxmlformats.org/officeDocument/2006/relationships/oleObject" Target="../embeddings/oleObject82.bin"/><Relationship Id="rId1" Type="http://schemas.openxmlformats.org/officeDocument/2006/relationships/image" Target="../media/image78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9.bin"/><Relationship Id="rId8" Type="http://schemas.openxmlformats.org/officeDocument/2006/relationships/image" Target="../media/image89.wmf"/><Relationship Id="rId7" Type="http://schemas.openxmlformats.org/officeDocument/2006/relationships/oleObject" Target="../embeddings/oleObject88.bin"/><Relationship Id="rId6" Type="http://schemas.openxmlformats.org/officeDocument/2006/relationships/image" Target="../media/image88.wmf"/><Relationship Id="rId5" Type="http://schemas.openxmlformats.org/officeDocument/2006/relationships/oleObject" Target="../embeddings/oleObject87.bin"/><Relationship Id="rId4" Type="http://schemas.openxmlformats.org/officeDocument/2006/relationships/image" Target="../media/image87.wmf"/><Relationship Id="rId3" Type="http://schemas.openxmlformats.org/officeDocument/2006/relationships/oleObject" Target="../embeddings/oleObject86.bin"/><Relationship Id="rId2" Type="http://schemas.openxmlformats.org/officeDocument/2006/relationships/image" Target="../media/image86.emf"/><Relationship Id="rId14" Type="http://schemas.openxmlformats.org/officeDocument/2006/relationships/vmlDrawing" Target="../drawings/vmlDrawing26.vml"/><Relationship Id="rId13" Type="http://schemas.openxmlformats.org/officeDocument/2006/relationships/slideLayout" Target="../slideLayouts/slideLayout3.xml"/><Relationship Id="rId12" Type="http://schemas.openxmlformats.org/officeDocument/2006/relationships/image" Target="../media/image91.wmf"/><Relationship Id="rId11" Type="http://schemas.openxmlformats.org/officeDocument/2006/relationships/oleObject" Target="../embeddings/oleObject90.bin"/><Relationship Id="rId10" Type="http://schemas.openxmlformats.org/officeDocument/2006/relationships/image" Target="../media/image90.wmf"/><Relationship Id="rId1" Type="http://schemas.openxmlformats.org/officeDocument/2006/relationships/oleObject" Target="../embeddings/oleObject85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5.bin"/><Relationship Id="rId8" Type="http://schemas.openxmlformats.org/officeDocument/2006/relationships/image" Target="../media/image92.wmf"/><Relationship Id="rId7" Type="http://schemas.openxmlformats.org/officeDocument/2006/relationships/oleObject" Target="../embeddings/oleObject94.bin"/><Relationship Id="rId6" Type="http://schemas.openxmlformats.org/officeDocument/2006/relationships/image" Target="../media/image88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87.wmf"/><Relationship Id="rId3" Type="http://schemas.openxmlformats.org/officeDocument/2006/relationships/oleObject" Target="../embeddings/oleObject92.bin"/><Relationship Id="rId2" Type="http://schemas.openxmlformats.org/officeDocument/2006/relationships/image" Target="../media/image86.emf"/><Relationship Id="rId16" Type="http://schemas.openxmlformats.org/officeDocument/2006/relationships/vmlDrawing" Target="../drawings/vmlDrawing27.vml"/><Relationship Id="rId15" Type="http://schemas.openxmlformats.org/officeDocument/2006/relationships/slideLayout" Target="../slideLayouts/slideLayout3.xml"/><Relationship Id="rId14" Type="http://schemas.openxmlformats.org/officeDocument/2006/relationships/image" Target="../media/image95.emf"/><Relationship Id="rId13" Type="http://schemas.openxmlformats.org/officeDocument/2006/relationships/oleObject" Target="../embeddings/oleObject97.bin"/><Relationship Id="rId12" Type="http://schemas.openxmlformats.org/officeDocument/2006/relationships/image" Target="../media/image94.wmf"/><Relationship Id="rId11" Type="http://schemas.openxmlformats.org/officeDocument/2006/relationships/oleObject" Target="../embeddings/oleObject96.bin"/><Relationship Id="rId10" Type="http://schemas.openxmlformats.org/officeDocument/2006/relationships/image" Target="../media/image93.wmf"/><Relationship Id="rId1" Type="http://schemas.openxmlformats.org/officeDocument/2006/relationships/oleObject" Target="../embeddings/oleObject91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0.wmf"/><Relationship Id="rId8" Type="http://schemas.openxmlformats.org/officeDocument/2006/relationships/oleObject" Target="../embeddings/oleObject101.bin"/><Relationship Id="rId7" Type="http://schemas.openxmlformats.org/officeDocument/2006/relationships/image" Target="../media/image99.wmf"/><Relationship Id="rId6" Type="http://schemas.openxmlformats.org/officeDocument/2006/relationships/oleObject" Target="../embeddings/oleObject100.bin"/><Relationship Id="rId5" Type="http://schemas.openxmlformats.org/officeDocument/2006/relationships/image" Target="../media/image98.wmf"/><Relationship Id="rId4" Type="http://schemas.openxmlformats.org/officeDocument/2006/relationships/oleObject" Target="../embeddings/oleObject99.bin"/><Relationship Id="rId3" Type="http://schemas.openxmlformats.org/officeDocument/2006/relationships/image" Target="../media/image97.wmf"/><Relationship Id="rId2" Type="http://schemas.openxmlformats.org/officeDocument/2006/relationships/oleObject" Target="../embeddings/oleObject98.bin"/><Relationship Id="rId11" Type="http://schemas.openxmlformats.org/officeDocument/2006/relationships/vmlDrawing" Target="../drawings/vmlDrawing28.vml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96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wmf"/><Relationship Id="rId8" Type="http://schemas.openxmlformats.org/officeDocument/2006/relationships/oleObject" Target="../embeddings/oleObject105.bin"/><Relationship Id="rId7" Type="http://schemas.openxmlformats.org/officeDocument/2006/relationships/image" Target="../media/image103.wmf"/><Relationship Id="rId6" Type="http://schemas.openxmlformats.org/officeDocument/2006/relationships/oleObject" Target="../embeddings/oleObject104.bin"/><Relationship Id="rId5" Type="http://schemas.openxmlformats.org/officeDocument/2006/relationships/image" Target="../media/image102.wmf"/><Relationship Id="rId4" Type="http://schemas.openxmlformats.org/officeDocument/2006/relationships/oleObject" Target="../embeddings/oleObject103.bin"/><Relationship Id="rId3" Type="http://schemas.openxmlformats.org/officeDocument/2006/relationships/image" Target="../media/image101.wmf"/><Relationship Id="rId2" Type="http://schemas.openxmlformats.org/officeDocument/2006/relationships/oleObject" Target="../embeddings/oleObject102.bin"/><Relationship Id="rId17" Type="http://schemas.openxmlformats.org/officeDocument/2006/relationships/vmlDrawing" Target="../drawings/vmlDrawing29.vml"/><Relationship Id="rId16" Type="http://schemas.openxmlformats.org/officeDocument/2006/relationships/slideLayout" Target="../slideLayouts/slideLayout3.xml"/><Relationship Id="rId15" Type="http://schemas.openxmlformats.org/officeDocument/2006/relationships/image" Target="../media/image107.wmf"/><Relationship Id="rId14" Type="http://schemas.openxmlformats.org/officeDocument/2006/relationships/oleObject" Target="../embeddings/oleObject108.bin"/><Relationship Id="rId13" Type="http://schemas.openxmlformats.org/officeDocument/2006/relationships/image" Target="../media/image106.wmf"/><Relationship Id="rId12" Type="http://schemas.openxmlformats.org/officeDocument/2006/relationships/oleObject" Target="../embeddings/oleObject107.bin"/><Relationship Id="rId11" Type="http://schemas.openxmlformats.org/officeDocument/2006/relationships/image" Target="../media/image105.wmf"/><Relationship Id="rId10" Type="http://schemas.openxmlformats.org/officeDocument/2006/relationships/oleObject" Target="../embeddings/oleObject106.bin"/><Relationship Id="rId1" Type="http://schemas.openxmlformats.org/officeDocument/2006/relationships/image" Target="../media/image9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2.wmf"/><Relationship Id="rId8" Type="http://schemas.openxmlformats.org/officeDocument/2006/relationships/oleObject" Target="../embeddings/oleObject112.bin"/><Relationship Id="rId7" Type="http://schemas.openxmlformats.org/officeDocument/2006/relationships/image" Target="../media/image111.wmf"/><Relationship Id="rId6" Type="http://schemas.openxmlformats.org/officeDocument/2006/relationships/oleObject" Target="../embeddings/oleObject111.bin"/><Relationship Id="rId5" Type="http://schemas.openxmlformats.org/officeDocument/2006/relationships/image" Target="../media/image110.wmf"/><Relationship Id="rId4" Type="http://schemas.openxmlformats.org/officeDocument/2006/relationships/oleObject" Target="../embeddings/oleObject110.bin"/><Relationship Id="rId3" Type="http://schemas.openxmlformats.org/officeDocument/2006/relationships/image" Target="../media/image109.wmf"/><Relationship Id="rId2" Type="http://schemas.openxmlformats.org/officeDocument/2006/relationships/oleObject" Target="../embeddings/oleObject109.bin"/><Relationship Id="rId17" Type="http://schemas.openxmlformats.org/officeDocument/2006/relationships/vmlDrawing" Target="../drawings/vmlDrawing30.vml"/><Relationship Id="rId16" Type="http://schemas.openxmlformats.org/officeDocument/2006/relationships/slideLayout" Target="../slideLayouts/slideLayout3.xml"/><Relationship Id="rId15" Type="http://schemas.openxmlformats.org/officeDocument/2006/relationships/image" Target="../media/image115.wmf"/><Relationship Id="rId14" Type="http://schemas.openxmlformats.org/officeDocument/2006/relationships/oleObject" Target="../embeddings/oleObject115.bin"/><Relationship Id="rId13" Type="http://schemas.openxmlformats.org/officeDocument/2006/relationships/image" Target="../media/image114.wmf"/><Relationship Id="rId12" Type="http://schemas.openxmlformats.org/officeDocument/2006/relationships/oleObject" Target="../embeddings/oleObject114.bin"/><Relationship Id="rId11" Type="http://schemas.openxmlformats.org/officeDocument/2006/relationships/image" Target="../media/image113.wmf"/><Relationship Id="rId10" Type="http://schemas.openxmlformats.org/officeDocument/2006/relationships/oleObject" Target="../embeddings/oleObject113.bin"/><Relationship Id="rId1" Type="http://schemas.openxmlformats.org/officeDocument/2006/relationships/image" Target="../media/image10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6.pn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0.wmf"/><Relationship Id="rId8" Type="http://schemas.openxmlformats.org/officeDocument/2006/relationships/oleObject" Target="../embeddings/oleObject119.bin"/><Relationship Id="rId7" Type="http://schemas.openxmlformats.org/officeDocument/2006/relationships/image" Target="../media/image119.wmf"/><Relationship Id="rId6" Type="http://schemas.openxmlformats.org/officeDocument/2006/relationships/oleObject" Target="../embeddings/oleObject118.bin"/><Relationship Id="rId5" Type="http://schemas.openxmlformats.org/officeDocument/2006/relationships/image" Target="../media/image118.wmf"/><Relationship Id="rId4" Type="http://schemas.openxmlformats.org/officeDocument/2006/relationships/oleObject" Target="../embeddings/oleObject117.bin"/><Relationship Id="rId3" Type="http://schemas.openxmlformats.org/officeDocument/2006/relationships/image" Target="../media/image117.wmf"/><Relationship Id="rId2" Type="http://schemas.openxmlformats.org/officeDocument/2006/relationships/oleObject" Target="../embeddings/oleObject116.bin"/><Relationship Id="rId13" Type="http://schemas.openxmlformats.org/officeDocument/2006/relationships/vmlDrawing" Target="../drawings/vmlDrawing31.vml"/><Relationship Id="rId12" Type="http://schemas.openxmlformats.org/officeDocument/2006/relationships/slideLayout" Target="../slideLayouts/slideLayout3.xml"/><Relationship Id="rId11" Type="http://schemas.openxmlformats.org/officeDocument/2006/relationships/image" Target="../media/image121.wmf"/><Relationship Id="rId10" Type="http://schemas.openxmlformats.org/officeDocument/2006/relationships/oleObject" Target="../embeddings/oleObject120.bin"/><Relationship Id="rId1" Type="http://schemas.openxmlformats.org/officeDocument/2006/relationships/image" Target="../media/image116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2.v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23.wmf"/><Relationship Id="rId6" Type="http://schemas.openxmlformats.org/officeDocument/2006/relationships/oleObject" Target="../embeddings/oleObject123.bin"/><Relationship Id="rId5" Type="http://schemas.openxmlformats.org/officeDocument/2006/relationships/image" Target="../media/image121.wmf"/><Relationship Id="rId4" Type="http://schemas.openxmlformats.org/officeDocument/2006/relationships/oleObject" Target="../embeddings/oleObject122.bin"/><Relationship Id="rId3" Type="http://schemas.openxmlformats.org/officeDocument/2006/relationships/image" Target="../media/image122.wmf"/><Relationship Id="rId2" Type="http://schemas.openxmlformats.org/officeDocument/2006/relationships/oleObject" Target="../embeddings/oleObject121.bin"/><Relationship Id="rId1" Type="http://schemas.openxmlformats.org/officeDocument/2006/relationships/image" Target="../media/image116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27.wmf"/><Relationship Id="rId7" Type="http://schemas.openxmlformats.org/officeDocument/2006/relationships/oleObject" Target="../embeddings/oleObject126.bin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125.bin"/><Relationship Id="rId4" Type="http://schemas.openxmlformats.org/officeDocument/2006/relationships/image" Target="../media/image125.wmf"/><Relationship Id="rId3" Type="http://schemas.openxmlformats.org/officeDocument/2006/relationships/oleObject" Target="../embeddings/oleObject124.bin"/><Relationship Id="rId2" Type="http://schemas.openxmlformats.org/officeDocument/2006/relationships/image" Target="../media/image116.png"/><Relationship Id="rId10" Type="http://schemas.openxmlformats.org/officeDocument/2006/relationships/vmlDrawing" Target="../drawings/vmlDrawing33.vml"/><Relationship Id="rId1" Type="http://schemas.openxmlformats.org/officeDocument/2006/relationships/image" Target="../media/image12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4.v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30.emf"/><Relationship Id="rId6" Type="http://schemas.openxmlformats.org/officeDocument/2006/relationships/oleObject" Target="../embeddings/oleObject129.bin"/><Relationship Id="rId5" Type="http://schemas.openxmlformats.org/officeDocument/2006/relationships/image" Target="../media/image129.wmf"/><Relationship Id="rId4" Type="http://schemas.openxmlformats.org/officeDocument/2006/relationships/oleObject" Target="../embeddings/oleObject128.bin"/><Relationship Id="rId3" Type="http://schemas.openxmlformats.org/officeDocument/2006/relationships/slide" Target="slide3.xml"/><Relationship Id="rId2" Type="http://schemas.openxmlformats.org/officeDocument/2006/relationships/image" Target="../media/image128.emf"/><Relationship Id="rId1" Type="http://schemas.openxmlformats.org/officeDocument/2006/relationships/oleObject" Target="../embeddings/oleObject127.bin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5.v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34.wmf"/><Relationship Id="rId6" Type="http://schemas.openxmlformats.org/officeDocument/2006/relationships/oleObject" Target="../embeddings/oleObject132.bin"/><Relationship Id="rId5" Type="http://schemas.openxmlformats.org/officeDocument/2006/relationships/image" Target="../media/image133.wmf"/><Relationship Id="rId4" Type="http://schemas.openxmlformats.org/officeDocument/2006/relationships/oleObject" Target="../embeddings/oleObject131.bin"/><Relationship Id="rId3" Type="http://schemas.openxmlformats.org/officeDocument/2006/relationships/image" Target="../media/image132.wmf"/><Relationship Id="rId2" Type="http://schemas.openxmlformats.org/officeDocument/2006/relationships/oleObject" Target="../embeddings/oleObject130.bin"/><Relationship Id="rId1" Type="http://schemas.openxmlformats.org/officeDocument/2006/relationships/image" Target="../media/image131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5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7.bin"/><Relationship Id="rId8" Type="http://schemas.openxmlformats.org/officeDocument/2006/relationships/image" Target="../media/image139.emf"/><Relationship Id="rId7" Type="http://schemas.openxmlformats.org/officeDocument/2006/relationships/oleObject" Target="../embeddings/oleObject136.bin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37.wmf"/><Relationship Id="rId3" Type="http://schemas.openxmlformats.org/officeDocument/2006/relationships/oleObject" Target="../embeddings/oleObject134.bin"/><Relationship Id="rId2" Type="http://schemas.openxmlformats.org/officeDocument/2006/relationships/image" Target="../media/image136.wmf"/><Relationship Id="rId16" Type="http://schemas.openxmlformats.org/officeDocument/2006/relationships/vmlDrawing" Target="../drawings/vmlDrawing36.vml"/><Relationship Id="rId15" Type="http://schemas.openxmlformats.org/officeDocument/2006/relationships/slideLayout" Target="../slideLayouts/slideLayout3.xml"/><Relationship Id="rId14" Type="http://schemas.openxmlformats.org/officeDocument/2006/relationships/image" Target="../media/image142.wmf"/><Relationship Id="rId13" Type="http://schemas.openxmlformats.org/officeDocument/2006/relationships/oleObject" Target="../embeddings/oleObject139.bin"/><Relationship Id="rId12" Type="http://schemas.openxmlformats.org/officeDocument/2006/relationships/image" Target="../media/image141.wmf"/><Relationship Id="rId11" Type="http://schemas.openxmlformats.org/officeDocument/2006/relationships/oleObject" Target="../embeddings/oleObject138.bin"/><Relationship Id="rId10" Type="http://schemas.openxmlformats.org/officeDocument/2006/relationships/image" Target="../media/image140.wmf"/><Relationship Id="rId1" Type="http://schemas.openxmlformats.org/officeDocument/2006/relationships/oleObject" Target="../embeddings/oleObject133.bin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46.wmf"/><Relationship Id="rId7" Type="http://schemas.openxmlformats.org/officeDocument/2006/relationships/oleObject" Target="../embeddings/oleObject142.bin"/><Relationship Id="rId6" Type="http://schemas.openxmlformats.org/officeDocument/2006/relationships/image" Target="../media/image145.png"/><Relationship Id="rId5" Type="http://schemas.openxmlformats.org/officeDocument/2006/relationships/image" Target="../media/image139.emf"/><Relationship Id="rId4" Type="http://schemas.openxmlformats.org/officeDocument/2006/relationships/oleObject" Target="../embeddings/oleObject141.bin"/><Relationship Id="rId3" Type="http://schemas.openxmlformats.org/officeDocument/2006/relationships/image" Target="../media/image144.png"/><Relationship Id="rId2" Type="http://schemas.openxmlformats.org/officeDocument/2006/relationships/image" Target="../media/image143.emf"/><Relationship Id="rId10" Type="http://schemas.openxmlformats.org/officeDocument/2006/relationships/vmlDrawing" Target="../drawings/vmlDrawing37.vml"/><Relationship Id="rId1" Type="http://schemas.openxmlformats.org/officeDocument/2006/relationships/oleObject" Target="../embeddings/oleObject140.bin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8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9.emf"/><Relationship Id="rId1" Type="http://schemas.openxmlformats.org/officeDocument/2006/relationships/oleObject" Target="../embeddings/oleObject143.bin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8.bin"/><Relationship Id="rId8" Type="http://schemas.openxmlformats.org/officeDocument/2006/relationships/image" Target="../media/image150.wmf"/><Relationship Id="rId7" Type="http://schemas.openxmlformats.org/officeDocument/2006/relationships/oleObject" Target="../embeddings/oleObject147.bin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146.bin"/><Relationship Id="rId4" Type="http://schemas.openxmlformats.org/officeDocument/2006/relationships/image" Target="../media/image148.wmf"/><Relationship Id="rId3" Type="http://schemas.openxmlformats.org/officeDocument/2006/relationships/oleObject" Target="../embeddings/oleObject145.bin"/><Relationship Id="rId2" Type="http://schemas.openxmlformats.org/officeDocument/2006/relationships/image" Target="../media/image147.wmf"/><Relationship Id="rId14" Type="http://schemas.openxmlformats.org/officeDocument/2006/relationships/vmlDrawing" Target="../drawings/vmlDrawing39.vml"/><Relationship Id="rId13" Type="http://schemas.openxmlformats.org/officeDocument/2006/relationships/slideLayout" Target="../slideLayouts/slideLayout3.xml"/><Relationship Id="rId12" Type="http://schemas.openxmlformats.org/officeDocument/2006/relationships/image" Target="../media/image152.wmf"/><Relationship Id="rId11" Type="http://schemas.openxmlformats.org/officeDocument/2006/relationships/oleObject" Target="../embeddings/oleObject149.bin"/><Relationship Id="rId10" Type="http://schemas.openxmlformats.org/officeDocument/2006/relationships/image" Target="../media/image151.wmf"/><Relationship Id="rId1" Type="http://schemas.openxmlformats.org/officeDocument/2006/relationships/oleObject" Target="../embeddings/oleObject144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4.png"/><Relationship Id="rId1" Type="http://schemas.openxmlformats.org/officeDocument/2006/relationships/image" Target="../media/image1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72" name="Rectangle 4"/>
          <p:cNvSpPr>
            <a:spLocks noChangeArrowheads="1"/>
          </p:cNvSpPr>
          <p:nvPr/>
        </p:nvSpPr>
        <p:spPr bwMode="auto">
          <a:xfrm>
            <a:off x="611188" y="1304925"/>
            <a:ext cx="8532812" cy="2850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40000"/>
              </a:lnSpc>
            </a:pPr>
            <a:r>
              <a:rPr lang="en-US" altLang="zh-CN" sz="3200" dirty="0">
                <a:solidFill>
                  <a:schemeClr val="accent2"/>
                </a:solidFill>
              </a:rPr>
              <a:t>2.1 </a:t>
            </a:r>
            <a:r>
              <a:rPr lang="zh-CN" altLang="en-US" sz="3200" dirty="0" smtClean="0">
                <a:solidFill>
                  <a:schemeClr val="accent2"/>
                </a:solidFill>
              </a:rPr>
              <a:t>集成电路运算放大器</a:t>
            </a:r>
            <a:endParaRPr lang="zh-CN" altLang="en-US" sz="3200" dirty="0">
              <a:solidFill>
                <a:schemeClr val="accent2"/>
              </a:solidFill>
            </a:endParaRPr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/>
              <a:t>2.2 </a:t>
            </a:r>
            <a:r>
              <a:rPr lang="zh-CN" altLang="en-US" sz="3200" dirty="0" smtClean="0"/>
              <a:t>理想运算放大器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 smtClean="0"/>
              <a:t>2.3 </a:t>
            </a:r>
            <a:r>
              <a:rPr lang="zh-CN" altLang="en-US" sz="3200" dirty="0" smtClean="0"/>
              <a:t>基本线性运放电路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 smtClean="0"/>
              <a:t>2.4 </a:t>
            </a:r>
            <a:r>
              <a:rPr lang="zh-CN" altLang="en-US" sz="3200" dirty="0"/>
              <a:t>同相输入和反相输入放大电路的其他应用</a:t>
            </a:r>
            <a:endParaRPr lang="zh-CN" altLang="en-US" sz="3200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1188" y="43408"/>
            <a:ext cx="7607300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88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60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4180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4230" indent="-39878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dirty="0">
                <a:solidFill>
                  <a:srgbClr val="000099"/>
                </a:solidFill>
              </a:rPr>
              <a:t>2  </a:t>
            </a:r>
            <a:r>
              <a:rPr lang="zh-CN" altLang="en-US" sz="3600" dirty="0" smtClean="0">
                <a:solidFill>
                  <a:srgbClr val="000099"/>
                </a:solidFill>
              </a:rPr>
              <a:t>运算放大器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5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5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97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549275" y="836712"/>
            <a:ext cx="7391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1.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集成电路</a:t>
            </a:r>
            <a:r>
              <a:rPr lang="zh-CN" altLang="en-US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运算放大器简介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289050" y="44624"/>
            <a:ext cx="5911850" cy="637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600" dirty="0">
                <a:solidFill>
                  <a:srgbClr val="000099"/>
                </a:solidFill>
              </a:rPr>
              <a:t>2.1  </a:t>
            </a:r>
            <a:r>
              <a:rPr lang="zh-CN" altLang="en-US" sz="3600" dirty="0" smtClean="0">
                <a:solidFill>
                  <a:srgbClr val="000099"/>
                </a:solidFill>
              </a:rPr>
              <a:t>集成电路</a:t>
            </a:r>
            <a:r>
              <a:rPr lang="zh-CN" altLang="en-US" sz="3600" dirty="0">
                <a:solidFill>
                  <a:srgbClr val="000099"/>
                </a:solidFill>
              </a:rPr>
              <a:t>运算放大器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75" y="1916832"/>
            <a:ext cx="8376502" cy="2897909"/>
          </a:xfrm>
          <a:prstGeom prst="rect">
            <a:avLst/>
          </a:prstGeom>
        </p:spPr>
      </p:pic>
      <p:pic>
        <p:nvPicPr>
          <p:cNvPr id="5" name="图片 4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096" y="4590509"/>
            <a:ext cx="1657581" cy="1800476"/>
          </a:xfrm>
          <a:prstGeom prst="rect">
            <a:avLst/>
          </a:prstGeom>
        </p:spPr>
      </p:pic>
      <p:sp>
        <p:nvSpPr>
          <p:cNvPr id="6" name="Rectangle 70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647564" y="1410460"/>
            <a:ext cx="20409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 smtClean="0">
                <a:solidFill>
                  <a:schemeClr val="tx1"/>
                </a:solidFill>
                <a:latin typeface="+mn-ea"/>
                <a:ea typeface="+mn-ea"/>
              </a:rPr>
              <a:t>内部结构框图</a:t>
            </a:r>
            <a:endParaRPr lang="zh-CN" altLang="en-US" sz="2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" name="Rectangle 70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958292" y="5259915"/>
            <a:ext cx="32784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一种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  <a:ea typeface="+mn-ea"/>
              </a:rPr>
              <a:t>双列直插封装外形</a:t>
            </a:r>
            <a:endParaRPr lang="zh-CN" altLang="en-US" sz="2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1669" name="Object 5"/>
          <p:cNvGraphicFramePr>
            <a:graphicFrameLocks noChangeAspect="1"/>
          </p:cNvGraphicFramePr>
          <p:nvPr/>
        </p:nvGraphicFramePr>
        <p:xfrm>
          <a:off x="574675" y="2144670"/>
          <a:ext cx="3889375" cy="235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1" name="图片" r:id="rId1" imgW="1325880" imgH="801370" progId="Word.Picture.8">
                  <p:embed/>
                </p:oleObj>
              </mc:Choice>
              <mc:Fallback>
                <p:oleObj name="图片" r:id="rId1" imgW="1325880" imgH="801370" progId="Word.Picture.8">
                  <p:embed/>
                  <p:pic>
                    <p:nvPicPr>
                      <p:cNvPr id="0" name="图片 267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" y="2144670"/>
                        <a:ext cx="3889375" cy="235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1672" name="Rectangle 8"/>
          <p:cNvSpPr>
            <a:spLocks noChangeArrowheads="1"/>
          </p:cNvSpPr>
          <p:nvPr/>
        </p:nvSpPr>
        <p:spPr bwMode="auto">
          <a:xfrm>
            <a:off x="1331913" y="4676732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zh-CN" altLang="en-US" sz="2400"/>
              <a:t>国标符号</a:t>
            </a:r>
            <a:endParaRPr lang="zh-CN" altLang="en-US" sz="2400"/>
          </a:p>
        </p:txBody>
      </p:sp>
      <p:sp>
        <p:nvSpPr>
          <p:cNvPr id="881675" name="Rectangle 11"/>
          <p:cNvSpPr>
            <a:spLocks noChangeArrowheads="1"/>
          </p:cNvSpPr>
          <p:nvPr/>
        </p:nvSpPr>
        <p:spPr bwMode="auto">
          <a:xfrm>
            <a:off x="4679950" y="4676732"/>
            <a:ext cx="320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zh-CN" altLang="en-US" sz="2400"/>
              <a:t>常用符号 </a:t>
            </a:r>
            <a:endParaRPr lang="zh-CN" altLang="en-US" sz="2400"/>
          </a:p>
        </p:txBody>
      </p:sp>
      <p:sp>
        <p:nvSpPr>
          <p:cNvPr id="5125" name="Rectangle 12"/>
          <p:cNvSpPr>
            <a:spLocks noChangeArrowheads="1"/>
          </p:cNvSpPr>
          <p:nvPr/>
        </p:nvSpPr>
        <p:spPr bwMode="auto">
          <a:xfrm>
            <a:off x="574675" y="1500623"/>
            <a:ext cx="39608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lang="zh-CN" altLang="en-US" sz="2400" dirty="0" smtClean="0"/>
              <a:t>电路</a:t>
            </a:r>
            <a:r>
              <a:rPr lang="zh-CN" altLang="en-US" sz="2400" dirty="0"/>
              <a:t>符号</a:t>
            </a:r>
            <a:endParaRPr lang="zh-CN" altLang="en-US" sz="2400" dirty="0"/>
          </a:p>
        </p:txBody>
      </p:sp>
      <p:pic>
        <p:nvPicPr>
          <p:cNvPr id="881677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2011320"/>
            <a:ext cx="3636963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Rectangle 4"/>
          <p:cNvSpPr>
            <a:spLocks noChangeArrowheads="1"/>
          </p:cNvSpPr>
          <p:nvPr/>
        </p:nvSpPr>
        <p:spPr bwMode="auto">
          <a:xfrm>
            <a:off x="1289050" y="44624"/>
            <a:ext cx="5911850" cy="637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600" dirty="0">
                <a:solidFill>
                  <a:srgbClr val="000099"/>
                </a:solidFill>
              </a:rPr>
              <a:t>2.1  </a:t>
            </a:r>
            <a:r>
              <a:rPr lang="zh-CN" altLang="en-US" sz="3600" dirty="0" smtClean="0">
                <a:solidFill>
                  <a:srgbClr val="000099"/>
                </a:solidFill>
              </a:rPr>
              <a:t>集成电路</a:t>
            </a:r>
            <a:r>
              <a:rPr lang="zh-CN" altLang="en-US" sz="3600" dirty="0">
                <a:solidFill>
                  <a:srgbClr val="000099"/>
                </a:solidFill>
              </a:rPr>
              <a:t>运算放大器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  <p:sp>
        <p:nvSpPr>
          <p:cNvPr id="8" name="Rectangle 5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549275" y="836712"/>
            <a:ext cx="7391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1.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集成电路</a:t>
            </a:r>
            <a:r>
              <a:rPr lang="zh-CN" altLang="en-US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运算放大器简介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1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81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81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81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1672" grpId="0"/>
      <p:bldP spid="88167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14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2600908"/>
            <a:ext cx="3908571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3722" name="AutoShape 10"/>
          <p:cNvSpPr>
            <a:spLocks noChangeArrowheads="1"/>
          </p:cNvSpPr>
          <p:nvPr/>
        </p:nvSpPr>
        <p:spPr bwMode="auto">
          <a:xfrm>
            <a:off x="2386013" y="1664283"/>
            <a:ext cx="1404937" cy="1077913"/>
          </a:xfrm>
          <a:prstGeom prst="wedgeRoundRectCallout">
            <a:avLst>
              <a:gd name="adj1" fmla="val 62880"/>
              <a:gd name="adj2" fmla="val 80926"/>
              <a:gd name="adj3" fmla="val 16667"/>
            </a:avLst>
          </a:prstGeom>
          <a:noFill/>
          <a:ln w="28575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zh-CN" altLang="en-US"/>
              <a:t>反相输入端</a:t>
            </a:r>
            <a:endParaRPr lang="zh-CN" altLang="en-US"/>
          </a:p>
        </p:txBody>
      </p:sp>
      <p:sp>
        <p:nvSpPr>
          <p:cNvPr id="883723" name="AutoShape 11"/>
          <p:cNvSpPr>
            <a:spLocks noChangeArrowheads="1"/>
          </p:cNvSpPr>
          <p:nvPr/>
        </p:nvSpPr>
        <p:spPr bwMode="auto">
          <a:xfrm>
            <a:off x="2264011" y="4402757"/>
            <a:ext cx="1404937" cy="1077913"/>
          </a:xfrm>
          <a:prstGeom prst="wedgeRoundRectCallout">
            <a:avLst>
              <a:gd name="adj1" fmla="val 75875"/>
              <a:gd name="adj2" fmla="val -61046"/>
              <a:gd name="adj3" fmla="val 16667"/>
            </a:avLst>
          </a:prstGeom>
          <a:noFill/>
          <a:ln w="28575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zh-CN" altLang="en-US"/>
              <a:t>同相输入端</a:t>
            </a:r>
            <a:endParaRPr lang="zh-CN" altLang="en-US"/>
          </a:p>
        </p:txBody>
      </p:sp>
      <p:sp>
        <p:nvSpPr>
          <p:cNvPr id="883724" name="AutoShape 12"/>
          <p:cNvSpPr>
            <a:spLocks noChangeArrowheads="1"/>
          </p:cNvSpPr>
          <p:nvPr/>
        </p:nvSpPr>
        <p:spPr bwMode="auto">
          <a:xfrm>
            <a:off x="6729871" y="2234196"/>
            <a:ext cx="1406525" cy="538162"/>
          </a:xfrm>
          <a:prstGeom prst="wedgeRoundRectCallout">
            <a:avLst>
              <a:gd name="adj1" fmla="val -35537"/>
              <a:gd name="adj2" fmla="val 181269"/>
              <a:gd name="adj3" fmla="val 16667"/>
            </a:avLst>
          </a:prstGeom>
          <a:noFill/>
          <a:ln w="28575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zh-CN" altLang="en-US"/>
              <a:t>输出端</a:t>
            </a:r>
            <a:endParaRPr lang="zh-CN" altLang="en-US"/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576263" y="1518754"/>
            <a:ext cx="1422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lang="zh-CN" altLang="en-US" sz="2400" dirty="0" smtClean="0"/>
              <a:t>端口</a:t>
            </a:r>
            <a:r>
              <a:rPr lang="zh-CN" altLang="en-US" sz="2400" dirty="0"/>
              <a:t>意义</a:t>
            </a:r>
            <a:endParaRPr lang="zh-CN" altLang="en-US" sz="2400" dirty="0"/>
          </a:p>
        </p:txBody>
      </p:sp>
      <p:sp>
        <p:nvSpPr>
          <p:cNvPr id="8" name="Rectangle 45"/>
          <p:cNvSpPr>
            <a:spLocks noChangeArrowheads="1"/>
          </p:cNvSpPr>
          <p:nvPr/>
        </p:nvSpPr>
        <p:spPr bwMode="auto">
          <a:xfrm>
            <a:off x="4210050" y="5155196"/>
            <a:ext cx="259080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10000"/>
              </a:lnSpc>
              <a:buClr>
                <a:srgbClr val="0000FF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00"/>
                </a:solidFill>
              </a:rPr>
              <a:t> </a:t>
            </a:r>
            <a:r>
              <a:rPr lang="zh-CN" altLang="en-US" sz="2400">
                <a:solidFill>
                  <a:srgbClr val="000000"/>
                </a:solidFill>
              </a:rPr>
              <a:t>无特定接地端！</a:t>
            </a: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289050" y="44624"/>
            <a:ext cx="5911850" cy="637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600" dirty="0">
                <a:solidFill>
                  <a:srgbClr val="000099"/>
                </a:solidFill>
              </a:rPr>
              <a:t>2.1  </a:t>
            </a:r>
            <a:r>
              <a:rPr lang="zh-CN" altLang="en-US" sz="3600" dirty="0" smtClean="0">
                <a:solidFill>
                  <a:srgbClr val="000099"/>
                </a:solidFill>
              </a:rPr>
              <a:t>集成电路</a:t>
            </a:r>
            <a:r>
              <a:rPr lang="zh-CN" altLang="en-US" sz="3600" dirty="0">
                <a:solidFill>
                  <a:srgbClr val="000099"/>
                </a:solidFill>
              </a:rPr>
              <a:t>运算放大器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  <p:sp>
        <p:nvSpPr>
          <p:cNvPr id="9" name="Rectangle 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49275" y="836712"/>
            <a:ext cx="7391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1.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集成电路</a:t>
            </a:r>
            <a:r>
              <a:rPr lang="zh-CN" altLang="en-US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运算放大器简介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8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3722" grpId="0" animBg="1"/>
      <p:bldP spid="883723" grpId="0" animBg="1"/>
      <p:bldP spid="883724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"/>
          <p:cNvSpPr>
            <a:spLocks noChangeArrowheads="1"/>
          </p:cNvSpPr>
          <p:nvPr/>
        </p:nvSpPr>
        <p:spPr bwMode="auto">
          <a:xfrm>
            <a:off x="539750" y="1419002"/>
            <a:ext cx="20409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楷体_GB2312"/>
                <a:cs typeface="楷体_GB2312"/>
              </a:rPr>
              <a:t>外部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  <a:cs typeface="楷体_GB2312"/>
              </a:rPr>
              <a:t>电源连接</a:t>
            </a:r>
            <a:endParaRPr lang="zh-CN" altLang="en-US" sz="2400" b="1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882699" name="Object 11"/>
          <p:cNvGraphicFramePr>
            <a:graphicFrameLocks noChangeAspect="1"/>
          </p:cNvGraphicFramePr>
          <p:nvPr/>
        </p:nvGraphicFramePr>
        <p:xfrm>
          <a:off x="1960091" y="2456892"/>
          <a:ext cx="4569768" cy="3213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5" name="Picture" r:id="rId1" imgW="1831975" imgH="1289050" progId="Word.Picture.8">
                  <p:embed/>
                </p:oleObj>
              </mc:Choice>
              <mc:Fallback>
                <p:oleObj name="Picture" r:id="rId1" imgW="1831975" imgH="1289050" progId="Word.Picture.8">
                  <p:embed/>
                  <p:pic>
                    <p:nvPicPr>
                      <p:cNvPr id="0" name="图片 277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091" y="2456892"/>
                        <a:ext cx="4569768" cy="32137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2701" name="Text Box 13"/>
          <p:cNvSpPr txBox="1">
            <a:spLocks noChangeArrowheads="1"/>
          </p:cNvSpPr>
          <p:nvPr/>
        </p:nvSpPr>
        <p:spPr bwMode="auto">
          <a:xfrm>
            <a:off x="539750" y="1880307"/>
            <a:ext cx="8431213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en-US" altLang="zh-CN" sz="2400" dirty="0"/>
              <a:t>        </a:t>
            </a:r>
            <a:r>
              <a:rPr lang="zh-CN" altLang="en-US" sz="2400" dirty="0"/>
              <a:t>运算放大器正常工作时，必须提供工作电源，通常正负电源的连接方式为</a:t>
            </a:r>
            <a:endParaRPr lang="zh-CN" altLang="en-US" sz="2400" dirty="0"/>
          </a:p>
        </p:txBody>
      </p:sp>
      <p:sp>
        <p:nvSpPr>
          <p:cNvPr id="882702" name="Rectangle 14"/>
          <p:cNvSpPr>
            <a:spLocks noChangeArrowheads="1"/>
          </p:cNvSpPr>
          <p:nvPr/>
        </p:nvSpPr>
        <p:spPr bwMode="auto">
          <a:xfrm>
            <a:off x="2483768" y="5748753"/>
            <a:ext cx="4187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accent2"/>
                </a:solidFill>
              </a:rPr>
              <a:t>运算放大器的电源连接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289050" y="44624"/>
            <a:ext cx="5911850" cy="637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600" dirty="0">
                <a:solidFill>
                  <a:srgbClr val="000099"/>
                </a:solidFill>
              </a:rPr>
              <a:t>2.1  </a:t>
            </a:r>
            <a:r>
              <a:rPr lang="zh-CN" altLang="en-US" sz="3600" dirty="0" smtClean="0">
                <a:solidFill>
                  <a:srgbClr val="000099"/>
                </a:solidFill>
              </a:rPr>
              <a:t>集成电路</a:t>
            </a:r>
            <a:r>
              <a:rPr lang="zh-CN" altLang="en-US" sz="3600" dirty="0">
                <a:solidFill>
                  <a:srgbClr val="000099"/>
                </a:solidFill>
              </a:rPr>
              <a:t>运算放大器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  <p:sp>
        <p:nvSpPr>
          <p:cNvPr id="11" name="Rectangle 5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549275" y="836712"/>
            <a:ext cx="7391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1.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集成电路</a:t>
            </a:r>
            <a:r>
              <a:rPr lang="zh-CN" altLang="en-US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运算放大器简介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8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2701" grpId="0"/>
      <p:bldP spid="88270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/>
          <p:cNvSpPr>
            <a:spLocks noChangeArrowheads="1"/>
          </p:cNvSpPr>
          <p:nvPr/>
        </p:nvSpPr>
        <p:spPr bwMode="auto">
          <a:xfrm>
            <a:off x="576263" y="785651"/>
            <a:ext cx="6048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lang="en-US" altLang="zh-CN" dirty="0" smtClean="0">
                <a:solidFill>
                  <a:srgbClr val="CC0000"/>
                </a:solidFill>
              </a:rPr>
              <a:t>2. </a:t>
            </a:r>
            <a:r>
              <a:rPr lang="zh-CN" altLang="en-US" dirty="0">
                <a:solidFill>
                  <a:srgbClr val="CC0000"/>
                </a:solidFill>
              </a:rPr>
              <a:t>运算放大器的电路模型</a:t>
            </a:r>
            <a:endParaRPr lang="zh-CN" altLang="en-US" dirty="0">
              <a:solidFill>
                <a:srgbClr val="CC0000"/>
              </a:solidFill>
            </a:endParaRPr>
          </a:p>
        </p:txBody>
      </p:sp>
      <p:graphicFrame>
        <p:nvGraphicFramePr>
          <p:cNvPr id="9219" name="Object 7"/>
          <p:cNvGraphicFramePr>
            <a:graphicFrameLocks noChangeAspect="1"/>
          </p:cNvGraphicFramePr>
          <p:nvPr/>
        </p:nvGraphicFramePr>
        <p:xfrm>
          <a:off x="1724025" y="2132856"/>
          <a:ext cx="5976938" cy="383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43" name="图片" r:id="rId1" imgW="2974975" imgH="1908175" progId="Word.Picture.8">
                  <p:embed/>
                </p:oleObj>
              </mc:Choice>
              <mc:Fallback>
                <p:oleObj name="图片" r:id="rId1" imgW="2974975" imgH="1908175" progId="Word.Picture.8">
                  <p:embed/>
                  <p:pic>
                    <p:nvPicPr>
                      <p:cNvPr id="0" name="图片 298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025" y="2132856"/>
                        <a:ext cx="5976938" cy="383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4745" name="AutoShape 9"/>
          <p:cNvSpPr>
            <a:spLocks noChangeArrowheads="1"/>
          </p:cNvSpPr>
          <p:nvPr/>
        </p:nvSpPr>
        <p:spPr bwMode="auto">
          <a:xfrm>
            <a:off x="1439863" y="1494681"/>
            <a:ext cx="1284287" cy="1022350"/>
          </a:xfrm>
          <a:prstGeom prst="wedgeRoundRectCallout">
            <a:avLst>
              <a:gd name="adj1" fmla="val 87421"/>
              <a:gd name="adj2" fmla="val 167630"/>
              <a:gd name="adj3" fmla="val 16667"/>
            </a:avLst>
          </a:prstGeom>
          <a:noFill/>
          <a:ln w="28575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集成运算放大器的输入电阻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84746" name="AutoShape 10"/>
          <p:cNvSpPr>
            <a:spLocks noChangeArrowheads="1"/>
          </p:cNvSpPr>
          <p:nvPr/>
        </p:nvSpPr>
        <p:spPr bwMode="auto">
          <a:xfrm>
            <a:off x="6948488" y="2385269"/>
            <a:ext cx="1241425" cy="1022350"/>
          </a:xfrm>
          <a:prstGeom prst="wedgeRoundRectCallout">
            <a:avLst>
              <a:gd name="adj1" fmla="val -109375"/>
              <a:gd name="adj2" fmla="val 82023"/>
              <a:gd name="adj3" fmla="val 16667"/>
            </a:avLst>
          </a:prstGeom>
          <a:noFill/>
          <a:ln w="28575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集成运算放大器的输出电阻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84747" name="AutoShape 11"/>
          <p:cNvSpPr>
            <a:spLocks noChangeArrowheads="1"/>
          </p:cNvSpPr>
          <p:nvPr/>
        </p:nvSpPr>
        <p:spPr bwMode="auto">
          <a:xfrm>
            <a:off x="5400675" y="4780806"/>
            <a:ext cx="1687513" cy="1020763"/>
          </a:xfrm>
          <a:prstGeom prst="wedgeRoundRectCallout">
            <a:avLst>
              <a:gd name="adj1" fmla="val -100056"/>
              <a:gd name="adj2" fmla="val -72926"/>
              <a:gd name="adj3" fmla="val 16667"/>
            </a:avLst>
          </a:prstGeom>
          <a:noFill/>
          <a:ln w="28575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表示集成运算放大器的电压放大能力 </a:t>
            </a:r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289050" y="44624"/>
            <a:ext cx="5911850" cy="637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600" dirty="0">
                <a:solidFill>
                  <a:srgbClr val="000099"/>
                </a:solidFill>
              </a:rPr>
              <a:t>2.1  </a:t>
            </a:r>
            <a:r>
              <a:rPr lang="zh-CN" altLang="en-US" sz="3600" dirty="0" smtClean="0">
                <a:solidFill>
                  <a:srgbClr val="000099"/>
                </a:solidFill>
              </a:rPr>
              <a:t>集成电路</a:t>
            </a:r>
            <a:r>
              <a:rPr lang="zh-CN" altLang="en-US" sz="3600" dirty="0">
                <a:solidFill>
                  <a:srgbClr val="000099"/>
                </a:solidFill>
              </a:rPr>
              <a:t>运算放大器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84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4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84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4745" grpId="0" animBg="1"/>
      <p:bldP spid="884746" grpId="0" animBg="1"/>
      <p:bldP spid="88474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5"/>
          <p:cNvSpPr>
            <a:spLocks noChangeArrowheads="1"/>
          </p:cNvSpPr>
          <p:nvPr/>
        </p:nvSpPr>
        <p:spPr bwMode="auto">
          <a:xfrm>
            <a:off x="576263" y="764121"/>
            <a:ext cx="6048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lang="en-US" altLang="zh-CN" dirty="0" smtClean="0">
                <a:solidFill>
                  <a:srgbClr val="CC0000"/>
                </a:solidFill>
              </a:rPr>
              <a:t>3.  </a:t>
            </a:r>
            <a:r>
              <a:rPr lang="zh-CN" altLang="en-US" dirty="0">
                <a:solidFill>
                  <a:srgbClr val="CC0000"/>
                </a:solidFill>
              </a:rPr>
              <a:t>运算放大器的传输特性</a:t>
            </a:r>
            <a:endParaRPr lang="zh-CN" altLang="en-US" dirty="0">
              <a:solidFill>
                <a:srgbClr val="CC0000"/>
              </a:solidFill>
            </a:endParaRPr>
          </a:p>
        </p:txBody>
      </p:sp>
      <p:pic>
        <p:nvPicPr>
          <p:cNvPr id="10243" name="Picture 59" descr="未标题-3 拷贝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1572158"/>
            <a:ext cx="5832475" cy="322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60"/>
          <p:cNvSpPr>
            <a:spLocks noChangeArrowheads="1"/>
          </p:cNvSpPr>
          <p:nvPr/>
        </p:nvSpPr>
        <p:spPr bwMode="auto">
          <a:xfrm>
            <a:off x="387363" y="1340383"/>
            <a:ext cx="3267075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FF"/>
              </a:buClr>
              <a:buSzPct val="85000"/>
              <a:buFont typeface="Monotype Sorts"/>
              <a:buNone/>
            </a:pPr>
            <a:r>
              <a:rPr lang="zh-CN" altLang="en-US" sz="2400">
                <a:solidFill>
                  <a:srgbClr val="000000"/>
                </a:solidFill>
              </a:rPr>
              <a:t>通常：</a:t>
            </a:r>
            <a:endParaRPr lang="zh-CN" altLang="en-US" sz="2400">
              <a:solidFill>
                <a:srgbClr val="000000"/>
              </a:solidFill>
            </a:endParaRPr>
          </a:p>
          <a:p>
            <a:pPr eaLnBrk="1" hangingPunct="1">
              <a:buClr>
                <a:srgbClr val="FF0000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>
                <a:solidFill>
                  <a:srgbClr val="000000"/>
                </a:solidFill>
              </a:rPr>
              <a:t> 开环电压增益</a:t>
            </a:r>
            <a:endParaRPr lang="zh-CN" altLang="en-US" sz="2400">
              <a:solidFill>
                <a:srgbClr val="000000"/>
              </a:solidFill>
            </a:endParaRPr>
          </a:p>
          <a:p>
            <a:pPr eaLnBrk="1" hangingPunct="1"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 i="1">
                <a:solidFill>
                  <a:srgbClr val="000000"/>
                </a:solidFill>
              </a:rPr>
              <a:t>     </a:t>
            </a:r>
            <a:r>
              <a:rPr lang="en-US" altLang="zh-CN" sz="2400" i="1">
                <a:solidFill>
                  <a:srgbClr val="000000"/>
                </a:solidFill>
              </a:rPr>
              <a:t>A</a:t>
            </a:r>
            <a:r>
              <a:rPr lang="en-US" altLang="zh-CN" sz="2400" i="1" baseline="-30000">
                <a:solidFill>
                  <a:srgbClr val="000000"/>
                </a:solidFill>
              </a:rPr>
              <a:t>v</a:t>
            </a:r>
            <a:r>
              <a:rPr lang="en-US" altLang="zh-CN" sz="2400" baseline="-30000">
                <a:solidFill>
                  <a:srgbClr val="000000"/>
                </a:solidFill>
              </a:rPr>
              <a:t>o</a:t>
            </a:r>
            <a:r>
              <a:rPr lang="zh-CN" altLang="en-US" sz="2400">
                <a:solidFill>
                  <a:srgbClr val="000000"/>
                </a:solidFill>
              </a:rPr>
              <a:t>的</a:t>
            </a:r>
            <a:r>
              <a:rPr lang="zh-CN" altLang="en-US" sz="2400">
                <a:solidFill>
                  <a:srgbClr val="000000"/>
                </a:solidFill>
                <a:sym typeface="Symbol" panose="05050102010706020507" pitchFamily="18" charset="2"/>
              </a:rPr>
              <a:t></a:t>
            </a:r>
            <a:r>
              <a:rPr lang="en-US" altLang="zh-CN" sz="2400">
                <a:solidFill>
                  <a:srgbClr val="000000"/>
                </a:solidFill>
              </a:rPr>
              <a:t>10</a:t>
            </a:r>
            <a:r>
              <a:rPr lang="en-US" altLang="zh-CN" sz="2400" baseline="30000">
                <a:solidFill>
                  <a:srgbClr val="000000"/>
                </a:solidFill>
              </a:rPr>
              <a:t>5 </a:t>
            </a:r>
            <a:r>
              <a:rPr lang="zh-CN" altLang="en-US" sz="2400">
                <a:solidFill>
                  <a:srgbClr val="FF0000"/>
                </a:solidFill>
              </a:rPr>
              <a:t>（很高）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1" name="Rectangle 61"/>
          <p:cNvSpPr>
            <a:spLocks noChangeArrowheads="1"/>
          </p:cNvSpPr>
          <p:nvPr/>
        </p:nvSpPr>
        <p:spPr bwMode="auto">
          <a:xfrm>
            <a:off x="387363" y="2845333"/>
            <a:ext cx="320357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FF0000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2400">
                <a:solidFill>
                  <a:srgbClr val="000000"/>
                </a:solidFill>
              </a:rPr>
              <a:t> </a:t>
            </a:r>
            <a:r>
              <a:rPr lang="zh-CN" altLang="en-US" sz="2400">
                <a:solidFill>
                  <a:srgbClr val="000000"/>
                </a:solidFill>
              </a:rPr>
              <a:t>输入电阻</a:t>
            </a:r>
            <a:endParaRPr lang="zh-CN" altLang="en-US" sz="2400">
              <a:solidFill>
                <a:srgbClr val="000000"/>
              </a:solidFill>
            </a:endParaRPr>
          </a:p>
          <a:p>
            <a:pPr eaLnBrk="1" hangingPunct="1"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 i="1">
                <a:solidFill>
                  <a:srgbClr val="000000"/>
                </a:solidFill>
              </a:rPr>
              <a:t>     </a:t>
            </a:r>
            <a:r>
              <a:rPr lang="en-US" altLang="zh-CN" sz="2400" i="1">
                <a:solidFill>
                  <a:srgbClr val="000000"/>
                </a:solidFill>
              </a:rPr>
              <a:t>r</a:t>
            </a:r>
            <a:r>
              <a:rPr lang="en-US" altLang="zh-CN" sz="2400" baseline="-30000">
                <a:solidFill>
                  <a:srgbClr val="000000"/>
                </a:solidFill>
              </a:rPr>
              <a:t>i </a:t>
            </a:r>
            <a:r>
              <a:rPr lang="en-US" altLang="zh-CN" sz="2400">
                <a:solidFill>
                  <a:srgbClr val="000000"/>
                </a:solidFill>
                <a:sym typeface="Symbol" panose="05050102010706020507" pitchFamily="18" charset="2"/>
              </a:rPr>
              <a:t></a:t>
            </a:r>
            <a:r>
              <a:rPr lang="en-US" altLang="zh-CN" sz="2400">
                <a:solidFill>
                  <a:srgbClr val="000000"/>
                </a:solidFill>
              </a:rPr>
              <a:t> 10</a:t>
            </a:r>
            <a:r>
              <a:rPr lang="en-US" altLang="zh-CN" sz="2400" baseline="30000">
                <a:solidFill>
                  <a:srgbClr val="000000"/>
                </a:solidFill>
              </a:rPr>
              <a:t>6</a:t>
            </a:r>
            <a:r>
              <a:rPr lang="en-US" altLang="zh-CN" sz="2400">
                <a:solidFill>
                  <a:srgbClr val="000000"/>
                </a:solidFill>
              </a:rPr>
              <a:t>Ω </a:t>
            </a:r>
            <a:r>
              <a:rPr lang="zh-CN" altLang="en-US" sz="2400">
                <a:solidFill>
                  <a:srgbClr val="FF0000"/>
                </a:solidFill>
              </a:rPr>
              <a:t>（很大）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2" name="Rectangle 62"/>
          <p:cNvSpPr>
            <a:spLocks noChangeArrowheads="1"/>
          </p:cNvSpPr>
          <p:nvPr/>
        </p:nvSpPr>
        <p:spPr bwMode="auto">
          <a:xfrm>
            <a:off x="387363" y="3988333"/>
            <a:ext cx="3284537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FF0000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2400">
                <a:solidFill>
                  <a:srgbClr val="000000"/>
                </a:solidFill>
              </a:rPr>
              <a:t> </a:t>
            </a:r>
            <a:r>
              <a:rPr lang="zh-CN" altLang="en-US" sz="2400">
                <a:solidFill>
                  <a:srgbClr val="000000"/>
                </a:solidFill>
              </a:rPr>
              <a:t>输出电阻</a:t>
            </a:r>
            <a:endParaRPr lang="zh-CN" altLang="en-US" sz="2400">
              <a:solidFill>
                <a:srgbClr val="000000"/>
              </a:solidFill>
            </a:endParaRPr>
          </a:p>
          <a:p>
            <a:pPr eaLnBrk="1" hangingPunct="1"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 i="1">
                <a:solidFill>
                  <a:srgbClr val="000000"/>
                </a:solidFill>
              </a:rPr>
              <a:t>    </a:t>
            </a:r>
            <a:r>
              <a:rPr lang="en-US" altLang="zh-CN" sz="2400" i="1">
                <a:solidFill>
                  <a:srgbClr val="000000"/>
                </a:solidFill>
              </a:rPr>
              <a:t>r</a:t>
            </a:r>
            <a:r>
              <a:rPr lang="en-US" altLang="zh-CN" sz="2400" baseline="-30000">
                <a:solidFill>
                  <a:srgbClr val="000000"/>
                </a:solidFill>
              </a:rPr>
              <a:t>o </a:t>
            </a:r>
            <a:r>
              <a:rPr lang="en-US" altLang="zh-CN" sz="2400">
                <a:solidFill>
                  <a:srgbClr val="000000"/>
                </a:solidFill>
                <a:sym typeface="Symbol" panose="05050102010706020507" pitchFamily="18" charset="2"/>
              </a:rPr>
              <a:t></a:t>
            </a:r>
            <a:r>
              <a:rPr lang="en-US" altLang="zh-CN" sz="2400">
                <a:solidFill>
                  <a:srgbClr val="000000"/>
                </a:solidFill>
              </a:rPr>
              <a:t> 100Ω </a:t>
            </a:r>
            <a:r>
              <a:rPr lang="zh-CN" altLang="en-US" sz="2400">
                <a:solidFill>
                  <a:srgbClr val="FF0000"/>
                </a:solidFill>
              </a:rPr>
              <a:t>（很小）</a:t>
            </a:r>
            <a:r>
              <a:rPr lang="zh-CN" altLang="en-US" sz="2400">
                <a:solidFill>
                  <a:srgbClr val="000000"/>
                </a:solidFill>
              </a:rPr>
              <a:t> </a:t>
            </a: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13" name="Rectangle 63"/>
          <p:cNvSpPr>
            <a:spLocks noChangeArrowheads="1"/>
          </p:cNvSpPr>
          <p:nvPr/>
        </p:nvSpPr>
        <p:spPr bwMode="auto">
          <a:xfrm>
            <a:off x="1084263" y="5048783"/>
            <a:ext cx="7016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8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800" baseline="-30000">
                <a:solidFill>
                  <a:srgbClr val="000000"/>
                </a:solidFill>
                <a:ea typeface="华康简宋"/>
                <a:cs typeface="华康简宋"/>
              </a:rPr>
              <a:t>O</a:t>
            </a:r>
            <a:r>
              <a:rPr lang="zh-CN" altLang="en-US" sz="2800">
                <a:solidFill>
                  <a:srgbClr val="000000"/>
                </a:solidFill>
                <a:ea typeface="华康简宋"/>
                <a:cs typeface="华康简宋"/>
              </a:rPr>
              <a:t>＝</a:t>
            </a:r>
            <a:r>
              <a:rPr lang="en-US" altLang="zh-CN" sz="2800" i="1">
                <a:solidFill>
                  <a:srgbClr val="000000"/>
                </a:solidFill>
                <a:ea typeface="华康简宋"/>
                <a:cs typeface="华康简宋"/>
              </a:rPr>
              <a:t>A</a:t>
            </a:r>
            <a:r>
              <a:rPr lang="en-US" altLang="zh-CN" sz="2800" i="1" baseline="-30000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800" baseline="-30000">
                <a:solidFill>
                  <a:srgbClr val="000000"/>
                </a:solidFill>
                <a:ea typeface="华康简宋"/>
                <a:cs typeface="华康简宋"/>
              </a:rPr>
              <a:t>o</a:t>
            </a:r>
            <a:r>
              <a:rPr lang="en-US" altLang="zh-CN" sz="2800">
                <a:solidFill>
                  <a:srgbClr val="000000"/>
                </a:solidFill>
                <a:ea typeface="华康简宋"/>
                <a:cs typeface="华康简宋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800" baseline="-30000">
                <a:solidFill>
                  <a:srgbClr val="000000"/>
                </a:solidFill>
                <a:ea typeface="华康简宋"/>
                <a:cs typeface="华康简宋"/>
              </a:rPr>
              <a:t>P</a:t>
            </a:r>
            <a:r>
              <a:rPr lang="zh-CN" altLang="en-US" sz="2800">
                <a:solidFill>
                  <a:srgbClr val="000000"/>
                </a:solidFill>
              </a:rPr>
              <a:t>－</a:t>
            </a:r>
            <a:r>
              <a:rPr lang="en-US" altLang="zh-CN" sz="28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800" baseline="-30000">
                <a:solidFill>
                  <a:srgbClr val="000000"/>
                </a:solidFill>
                <a:ea typeface="华康简宋"/>
                <a:cs typeface="华康简宋"/>
              </a:rPr>
              <a:t>N</a:t>
            </a:r>
            <a:r>
              <a:rPr lang="en-US" altLang="zh-CN" sz="2800">
                <a:solidFill>
                  <a:srgbClr val="000000"/>
                </a:solidFill>
                <a:ea typeface="华康简宋"/>
                <a:cs typeface="华康简宋"/>
              </a:rPr>
              <a:t>)</a:t>
            </a:r>
            <a:r>
              <a:rPr lang="en-US" altLang="zh-CN" sz="2800">
                <a:solidFill>
                  <a:srgbClr val="000000"/>
                </a:solidFill>
              </a:rPr>
              <a:t>           </a:t>
            </a:r>
            <a:r>
              <a:rPr lang="zh-CN" altLang="en-US" sz="2800">
                <a:solidFill>
                  <a:srgbClr val="000000"/>
                </a:solidFill>
              </a:rPr>
              <a:t>（  </a:t>
            </a:r>
            <a:r>
              <a:rPr lang="en-US" altLang="zh-CN" sz="2800" i="1">
                <a:solidFill>
                  <a:srgbClr val="000000"/>
                </a:solidFill>
                <a:ea typeface="华康简宋"/>
                <a:cs typeface="华康简宋"/>
              </a:rPr>
              <a:t>V</a:t>
            </a:r>
            <a:r>
              <a:rPr lang="zh-CN" altLang="en-US" sz="2800" baseline="-30000">
                <a:solidFill>
                  <a:srgbClr val="000000"/>
                </a:solidFill>
              </a:rPr>
              <a:t>－</a:t>
            </a:r>
            <a:r>
              <a:rPr lang="zh-CN" altLang="en-US" sz="2800">
                <a:solidFill>
                  <a:srgbClr val="000000"/>
                </a:solidFill>
                <a:ea typeface="华康简宋"/>
                <a:cs typeface="华康简宋"/>
              </a:rPr>
              <a:t>＜ </a:t>
            </a:r>
            <a:r>
              <a:rPr lang="en-US" altLang="zh-CN" sz="28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800" baseline="-30000">
                <a:solidFill>
                  <a:srgbClr val="000000"/>
                </a:solidFill>
                <a:ea typeface="华康简宋"/>
                <a:cs typeface="华康简宋"/>
              </a:rPr>
              <a:t>O</a:t>
            </a:r>
            <a:r>
              <a:rPr lang="en-US" altLang="zh-CN" sz="2800">
                <a:solidFill>
                  <a:srgbClr val="000000"/>
                </a:solidFill>
                <a:ea typeface="华康简宋"/>
                <a:cs typeface="华康简宋"/>
              </a:rPr>
              <a:t> </a:t>
            </a:r>
            <a:r>
              <a:rPr lang="zh-CN" altLang="en-US" sz="2800">
                <a:solidFill>
                  <a:srgbClr val="000000"/>
                </a:solidFill>
                <a:ea typeface="华康简宋"/>
                <a:cs typeface="华康简宋"/>
              </a:rPr>
              <a:t>＜</a:t>
            </a:r>
            <a:r>
              <a:rPr lang="en-US" altLang="zh-CN" sz="2800" i="1">
                <a:solidFill>
                  <a:srgbClr val="000000"/>
                </a:solidFill>
                <a:ea typeface="华康简宋"/>
                <a:cs typeface="华康简宋"/>
              </a:rPr>
              <a:t>V</a:t>
            </a:r>
            <a:r>
              <a:rPr lang="zh-CN" altLang="en-US" sz="2800" baseline="-30000">
                <a:solidFill>
                  <a:srgbClr val="000000"/>
                </a:solidFill>
              </a:rPr>
              <a:t>＋</a:t>
            </a:r>
            <a:r>
              <a:rPr lang="zh-CN" altLang="en-US" sz="2800">
                <a:solidFill>
                  <a:srgbClr val="000000"/>
                </a:solidFill>
              </a:rPr>
              <a:t> ）</a:t>
            </a:r>
            <a:r>
              <a:rPr lang="zh-CN" altLang="en-US" sz="2800" i="1">
                <a:solidFill>
                  <a:srgbClr val="000000"/>
                </a:solidFill>
              </a:rPr>
              <a:t>       </a:t>
            </a:r>
            <a:endParaRPr lang="zh-CN" altLang="en-US" sz="2800" i="1">
              <a:solidFill>
                <a:srgbClr val="000000"/>
              </a:solidFill>
            </a:endParaRPr>
          </a:p>
        </p:txBody>
      </p:sp>
      <p:sp>
        <p:nvSpPr>
          <p:cNvPr id="14" name="Rectangle 64"/>
          <p:cNvSpPr>
            <a:spLocks noChangeArrowheads="1"/>
          </p:cNvSpPr>
          <p:nvPr/>
        </p:nvSpPr>
        <p:spPr bwMode="auto">
          <a:xfrm>
            <a:off x="2362200" y="5681980"/>
            <a:ext cx="464375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0000FF"/>
              </a:buClr>
              <a:buSzPct val="85000"/>
              <a:buFont typeface="Monotype Sorts"/>
              <a:buNone/>
            </a:pPr>
            <a:r>
              <a:rPr lang="zh-CN" altLang="en-US" sz="2800">
                <a:solidFill>
                  <a:srgbClr val="CC0000"/>
                </a:solidFill>
              </a:rPr>
              <a:t>注意输入输出的相位关系</a:t>
            </a:r>
            <a:endParaRPr lang="zh-CN" altLang="en-US" sz="2800">
              <a:solidFill>
                <a:srgbClr val="CC00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289050" y="44624"/>
            <a:ext cx="5911850" cy="637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600" dirty="0">
                <a:solidFill>
                  <a:srgbClr val="000099"/>
                </a:solidFill>
              </a:rPr>
              <a:t>2.1  </a:t>
            </a:r>
            <a:r>
              <a:rPr lang="zh-CN" altLang="en-US" sz="3600" dirty="0" smtClean="0">
                <a:solidFill>
                  <a:srgbClr val="000099"/>
                </a:solidFill>
              </a:rPr>
              <a:t>集成电路</a:t>
            </a:r>
            <a:r>
              <a:rPr lang="zh-CN" altLang="en-US" sz="3600" dirty="0">
                <a:solidFill>
                  <a:srgbClr val="000099"/>
                </a:solidFill>
              </a:rPr>
              <a:t>运算放大器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1" grpId="0" autoUpdateAnimBg="0"/>
      <p:bldP spid="12" grpId="0" autoUpdateAnimBg="0"/>
      <p:bldP spid="13" grpId="0" autoUpdateAnimBg="0"/>
      <p:bldP spid="14" grpId="0" bldLvl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061000" y="3123076"/>
          <a:ext cx="2751360" cy="3192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66" name="Picture" r:id="rId1" imgW="1830070" imgH="2123440" progId="Word.Picture.8">
                  <p:embed/>
                </p:oleObj>
              </mc:Choice>
              <mc:Fallback>
                <p:oleObj name="Picture" r:id="rId1" imgW="1830070" imgH="2123440" progId="Word.Picture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1000" y="3123076"/>
                        <a:ext cx="2751360" cy="31929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576263" y="749648"/>
            <a:ext cx="6048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lang="en-US" altLang="zh-CN" dirty="0" smtClean="0">
                <a:solidFill>
                  <a:srgbClr val="CC0000"/>
                </a:solidFill>
              </a:rPr>
              <a:t>3.  </a:t>
            </a:r>
            <a:r>
              <a:rPr lang="zh-CN" altLang="en-US" dirty="0">
                <a:solidFill>
                  <a:srgbClr val="CC0000"/>
                </a:solidFill>
              </a:rPr>
              <a:t>运算放大器的传输特性</a:t>
            </a:r>
            <a:endParaRPr lang="zh-CN" altLang="en-US" dirty="0">
              <a:solidFill>
                <a:srgbClr val="CC0000"/>
              </a:solidFill>
            </a:endParaRPr>
          </a:p>
        </p:txBody>
      </p:sp>
      <p:sp>
        <p:nvSpPr>
          <p:cNvPr id="11267" name="Rectangle 32"/>
          <p:cNvSpPr>
            <a:spLocks noChangeArrowheads="1"/>
          </p:cNvSpPr>
          <p:nvPr/>
        </p:nvSpPr>
        <p:spPr bwMode="auto">
          <a:xfrm>
            <a:off x="719572" y="1200882"/>
            <a:ext cx="3149600" cy="1729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当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v</a:t>
            </a:r>
            <a:r>
              <a:rPr kumimoji="1" lang="en-US" altLang="zh-CN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v</a:t>
            </a:r>
            <a:r>
              <a:rPr kumimoji="1" lang="en-US" altLang="zh-CN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&gt; 0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kumimoji="1" lang="en-US" altLang="zh-CN" sz="24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dirty="0" smtClean="0">
                <a:solidFill>
                  <a:srgbClr val="000000"/>
                </a:solidFill>
              </a:rPr>
              <a:t>且</a:t>
            </a:r>
            <a:r>
              <a:rPr lang="en-US" altLang="zh-CN" sz="2400" i="1" dirty="0" err="1">
                <a:solidFill>
                  <a:srgbClr val="000000"/>
                </a:solidFill>
                <a:ea typeface="华康简宋"/>
                <a:cs typeface="华康简宋"/>
              </a:rPr>
              <a:t>A</a:t>
            </a:r>
            <a:r>
              <a:rPr lang="en-US" altLang="zh-CN" sz="2400" i="1" baseline="-30000" dirty="0" err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 dirty="0" err="1">
                <a:solidFill>
                  <a:srgbClr val="000000"/>
                </a:solidFill>
                <a:ea typeface="华康简宋"/>
                <a:cs typeface="华康简宋"/>
              </a:rPr>
              <a:t>o</a:t>
            </a:r>
            <a:r>
              <a:rPr lang="en-US" altLang="zh-CN" sz="2400" dirty="0">
                <a:solidFill>
                  <a:srgbClr val="000000"/>
                </a:solidFill>
                <a:ea typeface="华康简宋"/>
                <a:cs typeface="华康简宋"/>
              </a:rPr>
              <a:t>(</a:t>
            </a:r>
            <a:r>
              <a:rPr lang="en-US" altLang="zh-CN" sz="2400" i="1" dirty="0" err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 dirty="0" err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solidFill>
                  <a:srgbClr val="000000"/>
                </a:solidFill>
              </a:rPr>
              <a:t>－</a:t>
            </a:r>
            <a:r>
              <a:rPr lang="en-US" altLang="zh-CN" sz="2400" i="1" dirty="0" err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 dirty="0" err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ea typeface="华康简宋"/>
                <a:cs typeface="华康简宋"/>
              </a:rPr>
              <a:t>) </a:t>
            </a:r>
            <a:r>
              <a:rPr lang="en-US" altLang="zh-CN" sz="2400" dirty="0">
                <a:solidFill>
                  <a:srgbClr val="000000"/>
                </a:solidFill>
                <a:ea typeface="华康简宋"/>
                <a:cs typeface="华康简宋"/>
                <a:sym typeface="Symbol" panose="05050102010706020507" pitchFamily="18" charset="2"/>
              </a:rPr>
              <a:t></a:t>
            </a:r>
            <a:r>
              <a:rPr lang="en-US" altLang="zh-CN" sz="2400" i="1" dirty="0">
                <a:solidFill>
                  <a:srgbClr val="000000"/>
                </a:solidFill>
                <a:ea typeface="华康简宋"/>
                <a:cs typeface="华康简宋"/>
              </a:rPr>
              <a:t>V</a:t>
            </a:r>
            <a:r>
              <a:rPr lang="zh-CN" altLang="en-US" sz="2400" baseline="-30000" dirty="0">
                <a:solidFill>
                  <a:srgbClr val="000000"/>
                </a:solidFill>
                <a:ea typeface="华康简宋"/>
                <a:cs typeface="华康简宋"/>
              </a:rPr>
              <a:t>＋ </a:t>
            </a:r>
            <a:r>
              <a:rPr lang="zh-CN" altLang="en-US" sz="2400" dirty="0">
                <a:solidFill>
                  <a:srgbClr val="000000"/>
                </a:solidFill>
                <a:ea typeface="华康简宋"/>
                <a:cs typeface="华康简宋"/>
              </a:rPr>
              <a:t>时</a:t>
            </a:r>
            <a:endParaRPr lang="zh-CN" altLang="en-US" sz="2400" dirty="0">
              <a:solidFill>
                <a:srgbClr val="000000"/>
              </a:solidFill>
              <a:ea typeface="华康简宋"/>
              <a:cs typeface="华康简宋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</a:t>
            </a:r>
            <a:r>
              <a:rPr lang="zh-CN" altLang="en-US" sz="2400" dirty="0" smtClean="0">
                <a:solidFill>
                  <a:srgbClr val="000000"/>
                </a:solidFill>
              </a:rPr>
              <a:t>     </a:t>
            </a:r>
            <a:r>
              <a:rPr lang="en-US" altLang="zh-CN" sz="2400" i="1" dirty="0" err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 dirty="0" err="1">
                <a:solidFill>
                  <a:srgbClr val="000000"/>
                </a:solidFill>
                <a:ea typeface="华康简宋"/>
                <a:cs typeface="华康简宋"/>
              </a:rPr>
              <a:t>O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ea typeface="华康简宋"/>
                <a:cs typeface="华康简宋"/>
              </a:rPr>
              <a:t>＝ 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om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</a:t>
            </a:r>
            <a:r>
              <a:rPr lang="zh-CN" altLang="en-US" sz="2400" dirty="0">
                <a:solidFill>
                  <a:srgbClr val="000000"/>
                </a:solidFill>
              </a:rPr>
              <a:t> </a:t>
            </a:r>
            <a:r>
              <a:rPr lang="en-US" altLang="zh-CN" sz="2400" i="1" dirty="0">
                <a:solidFill>
                  <a:srgbClr val="000000"/>
                </a:solidFill>
                <a:ea typeface="华康简宋"/>
                <a:cs typeface="华康简宋"/>
              </a:rPr>
              <a:t>V</a:t>
            </a:r>
            <a:r>
              <a:rPr lang="zh-CN" altLang="en-US" sz="2400" baseline="-30000" dirty="0">
                <a:solidFill>
                  <a:srgbClr val="000000"/>
                </a:solidFill>
                <a:ea typeface="华康简宋"/>
                <a:cs typeface="华康简宋"/>
              </a:rPr>
              <a:t>＋</a:t>
            </a:r>
            <a:r>
              <a:rPr lang="zh-CN" altLang="en-US" sz="2400" i="1" dirty="0">
                <a:solidFill>
                  <a:srgbClr val="000000"/>
                </a:solidFill>
              </a:rPr>
              <a:t>       </a:t>
            </a:r>
            <a:endParaRPr lang="zh-CN" altLang="en-US" sz="2400" i="1" dirty="0">
              <a:solidFill>
                <a:srgbClr val="000000"/>
              </a:solidFill>
            </a:endParaRPr>
          </a:p>
        </p:txBody>
      </p:sp>
      <p:sp>
        <p:nvSpPr>
          <p:cNvPr id="5" name="Rectangle 33"/>
          <p:cNvSpPr>
            <a:spLocks noChangeArrowheads="1"/>
          </p:cNvSpPr>
          <p:nvPr/>
        </p:nvSpPr>
        <p:spPr bwMode="auto">
          <a:xfrm>
            <a:off x="719572" y="2891569"/>
            <a:ext cx="3073400" cy="1729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当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v</a:t>
            </a:r>
            <a:r>
              <a:rPr kumimoji="1" lang="en-US" altLang="zh-CN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v</a:t>
            </a:r>
            <a:r>
              <a:rPr kumimoji="1" lang="en-US" altLang="zh-CN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&lt; 0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kumimoji="1" lang="en-US" altLang="zh-CN" sz="24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且</a:t>
            </a:r>
            <a:r>
              <a:rPr lang="en-US" altLang="zh-CN" sz="2400" i="1" dirty="0" err="1" smtClean="0">
                <a:solidFill>
                  <a:srgbClr val="000000"/>
                </a:solidFill>
                <a:ea typeface="华康简宋"/>
                <a:cs typeface="华康简宋"/>
              </a:rPr>
              <a:t>A</a:t>
            </a:r>
            <a:r>
              <a:rPr lang="en-US" altLang="zh-CN" sz="2400" i="1" baseline="-30000" dirty="0" err="1" smtClean="0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 dirty="0" err="1" smtClean="0">
                <a:solidFill>
                  <a:srgbClr val="000000"/>
                </a:solidFill>
                <a:ea typeface="华康简宋"/>
                <a:cs typeface="华康简宋"/>
              </a:rPr>
              <a:t>o</a:t>
            </a:r>
            <a:r>
              <a:rPr lang="en-US" altLang="zh-CN" sz="2400" dirty="0" smtClean="0">
                <a:solidFill>
                  <a:srgbClr val="000000"/>
                </a:solidFill>
                <a:ea typeface="华康简宋"/>
                <a:cs typeface="华康简宋"/>
              </a:rPr>
              <a:t>(</a:t>
            </a:r>
            <a:r>
              <a:rPr lang="en-US" altLang="zh-CN" sz="2400" i="1" dirty="0" err="1" smtClean="0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 dirty="0" err="1" smtClean="0">
                <a:solidFill>
                  <a:srgbClr val="000000"/>
                </a:solidFill>
                <a:ea typeface="华康简宋"/>
                <a:cs typeface="华康简宋"/>
              </a:rPr>
              <a:t>P</a:t>
            </a:r>
            <a:r>
              <a:rPr lang="zh-CN" altLang="en-US" sz="2400" dirty="0">
                <a:solidFill>
                  <a:srgbClr val="000000"/>
                </a:solidFill>
              </a:rPr>
              <a:t>－</a:t>
            </a:r>
            <a:r>
              <a:rPr lang="en-US" altLang="zh-CN" sz="2400" i="1" dirty="0" err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 dirty="0" err="1">
                <a:solidFill>
                  <a:srgbClr val="000000"/>
                </a:solidFill>
                <a:ea typeface="华康简宋"/>
                <a:cs typeface="华康简宋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ea typeface="华康简宋"/>
                <a:cs typeface="华康简宋"/>
              </a:rPr>
              <a:t>) </a:t>
            </a:r>
            <a:r>
              <a:rPr lang="en-US" altLang="zh-CN" sz="2400" dirty="0">
                <a:solidFill>
                  <a:srgbClr val="000000"/>
                </a:solidFill>
                <a:ea typeface="华康简宋"/>
                <a:cs typeface="华康简宋"/>
                <a:sym typeface="Symbol" panose="05050102010706020507" pitchFamily="18" charset="2"/>
              </a:rPr>
              <a:t></a:t>
            </a:r>
            <a:r>
              <a:rPr lang="en-US" altLang="zh-CN" sz="2400" dirty="0">
                <a:solidFill>
                  <a:srgbClr val="000000"/>
                </a:solidFill>
                <a:ea typeface="华康简宋"/>
                <a:cs typeface="华康简宋"/>
              </a:rPr>
              <a:t> </a:t>
            </a:r>
            <a:r>
              <a:rPr lang="en-US" altLang="zh-CN" sz="2400" i="1" dirty="0">
                <a:solidFill>
                  <a:srgbClr val="000000"/>
                </a:solidFill>
                <a:ea typeface="华康简宋"/>
                <a:cs typeface="华康简宋"/>
              </a:rPr>
              <a:t>V</a:t>
            </a:r>
            <a:r>
              <a:rPr lang="en-US" altLang="zh-CN" sz="2400" baseline="-30000" dirty="0">
                <a:solidFill>
                  <a:srgbClr val="000000"/>
                </a:solidFill>
                <a:latin typeface="楷体_GB2312"/>
              </a:rPr>
              <a:t>-</a:t>
            </a:r>
            <a:r>
              <a:rPr lang="zh-CN" altLang="en-US" sz="2400" dirty="0">
                <a:solidFill>
                  <a:srgbClr val="000000"/>
                </a:solidFill>
                <a:ea typeface="华康简宋"/>
                <a:cs typeface="华康简宋"/>
              </a:rPr>
              <a:t>时</a:t>
            </a:r>
            <a:endParaRPr lang="zh-CN" altLang="en-US" sz="2400" dirty="0">
              <a:solidFill>
                <a:srgbClr val="000000"/>
              </a:solidFill>
              <a:ea typeface="华康简宋"/>
              <a:cs typeface="华康简宋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</a:t>
            </a:r>
            <a:r>
              <a:rPr lang="zh-CN" altLang="en-US" sz="2400" dirty="0" smtClean="0">
                <a:solidFill>
                  <a:srgbClr val="000000"/>
                </a:solidFill>
              </a:rPr>
              <a:t>     </a:t>
            </a:r>
            <a:r>
              <a:rPr lang="en-US" altLang="zh-CN" sz="2400" i="1" dirty="0" err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 dirty="0" err="1">
                <a:solidFill>
                  <a:srgbClr val="000000"/>
                </a:solidFill>
                <a:ea typeface="华康简宋"/>
                <a:cs typeface="华康简宋"/>
              </a:rPr>
              <a:t>O</a:t>
            </a:r>
            <a:r>
              <a:rPr lang="zh-CN" altLang="en-US" sz="2400" dirty="0">
                <a:solidFill>
                  <a:srgbClr val="000000"/>
                </a:solidFill>
                <a:ea typeface="华康简宋"/>
                <a:cs typeface="华康简宋"/>
              </a:rPr>
              <a:t>＝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om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</a:t>
            </a:r>
            <a:r>
              <a:rPr lang="zh-CN" altLang="en-US" sz="2400" dirty="0">
                <a:solidFill>
                  <a:srgbClr val="000000"/>
                </a:solidFill>
              </a:rPr>
              <a:t> </a:t>
            </a:r>
            <a:r>
              <a:rPr lang="en-US" altLang="zh-CN" sz="2400" i="1" dirty="0">
                <a:solidFill>
                  <a:srgbClr val="000000"/>
                </a:solidFill>
                <a:ea typeface="华康简宋"/>
                <a:cs typeface="华康简宋"/>
              </a:rPr>
              <a:t>V</a:t>
            </a:r>
            <a:r>
              <a:rPr lang="en-US" altLang="zh-CN" sz="2400" baseline="-30000" dirty="0">
                <a:solidFill>
                  <a:srgbClr val="000000"/>
                </a:solidFill>
                <a:latin typeface="楷体_GB2312"/>
              </a:rPr>
              <a:t>-</a:t>
            </a:r>
            <a:endParaRPr lang="en-US" altLang="zh-CN" sz="2400" baseline="-30000" dirty="0">
              <a:solidFill>
                <a:srgbClr val="000000"/>
              </a:solidFill>
              <a:latin typeface="楷体_GB2312"/>
            </a:endParaRPr>
          </a:p>
        </p:txBody>
      </p:sp>
      <p:sp>
        <p:nvSpPr>
          <p:cNvPr id="6" name="Rectangle 34"/>
          <p:cNvSpPr>
            <a:spLocks noChangeArrowheads="1"/>
          </p:cNvSpPr>
          <p:nvPr/>
        </p:nvSpPr>
        <p:spPr bwMode="auto">
          <a:xfrm>
            <a:off x="719572" y="4656869"/>
            <a:ext cx="2947988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电压传输特性</a:t>
            </a:r>
            <a:endParaRPr lang="zh-CN" altLang="en-US" sz="2400" dirty="0">
              <a:solidFill>
                <a:srgbClr val="000000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   </a:t>
            </a:r>
            <a:r>
              <a:rPr lang="en-US" altLang="zh-CN" sz="2400" i="1" dirty="0" err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 dirty="0" err="1">
                <a:solidFill>
                  <a:srgbClr val="000000"/>
                </a:solidFill>
                <a:ea typeface="华康简宋"/>
                <a:cs typeface="华康简宋"/>
              </a:rPr>
              <a:t>O</a:t>
            </a:r>
            <a:r>
              <a:rPr lang="zh-CN" altLang="en-US" sz="2400" dirty="0">
                <a:solidFill>
                  <a:srgbClr val="000000"/>
                </a:solidFill>
                <a:ea typeface="华康简宋"/>
                <a:cs typeface="华康简宋"/>
              </a:rPr>
              <a:t>＝</a:t>
            </a:r>
            <a:r>
              <a:rPr lang="zh-CN" altLang="en-US" sz="2400" dirty="0">
                <a:solidFill>
                  <a:srgbClr val="000000"/>
                </a:solidFill>
              </a:rPr>
              <a:t>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a typeface="华康简宋"/>
                <a:cs typeface="华康简宋"/>
              </a:rPr>
              <a:t>(</a:t>
            </a:r>
            <a:r>
              <a:rPr lang="en-US" altLang="zh-CN" sz="2400" i="1" dirty="0" err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 dirty="0" err="1">
                <a:solidFill>
                  <a:srgbClr val="000000"/>
                </a:solidFill>
                <a:ea typeface="华康简宋"/>
                <a:cs typeface="华康简宋"/>
              </a:rPr>
              <a:t>P</a:t>
            </a:r>
            <a:r>
              <a:rPr lang="zh-CN" altLang="en-US" sz="2400" dirty="0">
                <a:solidFill>
                  <a:srgbClr val="000000"/>
                </a:solidFill>
              </a:rPr>
              <a:t>－</a:t>
            </a:r>
            <a:r>
              <a:rPr lang="en-US" altLang="zh-CN" sz="2400" i="1" dirty="0" err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 dirty="0" err="1">
                <a:solidFill>
                  <a:srgbClr val="000000"/>
                </a:solidFill>
                <a:ea typeface="华康简宋"/>
                <a:cs typeface="华康简宋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ea typeface="华康简宋"/>
                <a:cs typeface="华康简宋"/>
              </a:rPr>
              <a:t>)</a:t>
            </a:r>
            <a:endParaRPr lang="en-US" altLang="zh-CN" sz="2400" baseline="-30000" dirty="0">
              <a:solidFill>
                <a:srgbClr val="000000"/>
              </a:solidFill>
              <a:latin typeface="楷体_GB2312"/>
            </a:endParaRPr>
          </a:p>
        </p:txBody>
      </p:sp>
      <p:pic>
        <p:nvPicPr>
          <p:cNvPr id="11270" name="Picture 59" descr="未标题-3 拷贝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020" y="800708"/>
            <a:ext cx="4079055" cy="225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289050" y="44624"/>
            <a:ext cx="5911850" cy="637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600" dirty="0">
                <a:solidFill>
                  <a:srgbClr val="000099"/>
                </a:solidFill>
              </a:rPr>
              <a:t>2.1  </a:t>
            </a:r>
            <a:r>
              <a:rPr lang="zh-CN" altLang="en-US" sz="3600" dirty="0" smtClean="0">
                <a:solidFill>
                  <a:srgbClr val="000099"/>
                </a:solidFill>
              </a:rPr>
              <a:t>集成电路</a:t>
            </a:r>
            <a:r>
              <a:rPr lang="zh-CN" altLang="en-US" sz="3600" dirty="0">
                <a:solidFill>
                  <a:srgbClr val="000099"/>
                </a:solidFill>
              </a:rPr>
              <a:t>运算放大器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  <p:sp>
        <p:nvSpPr>
          <p:cNvPr id="9" name="Rectangle 30"/>
          <p:cNvSpPr>
            <a:spLocks noChangeArrowheads="1"/>
          </p:cNvSpPr>
          <p:nvPr/>
        </p:nvSpPr>
        <p:spPr bwMode="auto">
          <a:xfrm>
            <a:off x="719572" y="5737820"/>
            <a:ext cx="438372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</a:rPr>
              <a:t>线性范围内</a:t>
            </a:r>
            <a:r>
              <a:rPr lang="zh-CN" altLang="en-US" sz="24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   </a:t>
            </a:r>
            <a:r>
              <a:rPr lang="en-US" altLang="zh-CN" sz="24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>
                <a:solidFill>
                  <a:srgbClr val="000000"/>
                </a:solidFill>
                <a:ea typeface="华康简宋"/>
                <a:cs typeface="华康简宋"/>
              </a:rPr>
              <a:t>O</a:t>
            </a:r>
            <a:r>
              <a:rPr lang="zh-CN" altLang="en-US" sz="2400">
                <a:solidFill>
                  <a:srgbClr val="000000"/>
                </a:solidFill>
                <a:ea typeface="华康简宋"/>
                <a:cs typeface="华康简宋"/>
              </a:rPr>
              <a:t>＝</a:t>
            </a:r>
            <a:r>
              <a:rPr lang="en-US" altLang="zh-CN" sz="2400" i="1">
                <a:solidFill>
                  <a:srgbClr val="000000"/>
                </a:solidFill>
                <a:ea typeface="华康简宋"/>
                <a:cs typeface="华康简宋"/>
              </a:rPr>
              <a:t>A</a:t>
            </a:r>
            <a:r>
              <a:rPr lang="en-US" altLang="zh-CN" sz="2400" i="1" baseline="-30000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>
                <a:solidFill>
                  <a:srgbClr val="000000"/>
                </a:solidFill>
                <a:ea typeface="华康简宋"/>
                <a:cs typeface="华康简宋"/>
              </a:rPr>
              <a:t>o</a:t>
            </a:r>
            <a:r>
              <a:rPr lang="en-US" altLang="zh-CN" sz="2400">
                <a:solidFill>
                  <a:srgbClr val="000000"/>
                </a:solidFill>
                <a:ea typeface="华康简宋"/>
                <a:cs typeface="华康简宋"/>
              </a:rPr>
              <a:t>(</a:t>
            </a:r>
            <a:r>
              <a:rPr lang="en-US" altLang="zh-CN" sz="24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>
                <a:solidFill>
                  <a:srgbClr val="000000"/>
                </a:solidFill>
                <a:ea typeface="华康简宋"/>
                <a:cs typeface="华康简宋"/>
              </a:rPr>
              <a:t>P</a:t>
            </a:r>
            <a:r>
              <a:rPr lang="zh-CN" altLang="en-US" sz="2400">
                <a:solidFill>
                  <a:srgbClr val="000000"/>
                </a:solidFill>
              </a:rPr>
              <a:t>－</a:t>
            </a:r>
            <a:r>
              <a:rPr lang="en-US" altLang="zh-CN" sz="24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>
                <a:solidFill>
                  <a:srgbClr val="000000"/>
                </a:solidFill>
                <a:ea typeface="华康简宋"/>
                <a:cs typeface="华康简宋"/>
              </a:rPr>
              <a:t>N</a:t>
            </a:r>
            <a:r>
              <a:rPr lang="en-US" altLang="zh-CN" sz="2400">
                <a:solidFill>
                  <a:srgbClr val="000000"/>
                </a:solidFill>
                <a:ea typeface="华康简宋"/>
                <a:cs typeface="华康简宋"/>
              </a:rPr>
              <a:t>)</a:t>
            </a:r>
            <a:endParaRPr lang="en-US" altLang="zh-CN" sz="2400">
              <a:solidFill>
                <a:srgbClr val="000000"/>
              </a:solidFill>
              <a:ea typeface="华康简宋"/>
              <a:cs typeface="华康简宋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76263" y="749648"/>
            <a:ext cx="60483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lang="en-US" altLang="zh-CN" dirty="0" smtClean="0">
                <a:solidFill>
                  <a:srgbClr val="CC0000"/>
                </a:solidFill>
              </a:rPr>
              <a:t>4.  </a:t>
            </a:r>
            <a:r>
              <a:rPr lang="zh-CN" altLang="en-US" dirty="0" smtClean="0">
                <a:solidFill>
                  <a:srgbClr val="CC0000"/>
                </a:solidFill>
              </a:rPr>
              <a:t>运算放大器</a:t>
            </a:r>
            <a:r>
              <a:rPr lang="zh-CN" altLang="en-US" dirty="0">
                <a:solidFill>
                  <a:srgbClr val="CC0000"/>
                </a:solidFill>
              </a:rPr>
              <a:t>的输出端电流</a:t>
            </a:r>
            <a:endParaRPr lang="zh-CN" altLang="en-US" dirty="0">
              <a:solidFill>
                <a:srgbClr val="CC0000"/>
              </a:solidFill>
            </a:endParaRPr>
          </a:p>
        </p:txBody>
      </p:sp>
      <p:sp>
        <p:nvSpPr>
          <p:cNvPr id="6" name="Rectangle 15"/>
          <p:cNvSpPr>
            <a:spLocks noChangeArrowheads="1"/>
          </p:cNvSpPr>
          <p:nvPr/>
        </p:nvSpPr>
        <p:spPr bwMode="auto">
          <a:xfrm>
            <a:off x="503548" y="1371291"/>
            <a:ext cx="1372771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kumimoji="1"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如果有</a:t>
            </a:r>
            <a:endParaRPr kumimoji="1"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955412" y="1394993"/>
          <a:ext cx="3290076" cy="2321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29" name="Picture" r:id="rId1" imgW="1640205" imgH="1158875" progId="Word.Picture.8">
                  <p:embed/>
                </p:oleObj>
              </mc:Choice>
              <mc:Fallback>
                <p:oleObj name="Picture" r:id="rId1" imgW="1640205" imgH="1158875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412" y="1394993"/>
                        <a:ext cx="3290076" cy="23214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769483" y="1341304"/>
          <a:ext cx="2228963" cy="2157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30" name="Picture" r:id="rId3" imgW="1011555" imgH="979805" progId="Word.Picture.8">
                  <p:embed/>
                </p:oleObj>
              </mc:Choice>
              <mc:Fallback>
                <p:oleObj name="Picture" r:id="rId3" imgW="1011555" imgH="979805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9483" y="1341304"/>
                        <a:ext cx="2228963" cy="21579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431540" y="3570800"/>
            <a:ext cx="7964877" cy="2589214"/>
            <a:chOff x="431540" y="3570800"/>
            <a:chExt cx="7964877" cy="2589214"/>
          </a:xfrm>
        </p:grpSpPr>
        <p:graphicFrame>
          <p:nvGraphicFramePr>
            <p:cNvPr id="12" name="对象 11"/>
            <p:cNvGraphicFramePr>
              <a:graphicFrameLocks noChangeAspect="1"/>
            </p:cNvGraphicFramePr>
            <p:nvPr/>
          </p:nvGraphicFramePr>
          <p:xfrm>
            <a:off x="5769483" y="3755287"/>
            <a:ext cx="2626934" cy="21579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31" name="Picture" r:id="rId5" imgW="1192530" imgH="979805" progId="Word.Picture.8">
                    <p:embed/>
                  </p:oleObj>
                </mc:Choice>
                <mc:Fallback>
                  <p:oleObj name="Picture" r:id="rId5" imgW="1192530" imgH="979805" progId="Word.Picture.8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9483" y="3755287"/>
                          <a:ext cx="2626934" cy="21579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431540" y="3570800"/>
              <a:ext cx="1809096" cy="535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kumimoji="1" lang="zh-CN" altLang="en-US" sz="24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是否还有？</a:t>
              </a:r>
              <a:endPara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14" name="对象 13"/>
            <p:cNvGraphicFramePr>
              <a:graphicFrameLocks noChangeAspect="1"/>
            </p:cNvGraphicFramePr>
            <p:nvPr/>
          </p:nvGraphicFramePr>
          <p:xfrm>
            <a:off x="1955412" y="3838566"/>
            <a:ext cx="3290076" cy="2321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32" name="Picture" r:id="rId7" imgW="1640205" imgH="1158875" progId="Word.Picture.8">
                    <p:embed/>
                  </p:oleObj>
                </mc:Choice>
                <mc:Fallback>
                  <p:oleObj name="Picture" r:id="rId7" imgW="1640205" imgH="1158875" progId="Word.Picture.8">
                    <p:embed/>
                    <p:pic>
                      <p:nvPicPr>
                        <p:cNvPr id="0" name="图片 630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5412" y="3838566"/>
                          <a:ext cx="3290076" cy="23214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289050" y="44624"/>
            <a:ext cx="5911850" cy="637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600" dirty="0">
                <a:solidFill>
                  <a:srgbClr val="000099"/>
                </a:solidFill>
              </a:rPr>
              <a:t>2.1  </a:t>
            </a:r>
            <a:r>
              <a:rPr lang="zh-CN" altLang="en-US" sz="3600" dirty="0" smtClean="0">
                <a:solidFill>
                  <a:srgbClr val="000099"/>
                </a:solidFill>
              </a:rPr>
              <a:t>集成电路</a:t>
            </a:r>
            <a:r>
              <a:rPr lang="zh-CN" altLang="en-US" sz="3600" dirty="0">
                <a:solidFill>
                  <a:srgbClr val="000099"/>
                </a:solidFill>
              </a:rPr>
              <a:t>运算放大器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  <p:graphicFrame>
        <p:nvGraphicFramePr>
          <p:cNvPr id="3" name="对象 2"/>
          <p:cNvGraphicFramePr/>
          <p:nvPr/>
        </p:nvGraphicFramePr>
        <p:xfrm>
          <a:off x="3671570" y="3527425"/>
          <a:ext cx="276098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8" imgW="2759075" imgH="1256665" progId="Paint.Picture">
                  <p:embed/>
                </p:oleObj>
              </mc:Choice>
              <mc:Fallback>
                <p:oleObj name="" r:id="rId8" imgW="2759075" imgH="1256665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71570" y="3527425"/>
                        <a:ext cx="2760980" cy="125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769995" y="5527040"/>
            <a:ext cx="3216275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kumimoji="1"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  <a:cs typeface="楷体_GB2312"/>
              </a:rPr>
              <a:t>正弦幅度下降一点</a:t>
            </a:r>
            <a:endParaRPr kumimoji="1" lang="zh-CN" altLang="en-US" sz="2400" b="1" dirty="0" smtClean="0">
              <a:latin typeface="华文楷体" panose="02010600040101010101" pitchFamily="2" charset="-122"/>
              <a:ea typeface="华文楷体" panose="02010600040101010101" pitchFamily="2" charset="-122"/>
              <a:cs typeface="楷体_GB231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76263" y="749648"/>
            <a:ext cx="60483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lang="en-US" altLang="zh-CN" dirty="0" smtClean="0">
                <a:solidFill>
                  <a:srgbClr val="CC0000"/>
                </a:solidFill>
              </a:rPr>
              <a:t>5.  </a:t>
            </a:r>
            <a:r>
              <a:rPr lang="zh-CN" altLang="en-US" dirty="0" smtClean="0">
                <a:solidFill>
                  <a:srgbClr val="CC0000"/>
                </a:solidFill>
              </a:rPr>
              <a:t>差</a:t>
            </a:r>
            <a:r>
              <a:rPr lang="zh-CN" altLang="en-US" dirty="0">
                <a:solidFill>
                  <a:srgbClr val="CC0000"/>
                </a:solidFill>
              </a:rPr>
              <a:t>模信号和共模信号</a:t>
            </a:r>
            <a:endParaRPr lang="zh-CN" altLang="en-US" dirty="0">
              <a:solidFill>
                <a:srgbClr val="CC0000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558463" y="1232756"/>
            <a:ext cx="4618750" cy="544566"/>
            <a:chOff x="558463" y="1338414"/>
            <a:chExt cx="4618750" cy="544566"/>
          </a:xfrm>
        </p:grpSpPr>
        <p:sp>
          <p:nvSpPr>
            <p:cNvPr id="4" name="Rectangle 15"/>
            <p:cNvSpPr>
              <a:spLocks noChangeArrowheads="1"/>
            </p:cNvSpPr>
            <p:nvPr/>
          </p:nvSpPr>
          <p:spPr bwMode="auto">
            <a:xfrm>
              <a:off x="558463" y="1347449"/>
              <a:ext cx="2232248" cy="535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kumimoji="1" lang="zh-CN" altLang="en-US" sz="24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差</a:t>
              </a:r>
              <a:r>
                <a:rPr kumimoji="1" lang="zh-CN" altLang="en-US" sz="24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模输入信号</a:t>
              </a:r>
              <a:endPara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" name="Rectangle 15"/>
            <p:cNvSpPr>
              <a:spLocks noChangeArrowheads="1"/>
            </p:cNvSpPr>
            <p:nvPr/>
          </p:nvSpPr>
          <p:spPr bwMode="auto">
            <a:xfrm>
              <a:off x="2800949" y="1338414"/>
              <a:ext cx="2376264" cy="535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lang="en-US" altLang="zh-CN" sz="2400" i="1" dirty="0" smtClean="0">
                  <a:latin typeface="Book Antiqua" panose="02040602050305030304" pitchFamily="18" charset="0"/>
                  <a:ea typeface="方正书宋_GBK"/>
                  <a:cs typeface="Times New Roman" panose="02020603050405020304" pitchFamily="18" charset="0"/>
                </a:rPr>
                <a:t>v</a:t>
              </a:r>
              <a:r>
                <a:rPr lang="en-US" altLang="zh-CN" sz="2400" baseline="-25000" dirty="0" smtClean="0">
                  <a:ea typeface="方正书宋_GBK"/>
                </a:rPr>
                <a:t>id </a:t>
              </a:r>
              <a:r>
                <a:rPr lang="en-US" altLang="zh-CN" sz="2400" dirty="0">
                  <a:ea typeface="方正书宋_GBK"/>
                </a:rPr>
                <a:t>= </a:t>
              </a:r>
              <a:r>
                <a:rPr lang="en-US" altLang="zh-CN" sz="2400" i="1" dirty="0" err="1">
                  <a:latin typeface="Book Antiqua" panose="02040602050305030304" pitchFamily="18" charset="0"/>
                  <a:ea typeface="方正书宋_GBK"/>
                  <a:cs typeface="Times New Roman" panose="02020603050405020304" pitchFamily="18" charset="0"/>
                </a:rPr>
                <a:t>v</a:t>
              </a:r>
              <a:r>
                <a:rPr lang="en-US" altLang="zh-CN" sz="2400" baseline="-25000" dirty="0" err="1">
                  <a:ea typeface="方正书宋_GBK"/>
                </a:rPr>
                <a:t>P</a:t>
              </a:r>
              <a:r>
                <a:rPr lang="zh-CN" altLang="zh-CN" sz="2400" dirty="0">
                  <a:ea typeface="方正书宋_GBK"/>
                  <a:cs typeface="Times New Roman" panose="02020603050405020304" pitchFamily="18" charset="0"/>
                </a:rPr>
                <a:t>－</a:t>
              </a:r>
              <a:r>
                <a:rPr lang="en-US" altLang="zh-CN" sz="2400" i="1" dirty="0" err="1">
                  <a:latin typeface="Book Antiqua" panose="02040602050305030304" pitchFamily="18" charset="0"/>
                  <a:ea typeface="方正书宋_GBK"/>
                  <a:cs typeface="Times New Roman" panose="02020603050405020304" pitchFamily="18" charset="0"/>
                </a:rPr>
                <a:t>v</a:t>
              </a:r>
              <a:r>
                <a:rPr lang="en-US" altLang="zh-CN" sz="2400" baseline="-25000" dirty="0" err="1">
                  <a:ea typeface="方正书宋_GBK"/>
                </a:rPr>
                <a:t>N</a:t>
              </a:r>
              <a:endPara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59374" y="1865666"/>
            <a:ext cx="3946015" cy="812800"/>
            <a:chOff x="559374" y="1971324"/>
            <a:chExt cx="3946015" cy="812800"/>
          </a:xfrm>
        </p:grpSpPr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559374" y="2132856"/>
              <a:ext cx="2232248" cy="510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kumimoji="1" lang="zh-CN" altLang="en-US" sz="24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共模输入信号</a:t>
              </a:r>
              <a:endPara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2785748" y="2123733"/>
              <a:ext cx="935193" cy="5078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lang="en-US" altLang="zh-CN" sz="2400" i="1" dirty="0" err="1" smtClean="0">
                  <a:latin typeface="Book Antiqua" panose="02040602050305030304" pitchFamily="18" charset="0"/>
                  <a:ea typeface="方正书宋_GBK"/>
                  <a:cs typeface="Times New Roman" panose="02020603050405020304" pitchFamily="18" charset="0"/>
                </a:rPr>
                <a:t>v</a:t>
              </a:r>
              <a:r>
                <a:rPr lang="en-US" altLang="zh-CN" sz="2400" baseline="-25000" dirty="0" err="1" smtClean="0">
                  <a:ea typeface="方正书宋_GBK"/>
                </a:rPr>
                <a:t>ic</a:t>
              </a:r>
              <a:r>
                <a:rPr lang="en-US" altLang="zh-CN" sz="2400" baseline="-25000" dirty="0" smtClean="0">
                  <a:ea typeface="方正书宋_GBK"/>
                </a:rPr>
                <a:t> </a:t>
              </a:r>
              <a:r>
                <a:rPr lang="en-US" altLang="zh-CN" sz="2400" dirty="0" smtClean="0">
                  <a:ea typeface="方正书宋_GBK"/>
                </a:rPr>
                <a:t>=</a:t>
              </a:r>
              <a:endPara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/>
          </p:nvGraphicFramePr>
          <p:xfrm>
            <a:off x="3440177" y="1971324"/>
            <a:ext cx="1065212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593" name="Equation" r:id="rId1" imgW="12801600" imgH="9753600" progId="Equation.DSMT4">
                    <p:embed/>
                  </p:oleObj>
                </mc:Choice>
                <mc:Fallback>
                  <p:oleObj name="Equation" r:id="rId1" imgW="12801600" imgH="9753600" progId="Equation.DSMT4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0177" y="1971324"/>
                          <a:ext cx="1065212" cy="812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447271" y="872716"/>
          <a:ext cx="3290076" cy="1780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594" name="Picture" r:id="rId3" imgW="1640205" imgH="888365" progId="Word.Picture.8">
                  <p:embed/>
                </p:oleObj>
              </mc:Choice>
              <mc:Fallback>
                <p:oleObj name="Picture" r:id="rId3" imgW="1640205" imgH="888365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7271" y="872716"/>
                        <a:ext cx="3290076" cy="17809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772250" y="2620202"/>
          <a:ext cx="4012218" cy="1780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595" name="Picture" r:id="rId5" imgW="2000250" imgH="888365" progId="Word.Picture.8">
                  <p:embed/>
                </p:oleObj>
              </mc:Choice>
              <mc:Fallback>
                <p:oleObj name="Picture" r:id="rId5" imgW="2000250" imgH="888365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2250" y="2620202"/>
                        <a:ext cx="4012218" cy="17809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/>
          <p:cNvGrpSpPr/>
          <p:nvPr/>
        </p:nvGrpSpPr>
        <p:grpSpPr>
          <a:xfrm>
            <a:off x="578514" y="2711274"/>
            <a:ext cx="2866361" cy="1664665"/>
            <a:chOff x="578514" y="2816932"/>
            <a:chExt cx="2866361" cy="1664665"/>
          </a:xfrm>
        </p:grpSpPr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578514" y="2996952"/>
              <a:ext cx="994164" cy="535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kumimoji="1" lang="zh-CN" altLang="en-US" sz="24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则有</a:t>
              </a:r>
              <a:endPara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0" name="Rectangle 15"/>
            <p:cNvSpPr>
              <a:spLocks noChangeArrowheads="1"/>
            </p:cNvSpPr>
            <p:nvPr/>
          </p:nvSpPr>
          <p:spPr bwMode="auto">
            <a:xfrm>
              <a:off x="1674587" y="2985866"/>
              <a:ext cx="935193" cy="535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lang="en-US" altLang="zh-CN" sz="2400" i="1" dirty="0" err="1" smtClean="0">
                  <a:latin typeface="Book Antiqua" panose="02040602050305030304" pitchFamily="18" charset="0"/>
                  <a:ea typeface="方正书宋_GBK"/>
                  <a:cs typeface="Times New Roman" panose="02020603050405020304" pitchFamily="18" charset="0"/>
                </a:rPr>
                <a:t>v</a:t>
              </a:r>
              <a:r>
                <a:rPr lang="en-US" altLang="zh-CN" sz="2400" baseline="-25000" dirty="0" err="1" smtClean="0">
                  <a:ea typeface="方正书宋_GBK"/>
                </a:rPr>
                <a:t>P</a:t>
              </a:r>
              <a:r>
                <a:rPr lang="en-US" altLang="zh-CN" sz="2400" baseline="-25000" dirty="0" smtClean="0">
                  <a:ea typeface="方正书宋_GBK"/>
                </a:rPr>
                <a:t> </a:t>
              </a:r>
              <a:r>
                <a:rPr lang="en-US" altLang="zh-CN" sz="2400" dirty="0" smtClean="0">
                  <a:ea typeface="方正书宋_GBK"/>
                </a:rPr>
                <a:t>=</a:t>
              </a:r>
              <a:endPara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1674587" y="3821282"/>
              <a:ext cx="935193" cy="5078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lang="en-US" altLang="zh-CN" sz="2400" i="1" dirty="0" err="1" smtClean="0">
                  <a:latin typeface="Book Antiqua" panose="02040602050305030304" pitchFamily="18" charset="0"/>
                  <a:ea typeface="方正书宋_GBK"/>
                  <a:cs typeface="Times New Roman" panose="02020603050405020304" pitchFamily="18" charset="0"/>
                </a:rPr>
                <a:t>v</a:t>
              </a:r>
              <a:r>
                <a:rPr lang="en-US" altLang="zh-CN" sz="2400" baseline="-25000" dirty="0" err="1" smtClean="0">
                  <a:ea typeface="方正书宋_GBK"/>
                </a:rPr>
                <a:t>N</a:t>
              </a:r>
              <a:r>
                <a:rPr lang="en-US" altLang="zh-CN" sz="2400" baseline="-25000" dirty="0" smtClean="0">
                  <a:ea typeface="方正书宋_GBK"/>
                </a:rPr>
                <a:t> </a:t>
              </a:r>
              <a:r>
                <a:rPr lang="en-US" altLang="zh-CN" sz="2400" dirty="0" smtClean="0">
                  <a:ea typeface="方正书宋_GBK"/>
                </a:rPr>
                <a:t>=</a:t>
              </a:r>
              <a:endPara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22" name="对象 21"/>
            <p:cNvGraphicFramePr>
              <a:graphicFrameLocks noChangeAspect="1"/>
            </p:cNvGraphicFramePr>
            <p:nvPr/>
          </p:nvGraphicFramePr>
          <p:xfrm>
            <a:off x="2355850" y="2816932"/>
            <a:ext cx="1089025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596" name="Equation" r:id="rId7" imgW="13106400" imgH="9753600" progId="Equation.DSMT4">
                    <p:embed/>
                  </p:oleObj>
                </mc:Choice>
                <mc:Fallback>
                  <p:oleObj name="Equation" r:id="rId7" imgW="13106400" imgH="9753600" progId="Equation.DSMT4">
                    <p:embed/>
                    <p:pic>
                      <p:nvPicPr>
                        <p:cNvPr id="0" name="图片 705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5850" y="2816932"/>
                          <a:ext cx="1089025" cy="812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/>
            <p:cNvGraphicFramePr>
              <a:graphicFrameLocks noChangeAspect="1"/>
            </p:cNvGraphicFramePr>
            <p:nvPr/>
          </p:nvGraphicFramePr>
          <p:xfrm>
            <a:off x="2355850" y="3668797"/>
            <a:ext cx="1089025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597" name="Equation" r:id="rId9" imgW="13106400" imgH="9753600" progId="Equation.DSMT4">
                    <p:embed/>
                  </p:oleObj>
                </mc:Choice>
                <mc:Fallback>
                  <p:oleObj name="Equation" r:id="rId9" imgW="13106400" imgH="9753600" progId="Equation.DSMT4">
                    <p:embed/>
                    <p:pic>
                      <p:nvPicPr>
                        <p:cNvPr id="0" name="图片 705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5850" y="3668797"/>
                          <a:ext cx="1089025" cy="812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/>
          <p:cNvGrpSpPr/>
          <p:nvPr/>
        </p:nvGrpSpPr>
        <p:grpSpPr>
          <a:xfrm>
            <a:off x="1064146" y="4492570"/>
            <a:ext cx="3651870" cy="1706563"/>
            <a:chOff x="1064146" y="4492570"/>
            <a:chExt cx="3651870" cy="1706563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/>
          </p:nvGraphicFramePr>
          <p:xfrm>
            <a:off x="1064146" y="4492570"/>
            <a:ext cx="3651870" cy="16007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598" name="Picture" r:id="rId11" imgW="1821180" imgH="798830" progId="Word.Picture.8">
                    <p:embed/>
                  </p:oleObj>
                </mc:Choice>
                <mc:Fallback>
                  <p:oleObj name="Picture" r:id="rId11" imgW="1821180" imgH="798830" progId="Word.Picture.8">
                    <p:embed/>
                    <p:pic>
                      <p:nvPicPr>
                        <p:cNvPr id="0" name="Object 5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4146" y="4492570"/>
                          <a:ext cx="3651870" cy="16007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Rectangle 15"/>
            <p:cNvSpPr>
              <a:spLocks noChangeArrowheads="1"/>
            </p:cNvSpPr>
            <p:nvPr/>
          </p:nvSpPr>
          <p:spPr bwMode="auto">
            <a:xfrm>
              <a:off x="2634977" y="5663602"/>
              <a:ext cx="1180939" cy="535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kumimoji="1" lang="zh-CN" altLang="en-US" sz="24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仅差模</a:t>
              </a:r>
              <a:endPara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148064" y="4509120"/>
            <a:ext cx="3290076" cy="1602166"/>
            <a:chOff x="5148064" y="4509120"/>
            <a:chExt cx="3290076" cy="1602166"/>
          </a:xfrm>
        </p:grpSpPr>
        <p:graphicFrame>
          <p:nvGraphicFramePr>
            <p:cNvPr id="11" name="对象 10"/>
            <p:cNvGraphicFramePr>
              <a:graphicFrameLocks noChangeAspect="1"/>
            </p:cNvGraphicFramePr>
            <p:nvPr/>
          </p:nvGraphicFramePr>
          <p:xfrm>
            <a:off x="5148064" y="4509120"/>
            <a:ext cx="3290076" cy="1602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599" name="Picture" r:id="rId13" imgW="1640205" imgH="800735" progId="Word.Picture.8">
                    <p:embed/>
                  </p:oleObj>
                </mc:Choice>
                <mc:Fallback>
                  <p:oleObj name="Picture" r:id="rId13" imgW="1640205" imgH="800735" progId="Word.Picture.8">
                    <p:embed/>
                    <p:pic>
                      <p:nvPicPr>
                        <p:cNvPr id="0" name="Object 5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064" y="4509120"/>
                          <a:ext cx="3290076" cy="16021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Rectangle 15"/>
            <p:cNvSpPr>
              <a:spLocks noChangeArrowheads="1"/>
            </p:cNvSpPr>
            <p:nvPr/>
          </p:nvSpPr>
          <p:spPr bwMode="auto">
            <a:xfrm>
              <a:off x="6336196" y="5588290"/>
              <a:ext cx="1180939" cy="510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kumimoji="1" lang="zh-CN" altLang="en-US" sz="24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仅共模</a:t>
              </a:r>
              <a:endPara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1289050" y="44624"/>
            <a:ext cx="5911850" cy="637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600" dirty="0">
                <a:solidFill>
                  <a:srgbClr val="000099"/>
                </a:solidFill>
              </a:rPr>
              <a:t>2.1  </a:t>
            </a:r>
            <a:r>
              <a:rPr lang="zh-CN" altLang="en-US" sz="3600" dirty="0" smtClean="0">
                <a:solidFill>
                  <a:srgbClr val="000099"/>
                </a:solidFill>
              </a:rPr>
              <a:t>集成电路</a:t>
            </a:r>
            <a:r>
              <a:rPr lang="zh-CN" altLang="en-US" sz="3600" dirty="0">
                <a:solidFill>
                  <a:srgbClr val="000099"/>
                </a:solidFill>
              </a:rPr>
              <a:t>运算放大器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76263" y="749648"/>
            <a:ext cx="60483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lang="en-US" altLang="zh-CN" dirty="0" smtClean="0">
                <a:solidFill>
                  <a:srgbClr val="CC0000"/>
                </a:solidFill>
              </a:rPr>
              <a:t>5.  </a:t>
            </a:r>
            <a:r>
              <a:rPr lang="zh-CN" altLang="en-US" dirty="0" smtClean="0">
                <a:solidFill>
                  <a:srgbClr val="CC0000"/>
                </a:solidFill>
              </a:rPr>
              <a:t>差</a:t>
            </a:r>
            <a:r>
              <a:rPr lang="zh-CN" altLang="en-US" dirty="0">
                <a:solidFill>
                  <a:srgbClr val="CC0000"/>
                </a:solidFill>
              </a:rPr>
              <a:t>模信号和共模信号</a:t>
            </a:r>
            <a:endParaRPr lang="zh-CN" altLang="en-US" dirty="0">
              <a:solidFill>
                <a:srgbClr val="CC0000"/>
              </a:solidFill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391980" y="2841016"/>
          <a:ext cx="4602425" cy="3072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85" name="Picture" r:id="rId1" imgW="2699385" imgH="1802765" progId="Word.Picture.8">
                  <p:embed/>
                </p:oleObj>
              </mc:Choice>
              <mc:Fallback>
                <p:oleObj name="Picture" r:id="rId1" imgW="2699385" imgH="1802765" progId="Word.Picture.8">
                  <p:embed/>
                  <p:pic>
                    <p:nvPicPr>
                      <p:cNvPr id="0" name="图片 801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980" y="2841016"/>
                        <a:ext cx="4602425" cy="30722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576263" y="1268760"/>
            <a:ext cx="3280728" cy="1408448"/>
            <a:chOff x="576263" y="1268760"/>
            <a:chExt cx="3280728" cy="1408448"/>
          </a:xfrm>
        </p:grpSpPr>
        <p:sp>
          <p:nvSpPr>
            <p:cNvPr id="5" name="Rectangle 15"/>
            <p:cNvSpPr>
              <a:spLocks noChangeArrowheads="1"/>
            </p:cNvSpPr>
            <p:nvPr/>
          </p:nvSpPr>
          <p:spPr bwMode="auto">
            <a:xfrm>
              <a:off x="576263" y="1268760"/>
              <a:ext cx="2232248" cy="535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kumimoji="1" lang="zh-CN" altLang="en-US" sz="24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差模电压增益</a:t>
              </a:r>
              <a:endPara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/>
          </p:nvGraphicFramePr>
          <p:xfrm>
            <a:off x="1367951" y="1788728"/>
            <a:ext cx="2489040" cy="888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186" name="Equation" r:id="rId3" imgW="29870400" imgH="10668000" progId="Equation.DSMT4">
                    <p:embed/>
                  </p:oleObj>
                </mc:Choice>
                <mc:Fallback>
                  <p:oleObj name="Equation" r:id="rId3" imgW="29870400" imgH="10668000" progId="Equation.DSMT4">
                    <p:embed/>
                    <p:pic>
                      <p:nvPicPr>
                        <p:cNvPr id="0" name="图片 801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7951" y="1788728"/>
                          <a:ext cx="2489040" cy="888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576263" y="4843275"/>
            <a:ext cx="2987625" cy="1197322"/>
            <a:chOff x="576263" y="2744924"/>
            <a:chExt cx="2987625" cy="1197322"/>
          </a:xfrm>
        </p:grpSpPr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576263" y="2744924"/>
              <a:ext cx="2232248" cy="535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kumimoji="1" lang="zh-CN" altLang="en-US" sz="24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共模电压增益</a:t>
              </a:r>
              <a:endPara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/>
          </p:nvGraphicFramePr>
          <p:xfrm>
            <a:off x="2370088" y="3053246"/>
            <a:ext cx="1193800" cy="889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187" name="Equation" r:id="rId5" imgW="14325600" imgH="10668000" progId="Equation.DSMT4">
                    <p:embed/>
                  </p:oleObj>
                </mc:Choice>
                <mc:Fallback>
                  <p:oleObj name="Equation" r:id="rId5" imgW="14325600" imgH="10668000" progId="Equation.DSMT4">
                    <p:embed/>
                    <p:pic>
                      <p:nvPicPr>
                        <p:cNvPr id="0" name="图片 801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0088" y="3053246"/>
                          <a:ext cx="1193800" cy="889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6809184" y="5157192"/>
          <a:ext cx="1219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88" name="Equation" r:id="rId7" imgW="14630400" imgH="5486400" progId="Equation.DSMT4">
                  <p:embed/>
                </p:oleObj>
              </mc:Choice>
              <mc:Fallback>
                <p:oleObj name="Equation" r:id="rId7" imgW="14630400" imgH="5486400" progId="Equation.DSMT4">
                  <p:embed/>
                  <p:pic>
                    <p:nvPicPr>
                      <p:cNvPr id="0" name="图片 801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9184" y="5157192"/>
                        <a:ext cx="1219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直接箭头连接符 23"/>
          <p:cNvCxnSpPr/>
          <p:nvPr/>
        </p:nvCxnSpPr>
        <p:spPr>
          <a:xfrm>
            <a:off x="6480212" y="4833156"/>
            <a:ext cx="432048" cy="488222"/>
          </a:xfrm>
          <a:prstGeom prst="straightConnector1">
            <a:avLst/>
          </a:prstGeom>
          <a:ln w="3810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1289050" y="44624"/>
            <a:ext cx="5911850" cy="637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600" dirty="0">
                <a:solidFill>
                  <a:srgbClr val="000099"/>
                </a:solidFill>
              </a:rPr>
              <a:t>2.1  </a:t>
            </a:r>
            <a:r>
              <a:rPr lang="zh-CN" altLang="en-US" sz="3600" dirty="0" smtClean="0">
                <a:solidFill>
                  <a:srgbClr val="000099"/>
                </a:solidFill>
              </a:rPr>
              <a:t>集成电路</a:t>
            </a:r>
            <a:r>
              <a:rPr lang="zh-CN" altLang="en-US" sz="3600" dirty="0">
                <a:solidFill>
                  <a:srgbClr val="000099"/>
                </a:solidFill>
              </a:rPr>
              <a:t>运算放大器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5066198" y="836712"/>
            <a:ext cx="3651870" cy="1706563"/>
            <a:chOff x="1064146" y="4492570"/>
            <a:chExt cx="3651870" cy="1706563"/>
          </a:xfrm>
        </p:grpSpPr>
        <p:graphicFrame>
          <p:nvGraphicFramePr>
            <p:cNvPr id="27" name="对象 26"/>
            <p:cNvGraphicFramePr>
              <a:graphicFrameLocks noChangeAspect="1"/>
            </p:cNvGraphicFramePr>
            <p:nvPr/>
          </p:nvGraphicFramePr>
          <p:xfrm>
            <a:off x="1064146" y="4492570"/>
            <a:ext cx="3651870" cy="16007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189" name="Picture" r:id="rId9" imgW="1821180" imgH="798830" progId="Word.Picture.8">
                    <p:embed/>
                  </p:oleObj>
                </mc:Choice>
                <mc:Fallback>
                  <p:oleObj name="Picture" r:id="rId9" imgW="1821180" imgH="798830" progId="Word.Picture.8">
                    <p:embed/>
                    <p:pic>
                      <p:nvPicPr>
                        <p:cNvPr id="0" name="图片 801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4146" y="4492570"/>
                          <a:ext cx="3651870" cy="16007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>
              <a:off x="2634977" y="5663602"/>
              <a:ext cx="1180939" cy="535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kumimoji="1" lang="zh-CN" altLang="en-US" sz="24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仅差模</a:t>
              </a:r>
              <a:endPara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725050" y="3086974"/>
            <a:ext cx="3290076" cy="1602166"/>
            <a:chOff x="5148064" y="4509120"/>
            <a:chExt cx="3290076" cy="1602166"/>
          </a:xfrm>
        </p:grpSpPr>
        <p:graphicFrame>
          <p:nvGraphicFramePr>
            <p:cNvPr id="30" name="对象 29"/>
            <p:cNvGraphicFramePr>
              <a:graphicFrameLocks noChangeAspect="1"/>
            </p:cNvGraphicFramePr>
            <p:nvPr/>
          </p:nvGraphicFramePr>
          <p:xfrm>
            <a:off x="5148064" y="4509120"/>
            <a:ext cx="3290076" cy="1602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190" name="Picture" r:id="rId11" imgW="1640205" imgH="800735" progId="Word.Picture.8">
                    <p:embed/>
                  </p:oleObj>
                </mc:Choice>
                <mc:Fallback>
                  <p:oleObj name="Picture" r:id="rId11" imgW="1640205" imgH="800735" progId="Word.Picture.8">
                    <p:embed/>
                    <p:pic>
                      <p:nvPicPr>
                        <p:cNvPr id="0" name="图片 801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064" y="4509120"/>
                          <a:ext cx="3290076" cy="16021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Rectangle 15"/>
            <p:cNvSpPr>
              <a:spLocks noChangeArrowheads="1"/>
            </p:cNvSpPr>
            <p:nvPr/>
          </p:nvSpPr>
          <p:spPr bwMode="auto">
            <a:xfrm>
              <a:off x="6336196" y="5588290"/>
              <a:ext cx="1180939" cy="510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kumimoji="1" lang="zh-CN" altLang="en-US" sz="24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仅共模</a:t>
              </a:r>
              <a:endPara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76263" y="749648"/>
            <a:ext cx="60483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lang="en-US" altLang="zh-CN" dirty="0" smtClean="0">
                <a:solidFill>
                  <a:srgbClr val="CC0000"/>
                </a:solidFill>
              </a:rPr>
              <a:t>5.  </a:t>
            </a:r>
            <a:r>
              <a:rPr lang="zh-CN" altLang="en-US" dirty="0" smtClean="0">
                <a:solidFill>
                  <a:srgbClr val="CC0000"/>
                </a:solidFill>
              </a:rPr>
              <a:t>差</a:t>
            </a:r>
            <a:r>
              <a:rPr lang="zh-CN" altLang="en-US" dirty="0">
                <a:solidFill>
                  <a:srgbClr val="CC0000"/>
                </a:solidFill>
              </a:rPr>
              <a:t>模信号和共模信号</a:t>
            </a:r>
            <a:endParaRPr lang="zh-CN" altLang="en-US" dirty="0">
              <a:solidFill>
                <a:srgbClr val="CC000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76263" y="1268760"/>
            <a:ext cx="3280728" cy="1408448"/>
            <a:chOff x="576263" y="1268760"/>
            <a:chExt cx="3280728" cy="1408448"/>
          </a:xfrm>
        </p:grpSpPr>
        <p:sp>
          <p:nvSpPr>
            <p:cNvPr id="5" name="Rectangle 15"/>
            <p:cNvSpPr>
              <a:spLocks noChangeArrowheads="1"/>
            </p:cNvSpPr>
            <p:nvPr/>
          </p:nvSpPr>
          <p:spPr bwMode="auto">
            <a:xfrm>
              <a:off x="576263" y="1268760"/>
              <a:ext cx="2232248" cy="535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kumimoji="1" lang="zh-CN" altLang="en-US" sz="24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差模电压增益</a:t>
              </a:r>
              <a:endPara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/>
          </p:nvGraphicFramePr>
          <p:xfrm>
            <a:off x="1367951" y="1788728"/>
            <a:ext cx="2489040" cy="888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247" name="Equation" r:id="rId1" imgW="29870400" imgH="10668000" progId="Equation.DSMT4">
                    <p:embed/>
                  </p:oleObj>
                </mc:Choice>
                <mc:Fallback>
                  <p:oleObj name="Equation" r:id="rId1" imgW="29870400" imgH="10668000" progId="Equation.DSMT4">
                    <p:embed/>
                    <p:pic>
                      <p:nvPicPr>
                        <p:cNvPr id="0" name="图片 812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7951" y="1788728"/>
                          <a:ext cx="2489040" cy="888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576263" y="4843275"/>
            <a:ext cx="2987625" cy="1197322"/>
            <a:chOff x="576263" y="2744924"/>
            <a:chExt cx="2987625" cy="1197322"/>
          </a:xfrm>
        </p:grpSpPr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576263" y="2744924"/>
              <a:ext cx="2232248" cy="535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kumimoji="1" lang="zh-CN" altLang="en-US" sz="24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共模电压增益</a:t>
              </a:r>
              <a:endPara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/>
          </p:nvGraphicFramePr>
          <p:xfrm>
            <a:off x="2370088" y="3053246"/>
            <a:ext cx="1193800" cy="889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248" name="Equation" r:id="rId3" imgW="14325600" imgH="10668000" progId="Equation.DSMT4">
                    <p:embed/>
                  </p:oleObj>
                </mc:Choice>
                <mc:Fallback>
                  <p:oleObj name="Equation" r:id="rId3" imgW="14325600" imgH="10668000" progId="Equation.DSMT4">
                    <p:embed/>
                    <p:pic>
                      <p:nvPicPr>
                        <p:cNvPr id="0" name="图片 812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0088" y="3053246"/>
                          <a:ext cx="1193800" cy="889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289050" y="44624"/>
            <a:ext cx="5911850" cy="637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600" dirty="0">
                <a:solidFill>
                  <a:srgbClr val="000099"/>
                </a:solidFill>
              </a:rPr>
              <a:t>2.1  </a:t>
            </a:r>
            <a:r>
              <a:rPr lang="zh-CN" altLang="en-US" sz="3600" dirty="0" smtClean="0">
                <a:solidFill>
                  <a:srgbClr val="000099"/>
                </a:solidFill>
              </a:rPr>
              <a:t>集成电路</a:t>
            </a:r>
            <a:r>
              <a:rPr lang="zh-CN" altLang="en-US" sz="3600" dirty="0">
                <a:solidFill>
                  <a:srgbClr val="000099"/>
                </a:solidFill>
              </a:rPr>
              <a:t>运算放大器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066198" y="836712"/>
            <a:ext cx="3651870" cy="1706563"/>
            <a:chOff x="1064146" y="4492570"/>
            <a:chExt cx="3651870" cy="1706563"/>
          </a:xfrm>
        </p:grpSpPr>
        <p:graphicFrame>
          <p:nvGraphicFramePr>
            <p:cNvPr id="14" name="对象 13"/>
            <p:cNvGraphicFramePr>
              <a:graphicFrameLocks noChangeAspect="1"/>
            </p:cNvGraphicFramePr>
            <p:nvPr/>
          </p:nvGraphicFramePr>
          <p:xfrm>
            <a:off x="1064146" y="4492570"/>
            <a:ext cx="3651870" cy="16007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249" name="Picture" r:id="rId5" imgW="1821180" imgH="798830" progId="Word.Picture.8">
                    <p:embed/>
                  </p:oleObj>
                </mc:Choice>
                <mc:Fallback>
                  <p:oleObj name="Picture" r:id="rId5" imgW="1821180" imgH="798830" progId="Word.Picture.8">
                    <p:embed/>
                    <p:pic>
                      <p:nvPicPr>
                        <p:cNvPr id="0" name="图片 812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4146" y="4492570"/>
                          <a:ext cx="3651870" cy="16007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2634977" y="5663602"/>
              <a:ext cx="1180939" cy="535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kumimoji="1" lang="zh-CN" altLang="en-US" sz="24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仅差模</a:t>
              </a:r>
              <a:endPara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725050" y="3086974"/>
            <a:ext cx="3290076" cy="1602166"/>
            <a:chOff x="5148064" y="4509120"/>
            <a:chExt cx="3290076" cy="1602166"/>
          </a:xfrm>
        </p:grpSpPr>
        <p:graphicFrame>
          <p:nvGraphicFramePr>
            <p:cNvPr id="17" name="对象 16"/>
            <p:cNvGraphicFramePr>
              <a:graphicFrameLocks noChangeAspect="1"/>
            </p:cNvGraphicFramePr>
            <p:nvPr/>
          </p:nvGraphicFramePr>
          <p:xfrm>
            <a:off x="5148064" y="4509120"/>
            <a:ext cx="3290076" cy="1602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250" name="Picture" r:id="rId7" imgW="1640205" imgH="800735" progId="Word.Picture.8">
                    <p:embed/>
                  </p:oleObj>
                </mc:Choice>
                <mc:Fallback>
                  <p:oleObj name="Picture" r:id="rId7" imgW="1640205" imgH="800735" progId="Word.Picture.8">
                    <p:embed/>
                    <p:pic>
                      <p:nvPicPr>
                        <p:cNvPr id="0" name="图片 812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064" y="4509120"/>
                          <a:ext cx="3290076" cy="16021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6336196" y="5588290"/>
              <a:ext cx="1180939" cy="510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kumimoji="1" lang="zh-CN" altLang="en-US" sz="24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仅共模</a:t>
              </a:r>
              <a:endPara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772250" y="2634577"/>
          <a:ext cx="4012218" cy="1780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51" name="Picture" r:id="rId9" imgW="2000250" imgH="888365" progId="Word.Picture.8">
                  <p:embed/>
                </p:oleObj>
              </mc:Choice>
              <mc:Fallback>
                <p:oleObj name="Picture" r:id="rId9" imgW="2000250" imgH="888365" progId="Word.Picture.8">
                  <p:embed/>
                  <p:pic>
                    <p:nvPicPr>
                      <p:cNvPr id="0" name="图片 812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2250" y="2634577"/>
                        <a:ext cx="4012218" cy="17809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/>
          <p:cNvGrpSpPr/>
          <p:nvPr/>
        </p:nvGrpSpPr>
        <p:grpSpPr>
          <a:xfrm>
            <a:off x="4602336" y="4390177"/>
            <a:ext cx="3998739" cy="945530"/>
            <a:chOff x="576263" y="3848815"/>
            <a:chExt cx="3998739" cy="945530"/>
          </a:xfrm>
        </p:grpSpPr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576263" y="3848815"/>
              <a:ext cx="2232248" cy="510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kumimoji="1" lang="zh-CN" altLang="en-US" sz="24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输出电压</a:t>
              </a:r>
              <a:endPara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22" name="对象 21"/>
            <p:cNvGraphicFramePr>
              <a:graphicFrameLocks noChangeAspect="1"/>
            </p:cNvGraphicFramePr>
            <p:nvPr/>
          </p:nvGraphicFramePr>
          <p:xfrm>
            <a:off x="2136602" y="3879945"/>
            <a:ext cx="2438400" cy="91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252" name="Equation" r:id="rId11" imgW="29260800" imgH="10972800" progId="Equation.DSMT4">
                    <p:embed/>
                  </p:oleObj>
                </mc:Choice>
                <mc:Fallback>
                  <p:oleObj name="Equation" r:id="rId11" imgW="29260800" imgH="10972800" progId="Equation.DSMT4">
                    <p:embed/>
                    <p:pic>
                      <p:nvPicPr>
                        <p:cNvPr id="0" name="图片 812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6602" y="3879945"/>
                          <a:ext cx="2438400" cy="914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/>
        </p:nvGrpSpPr>
        <p:grpSpPr>
          <a:xfrm>
            <a:off x="4602336" y="5388229"/>
            <a:ext cx="3482268" cy="965200"/>
            <a:chOff x="576263" y="4876068"/>
            <a:chExt cx="3482268" cy="965200"/>
          </a:xfrm>
        </p:grpSpPr>
        <p:sp>
          <p:nvSpPr>
            <p:cNvPr id="24" name="Rectangle 15"/>
            <p:cNvSpPr>
              <a:spLocks noChangeArrowheads="1"/>
            </p:cNvSpPr>
            <p:nvPr/>
          </p:nvSpPr>
          <p:spPr bwMode="auto">
            <a:xfrm>
              <a:off x="576263" y="5065918"/>
              <a:ext cx="2232248" cy="510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kumimoji="1" lang="zh-CN" altLang="en-US" sz="24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共模抑制比</a:t>
              </a:r>
              <a:endPara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25" name="对象 24"/>
            <p:cNvGraphicFramePr>
              <a:graphicFrameLocks noChangeAspect="1"/>
            </p:cNvGraphicFramePr>
            <p:nvPr/>
          </p:nvGraphicFramePr>
          <p:xfrm>
            <a:off x="2382131" y="4876068"/>
            <a:ext cx="1676400" cy="965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253" name="Equation" r:id="rId13" imgW="20116800" imgH="11582400" progId="Equation.DSMT4">
                    <p:embed/>
                  </p:oleObj>
                </mc:Choice>
                <mc:Fallback>
                  <p:oleObj name="Equation" r:id="rId13" imgW="20116800" imgH="11582400" progId="Equation.DSMT4">
                    <p:embed/>
                    <p:pic>
                      <p:nvPicPr>
                        <p:cNvPr id="0" name="图片 812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2131" y="4876068"/>
                          <a:ext cx="1676400" cy="965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76263" y="749648"/>
            <a:ext cx="60483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lang="en-US" altLang="zh-CN" dirty="0" smtClean="0">
                <a:solidFill>
                  <a:srgbClr val="CC0000"/>
                </a:solidFill>
              </a:rPr>
              <a:t>5.  </a:t>
            </a:r>
            <a:r>
              <a:rPr lang="zh-CN" altLang="en-US" dirty="0" smtClean="0">
                <a:solidFill>
                  <a:srgbClr val="CC0000"/>
                </a:solidFill>
              </a:rPr>
              <a:t>差</a:t>
            </a:r>
            <a:r>
              <a:rPr lang="zh-CN" altLang="en-US" dirty="0">
                <a:solidFill>
                  <a:srgbClr val="CC0000"/>
                </a:solidFill>
              </a:rPr>
              <a:t>模信号和共模信号</a:t>
            </a:r>
            <a:endParaRPr lang="zh-CN" altLang="en-US" dirty="0">
              <a:solidFill>
                <a:srgbClr val="CC0000"/>
              </a:solidFill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89050" y="44624"/>
            <a:ext cx="5911850" cy="637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600" dirty="0">
                <a:solidFill>
                  <a:srgbClr val="000099"/>
                </a:solidFill>
              </a:rPr>
              <a:t>2.1  </a:t>
            </a:r>
            <a:r>
              <a:rPr lang="zh-CN" altLang="en-US" sz="3600" dirty="0" smtClean="0">
                <a:solidFill>
                  <a:srgbClr val="000099"/>
                </a:solidFill>
              </a:rPr>
              <a:t>集成电路</a:t>
            </a:r>
            <a:r>
              <a:rPr lang="zh-CN" altLang="en-US" sz="3600" dirty="0">
                <a:solidFill>
                  <a:srgbClr val="000099"/>
                </a:solidFill>
              </a:rPr>
              <a:t>运算放大器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772250" y="836712"/>
          <a:ext cx="4012218" cy="1780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8" name="Picture" r:id="rId1" imgW="2000250" imgH="888365" progId="Word.Picture.8">
                  <p:embed/>
                </p:oleObj>
              </mc:Choice>
              <mc:Fallback>
                <p:oleObj name="Picture" r:id="rId1" imgW="2000250" imgH="888365" progId="Word.Picture.8">
                  <p:embed/>
                  <p:pic>
                    <p:nvPicPr>
                      <p:cNvPr id="0" name="图片 823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2250" y="836712"/>
                        <a:ext cx="4012218" cy="17809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1079606" y="1423638"/>
          <a:ext cx="2463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9" name="Equation" r:id="rId3" imgW="29565600" imgH="5486400" progId="Equation.DSMT4">
                  <p:embed/>
                </p:oleObj>
              </mc:Choice>
              <mc:Fallback>
                <p:oleObj name="Equation" r:id="rId3" imgW="29565600" imgH="5486400" progId="Equation.DSMT4">
                  <p:embed/>
                  <p:pic>
                    <p:nvPicPr>
                      <p:cNvPr id="0" name="图片 823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606" y="1423638"/>
                        <a:ext cx="2463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337662" y="2060848"/>
          <a:ext cx="1676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0" name="Equation" r:id="rId5" imgW="20116800" imgH="11582400" progId="Equation.DSMT4">
                  <p:embed/>
                </p:oleObj>
              </mc:Choice>
              <mc:Fallback>
                <p:oleObj name="Equation" r:id="rId5" imgW="20116800" imgH="11582400" progId="Equation.DSMT4">
                  <p:embed/>
                  <p:pic>
                    <p:nvPicPr>
                      <p:cNvPr id="0" name="图片 823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7662" y="2060848"/>
                        <a:ext cx="16764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391980" y="2841016"/>
          <a:ext cx="4602425" cy="3072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1" name="Picture" r:id="rId7" imgW="2699385" imgH="1802765" progId="Word.Picture.8">
                  <p:embed/>
                </p:oleObj>
              </mc:Choice>
              <mc:Fallback>
                <p:oleObj name="Picture" r:id="rId7" imgW="2699385" imgH="1802765" progId="Word.Picture.8">
                  <p:embed/>
                  <p:pic>
                    <p:nvPicPr>
                      <p:cNvPr id="0" name="图片 823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980" y="2841016"/>
                        <a:ext cx="4602425" cy="30722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6809184" y="5157192"/>
          <a:ext cx="1219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2" name="Equation" r:id="rId9" imgW="14630400" imgH="5486400" progId="Equation.DSMT4">
                  <p:embed/>
                </p:oleObj>
              </mc:Choice>
              <mc:Fallback>
                <p:oleObj name="Equation" r:id="rId9" imgW="14630400" imgH="5486400" progId="Equation.DSMT4">
                  <p:embed/>
                  <p:pic>
                    <p:nvPicPr>
                      <p:cNvPr id="0" name="图片 823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9184" y="5157192"/>
                        <a:ext cx="1219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直接箭头连接符 24"/>
          <p:cNvCxnSpPr/>
          <p:nvPr/>
        </p:nvCxnSpPr>
        <p:spPr>
          <a:xfrm>
            <a:off x="6480212" y="4833156"/>
            <a:ext cx="432048" cy="488222"/>
          </a:xfrm>
          <a:prstGeom prst="straightConnector1">
            <a:avLst/>
          </a:prstGeom>
          <a:ln w="3810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15"/>
          <p:cNvSpPr>
            <a:spLocks noChangeArrowheads="1"/>
          </p:cNvSpPr>
          <p:nvPr/>
        </p:nvSpPr>
        <p:spPr bwMode="auto">
          <a:xfrm>
            <a:off x="781814" y="3199506"/>
            <a:ext cx="2232248" cy="510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kumimoji="1"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理想运放</a:t>
            </a:r>
            <a:endParaRPr kumimoji="1"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1500188" y="3824288"/>
          <a:ext cx="965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3" name="Equation" r:id="rId11" imgW="11582400" imgH="5486400" progId="Equation.DSMT4">
                  <p:embed/>
                </p:oleObj>
              </mc:Choice>
              <mc:Fallback>
                <p:oleObj name="Equation" r:id="rId11" imgW="11582400" imgH="5486400" progId="Equation.DSMT4">
                  <p:embed/>
                  <p:pic>
                    <p:nvPicPr>
                      <p:cNvPr id="0" name="图片 823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3824288"/>
                        <a:ext cx="965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1462088" y="4378994"/>
          <a:ext cx="1320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4" name="Equation" r:id="rId13" imgW="15849600" imgH="5486400" progId="Equation.DSMT4">
                  <p:embed/>
                </p:oleObj>
              </mc:Choice>
              <mc:Fallback>
                <p:oleObj name="Equation" r:id="rId13" imgW="15849600" imgH="5486400" progId="Equation.DSMT4">
                  <p:embed/>
                  <p:pic>
                    <p:nvPicPr>
                      <p:cNvPr id="0" name="图片 823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088" y="4378994"/>
                        <a:ext cx="1320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1462088" y="4933699"/>
          <a:ext cx="1803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5" name="Equation" r:id="rId15" imgW="21640800" imgH="5486400" progId="Equation.DSMT4">
                  <p:embed/>
                </p:oleObj>
              </mc:Choice>
              <mc:Fallback>
                <p:oleObj name="Equation" r:id="rId15" imgW="21640800" imgH="5486400" progId="Equation.DSMT4">
                  <p:embed/>
                  <p:pic>
                    <p:nvPicPr>
                      <p:cNvPr id="0" name="图片 823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088" y="4933699"/>
                        <a:ext cx="1803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611188" y="1304925"/>
            <a:ext cx="8532812" cy="2850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40000"/>
              </a:lnSpc>
            </a:pPr>
            <a:r>
              <a:rPr lang="en-US" altLang="zh-CN" sz="3200" dirty="0"/>
              <a:t>2.1 </a:t>
            </a:r>
            <a:r>
              <a:rPr lang="zh-CN" altLang="en-US" sz="3200" dirty="0" smtClean="0"/>
              <a:t>集成电路运算放大器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>
                <a:solidFill>
                  <a:schemeClr val="accent2"/>
                </a:solidFill>
              </a:rPr>
              <a:t>2.2 </a:t>
            </a:r>
            <a:r>
              <a:rPr lang="zh-CN" altLang="en-US" sz="3200" dirty="0">
                <a:solidFill>
                  <a:schemeClr val="accent2"/>
                </a:solidFill>
              </a:rPr>
              <a:t>理想运算放大器</a:t>
            </a:r>
            <a:endParaRPr lang="zh-CN" altLang="en-US" sz="3200" dirty="0">
              <a:solidFill>
                <a:schemeClr val="accent2"/>
              </a:solidFill>
            </a:endParaRPr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 smtClean="0"/>
              <a:t>2.3 </a:t>
            </a:r>
            <a:r>
              <a:rPr lang="zh-CN" altLang="en-US" sz="3200" dirty="0" smtClean="0"/>
              <a:t>基本线性运放电路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 smtClean="0"/>
              <a:t>2.4 </a:t>
            </a:r>
            <a:r>
              <a:rPr lang="zh-CN" altLang="en-US" sz="3200" dirty="0"/>
              <a:t>同相输入和反相输入放大电路的其他应用</a:t>
            </a:r>
            <a:endParaRPr lang="zh-CN" altLang="en-US" sz="3200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611188" y="43408"/>
            <a:ext cx="7607300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88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60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4180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4230" indent="-39878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dirty="0">
                <a:solidFill>
                  <a:srgbClr val="000099"/>
                </a:solidFill>
              </a:rPr>
              <a:t>2  </a:t>
            </a:r>
            <a:r>
              <a:rPr lang="zh-CN" altLang="en-US" sz="3600" dirty="0" smtClean="0">
                <a:solidFill>
                  <a:srgbClr val="000099"/>
                </a:solidFill>
              </a:rPr>
              <a:t>运算放大器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ChangeArrowheads="1"/>
          </p:cNvSpPr>
          <p:nvPr/>
        </p:nvSpPr>
        <p:spPr bwMode="auto">
          <a:xfrm>
            <a:off x="395288" y="781397"/>
            <a:ext cx="42402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dirty="0" smtClean="0">
                <a:solidFill>
                  <a:schemeClr val="accent2"/>
                </a:solidFill>
              </a:rPr>
              <a:t>1. </a:t>
            </a:r>
            <a:r>
              <a:rPr kumimoji="1" lang="zh-CN" altLang="en-US" dirty="0">
                <a:solidFill>
                  <a:schemeClr val="accent2"/>
                </a:solidFill>
              </a:rPr>
              <a:t>理想运算放大器的参数</a:t>
            </a:r>
            <a:r>
              <a:rPr kumimoji="1" lang="zh-CN" altLang="en-US" dirty="0"/>
              <a:t> </a:t>
            </a:r>
            <a:endParaRPr kumimoji="1" lang="zh-CN" altLang="en-US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2875" y="1313209"/>
            <a:ext cx="6165850" cy="277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7622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88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60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4180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4230" indent="-39878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（</a:t>
            </a:r>
            <a:r>
              <a:rPr kumimoji="1" lang="en-US" altLang="zh-CN" sz="2400">
                <a:latin typeface="Times New Roman" panose="02020603050405020304" pitchFamily="18" charset="0"/>
              </a:rPr>
              <a:t>1</a:t>
            </a:r>
            <a:r>
              <a:rPr kumimoji="1" lang="zh-CN" altLang="en-US" sz="2400">
                <a:latin typeface="Times New Roman" panose="02020603050405020304" pitchFamily="18" charset="0"/>
              </a:rPr>
              <a:t>）开环电压增益</a:t>
            </a:r>
            <a:r>
              <a:rPr kumimoji="1" lang="en-US" altLang="zh-CN" sz="2400" i="1">
                <a:latin typeface="Times New Roman" panose="02020603050405020304" pitchFamily="18" charset="0"/>
              </a:rPr>
              <a:t>A</a:t>
            </a:r>
            <a:r>
              <a:rPr kumimoji="1" lang="en-US" altLang="zh-CN" sz="2400" i="1" baseline="-25000">
                <a:latin typeface="Book Antiqua" panose="02040602050305030304" pitchFamily="18" charset="0"/>
              </a:rPr>
              <a:t>v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o</a:t>
            </a:r>
            <a:r>
              <a:rPr kumimoji="1" lang="en-US" altLang="zh-CN" sz="2400">
                <a:latin typeface="Times New Roman" panose="02020603050405020304" pitchFamily="18" charset="0"/>
              </a:rPr>
              <a:t>→∞</a:t>
            </a:r>
            <a:r>
              <a:rPr kumimoji="1" lang="zh-CN" altLang="en-US" sz="2400">
                <a:latin typeface="Times New Roman" panose="02020603050405020304" pitchFamily="18" charset="0"/>
              </a:rPr>
              <a:t>；</a:t>
            </a:r>
            <a:endParaRPr kumimoji="1" lang="zh-CN" altLang="en-US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（</a:t>
            </a:r>
            <a:r>
              <a:rPr kumimoji="1" lang="en-US" altLang="zh-CN" sz="2400">
                <a:latin typeface="Times New Roman" panose="02020603050405020304" pitchFamily="18" charset="0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</a:rPr>
              <a:t>）输入电阻</a:t>
            </a:r>
            <a:r>
              <a:rPr kumimoji="1" lang="en-US" altLang="zh-CN" sz="2400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i</a:t>
            </a:r>
            <a:r>
              <a:rPr kumimoji="1" lang="zh-CN" altLang="en-US" sz="2400">
                <a:latin typeface="Times New Roman" panose="02020603050405020304" pitchFamily="18" charset="0"/>
              </a:rPr>
              <a:t>＝∞；</a:t>
            </a:r>
            <a:endParaRPr kumimoji="1" lang="zh-CN" altLang="en-US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（</a:t>
            </a:r>
            <a:r>
              <a:rPr kumimoji="1" lang="en-US" altLang="zh-CN" sz="2400">
                <a:latin typeface="Times New Roman" panose="02020603050405020304" pitchFamily="18" charset="0"/>
              </a:rPr>
              <a:t>3</a:t>
            </a:r>
            <a:r>
              <a:rPr kumimoji="1" lang="zh-CN" altLang="en-US" sz="2400">
                <a:latin typeface="Times New Roman" panose="02020603050405020304" pitchFamily="18" charset="0"/>
              </a:rPr>
              <a:t>）输出电阻</a:t>
            </a:r>
            <a:r>
              <a:rPr kumimoji="1" lang="en-US" altLang="zh-CN" sz="2400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o</a:t>
            </a:r>
            <a:r>
              <a:rPr kumimoji="1" lang="zh-CN" altLang="en-US" sz="2400">
                <a:latin typeface="Times New Roman" panose="02020603050405020304" pitchFamily="18" charset="0"/>
              </a:rPr>
              <a:t>＝</a:t>
            </a:r>
            <a:r>
              <a:rPr kumimoji="1" lang="en-US" altLang="zh-CN" sz="2400">
                <a:latin typeface="Times New Roman" panose="02020603050405020304" pitchFamily="18" charset="0"/>
              </a:rPr>
              <a:t>0</a:t>
            </a:r>
            <a:r>
              <a:rPr kumimoji="1" lang="zh-CN" altLang="en-US" sz="2400">
                <a:latin typeface="Times New Roman" panose="02020603050405020304" pitchFamily="18" charset="0"/>
              </a:rPr>
              <a:t>；</a:t>
            </a:r>
            <a:endParaRPr kumimoji="1" lang="zh-CN" altLang="en-US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（</a:t>
            </a:r>
            <a:r>
              <a:rPr kumimoji="1" lang="en-US" altLang="zh-CN" sz="2400">
                <a:latin typeface="Times New Roman" panose="02020603050405020304" pitchFamily="18" charset="0"/>
              </a:rPr>
              <a:t>4</a:t>
            </a:r>
            <a:r>
              <a:rPr kumimoji="1" lang="zh-CN" altLang="en-US" sz="2400">
                <a:latin typeface="Times New Roman" panose="02020603050405020304" pitchFamily="18" charset="0"/>
              </a:rPr>
              <a:t>）</a:t>
            </a:r>
            <a:r>
              <a:rPr kumimoji="1"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开环带宽</a:t>
            </a:r>
            <a:r>
              <a:rPr kumimoji="1" lang="en-US" altLang="zh-CN" sz="2400" i="1">
                <a:solidFill>
                  <a:srgbClr val="FF0000"/>
                </a:solidFill>
                <a:latin typeface="Times New Roman" panose="02020603050405020304" pitchFamily="18" charset="0"/>
              </a:rPr>
              <a:t>BW</a:t>
            </a:r>
            <a:r>
              <a: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→∞</a:t>
            </a:r>
            <a:r>
              <a:rPr kumimoji="1" lang="zh-CN" altLang="en-US" sz="2400">
                <a:latin typeface="Times New Roman" panose="02020603050405020304" pitchFamily="18" charset="0"/>
              </a:rPr>
              <a:t>；</a:t>
            </a:r>
            <a:endParaRPr kumimoji="1" lang="zh-CN" altLang="en-US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（</a:t>
            </a:r>
            <a:r>
              <a:rPr kumimoji="1" lang="en-US" altLang="zh-CN" sz="2400">
                <a:latin typeface="Times New Roman" panose="02020603050405020304" pitchFamily="18" charset="0"/>
              </a:rPr>
              <a:t>5</a:t>
            </a:r>
            <a:r>
              <a:rPr kumimoji="1" lang="zh-CN" altLang="en-US" sz="2400">
                <a:latin typeface="Times New Roman" panose="02020603050405020304" pitchFamily="18" charset="0"/>
              </a:rPr>
              <a:t>）当</a:t>
            </a:r>
            <a:r>
              <a:rPr kumimoji="1" lang="en-US" altLang="zh-CN" sz="2400" i="1">
                <a:latin typeface="Book Antiqua" panose="02040602050305030304" pitchFamily="18" charset="0"/>
              </a:rPr>
              <a:t>v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P</a:t>
            </a:r>
            <a:r>
              <a:rPr kumimoji="1" lang="zh-CN" altLang="en-US" sz="2400">
                <a:latin typeface="Times New Roman" panose="02020603050405020304" pitchFamily="18" charset="0"/>
              </a:rPr>
              <a:t>＝</a:t>
            </a:r>
            <a:r>
              <a:rPr kumimoji="1" lang="en-US" altLang="zh-CN" sz="2400" i="1">
                <a:latin typeface="Book Antiqua" panose="02040602050305030304" pitchFamily="18" charset="0"/>
              </a:rPr>
              <a:t>v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N</a:t>
            </a:r>
            <a:r>
              <a:rPr kumimoji="1" lang="zh-CN" altLang="en-US" sz="2400">
                <a:latin typeface="Times New Roman" panose="02020603050405020304" pitchFamily="18" charset="0"/>
              </a:rPr>
              <a:t>时，</a:t>
            </a:r>
            <a:r>
              <a:rPr kumimoji="1" lang="en-US" altLang="zh-CN" sz="2400" i="1">
                <a:latin typeface="Book Antiqua" panose="02040602050305030304" pitchFamily="18" charset="0"/>
              </a:rPr>
              <a:t>v</a:t>
            </a:r>
            <a:r>
              <a:rPr kumimoji="1" lang="zh-CN" altLang="en-US" sz="2400" baseline="-25000">
                <a:latin typeface="Times New Roman" panose="02020603050405020304" pitchFamily="18" charset="0"/>
              </a:rPr>
              <a:t>Ｏ</a:t>
            </a:r>
            <a:r>
              <a:rPr kumimoji="1" lang="zh-CN" altLang="en-US" sz="2400">
                <a:latin typeface="Times New Roman" panose="02020603050405020304" pitchFamily="18" charset="0"/>
              </a:rPr>
              <a:t>＝</a:t>
            </a:r>
            <a:r>
              <a:rPr kumimoji="1" lang="en-US" altLang="zh-CN" sz="2400">
                <a:latin typeface="Times New Roman" panose="02020603050405020304" pitchFamily="18" charset="0"/>
              </a:rPr>
              <a:t>0</a:t>
            </a:r>
            <a:r>
              <a:rPr kumimoji="1" lang="zh-CN" altLang="en-US" sz="2400">
                <a:latin typeface="Times New Roman" panose="02020603050405020304" pitchFamily="18" charset="0"/>
              </a:rPr>
              <a:t>。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" name="Rectangle 39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506413" y="4137372"/>
            <a:ext cx="780891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88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60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4180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4230" indent="-39878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仿宋_GB2312"/>
                <a:cs typeface="仿宋_GB2312"/>
              </a:rPr>
              <a:t>若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V</a:t>
            </a:r>
            <a:r>
              <a:rPr lang="zh-CN" altLang="en-US" sz="2400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&lt;</a:t>
            </a:r>
            <a:r>
              <a:rPr lang="en-US" altLang="zh-CN" sz="2400" dirty="0">
                <a:solidFill>
                  <a:srgbClr val="000000"/>
                </a:solidFill>
                <a:ea typeface="华康简宋"/>
                <a:cs typeface="华康简宋"/>
              </a:rPr>
              <a:t> </a:t>
            </a:r>
            <a:r>
              <a:rPr lang="en-US" altLang="zh-CN" sz="2400" i="1" dirty="0" err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 dirty="0" err="1">
                <a:solidFill>
                  <a:srgbClr val="000000"/>
                </a:solidFill>
                <a:ea typeface="华康简宋"/>
                <a:cs typeface="华康简宋"/>
              </a:rPr>
              <a:t>o</a:t>
            </a:r>
            <a:r>
              <a:rPr lang="en-US" altLang="zh-CN" sz="2400" dirty="0">
                <a:solidFill>
                  <a:srgbClr val="000000"/>
                </a:solidFill>
                <a:ea typeface="华康简宋"/>
                <a:cs typeface="华康简宋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&lt;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V</a:t>
            </a:r>
            <a:r>
              <a:rPr lang="zh-CN" altLang="en-US" sz="2400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＋       </a:t>
            </a:r>
            <a:r>
              <a:rPr lang="zh-CN" altLang="en-US" sz="2400" dirty="0"/>
              <a:t>有  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kumimoji="1" lang="en-US" altLang="zh-CN" sz="2400" baseline="-30000" dirty="0" err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o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＝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A</a:t>
            </a:r>
            <a:r>
              <a:rPr kumimoji="1" lang="en-US" altLang="zh-CN" sz="2400" i="1" baseline="-30000" dirty="0" err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kumimoji="1" lang="en-US" altLang="zh-CN" sz="2400" baseline="-30000" dirty="0" err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o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(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kumimoji="1" lang="en-US" altLang="zh-CN" sz="2400" baseline="-30000" dirty="0" err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P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－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kumimoji="1" lang="en-US" altLang="zh-CN" sz="2400" baseline="-30000" dirty="0" err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N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)</a:t>
            </a:r>
            <a:r>
              <a:rPr lang="zh-CN" altLang="en-US" sz="2400" dirty="0"/>
              <a:t> </a:t>
            </a:r>
            <a:br>
              <a:rPr lang="zh-CN" altLang="en-US" sz="2400" dirty="0"/>
            </a:br>
            <a:r>
              <a:rPr lang="zh-CN" altLang="en-US" sz="2400" dirty="0"/>
              <a:t>        则  </a:t>
            </a:r>
            <a:r>
              <a:rPr lang="zh-CN" altLang="en-US" sz="2400" dirty="0">
                <a:ea typeface="华康简宋"/>
                <a:cs typeface="华康简宋"/>
              </a:rPr>
              <a:t>（</a:t>
            </a:r>
            <a:r>
              <a:rPr lang="en-US" altLang="zh-CN" sz="2400" i="1" dirty="0" err="1"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 dirty="0" err="1">
                <a:ea typeface="华康简宋"/>
                <a:cs typeface="华康简宋"/>
              </a:rPr>
              <a:t>P</a:t>
            </a:r>
            <a:r>
              <a:rPr lang="zh-CN" altLang="en-US" sz="2400" dirty="0"/>
              <a:t>－</a:t>
            </a:r>
            <a:r>
              <a:rPr lang="en-US" altLang="zh-CN" sz="2400" i="1" dirty="0" err="1"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 dirty="0" err="1">
                <a:ea typeface="华康简宋"/>
                <a:cs typeface="华康简宋"/>
              </a:rPr>
              <a:t>N</a:t>
            </a:r>
            <a:r>
              <a:rPr lang="zh-CN" altLang="en-US" sz="2400" dirty="0">
                <a:ea typeface="华康简宋"/>
                <a:cs typeface="华康简宋"/>
              </a:rPr>
              <a:t>）</a:t>
            </a:r>
            <a:r>
              <a:rPr lang="en-US" altLang="zh-CN" sz="2400" dirty="0">
                <a:latin typeface="Times New Roman" panose="02020603050405020304" pitchFamily="18" charset="0"/>
                <a:ea typeface="华康简宋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Times New Roman" panose="02020603050405020304" pitchFamily="18" charset="0"/>
              </a:rPr>
              <a:t> </a:t>
            </a:r>
            <a:r>
              <a:rPr lang="en-US" altLang="zh-CN" sz="2400" i="1" dirty="0" err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Times New Roman" panose="02020603050405020304" pitchFamily="18" charset="0"/>
              </a:rPr>
              <a:t>v</a:t>
            </a:r>
            <a:r>
              <a:rPr lang="en-US" altLang="zh-CN" sz="2400" baseline="-30000" dirty="0" err="1">
                <a:solidFill>
                  <a:srgbClr val="000000"/>
                </a:solidFill>
                <a:ea typeface="华康简宋"/>
                <a:cs typeface="Times New Roman" panose="02020603050405020304" pitchFamily="18" charset="0"/>
              </a:rPr>
              <a:t>o</a:t>
            </a:r>
            <a:r>
              <a:rPr lang="en-US" altLang="zh-CN" sz="2400" baseline="-30000" dirty="0">
                <a:solidFill>
                  <a:srgbClr val="000000"/>
                </a:solidFill>
                <a:ea typeface="华康简宋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华康简宋"/>
                <a:cs typeface="Times New Roman" panose="02020603050405020304" pitchFamily="18" charset="0"/>
              </a:rPr>
              <a:t>/</a:t>
            </a:r>
            <a:r>
              <a:rPr lang="en-US" altLang="zh-CN" sz="2400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Times New Roman" panose="02020603050405020304" pitchFamily="18" charset="0"/>
              </a:rPr>
              <a:t>A</a:t>
            </a:r>
            <a:r>
              <a:rPr lang="en-US" altLang="zh-CN" sz="2400" i="1" baseline="-25000" dirty="0" err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华康简宋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ea typeface="华康简宋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ea typeface="华康简宋"/>
                <a:cs typeface="Times New Roman" panose="02020603050405020304" pitchFamily="18" charset="0"/>
              </a:rPr>
              <a:t>      </a:t>
            </a:r>
            <a:r>
              <a:rPr lang="zh-CN" altLang="en-US" sz="2400" dirty="0">
                <a:ea typeface="华康简宋"/>
                <a:cs typeface="Times New Roman" panose="02020603050405020304" pitchFamily="18" charset="0"/>
              </a:rPr>
              <a:t>即    </a:t>
            </a:r>
            <a:r>
              <a:rPr lang="en-US" altLang="zh-CN" sz="2400" i="1" dirty="0" err="1" smtClean="0">
                <a:latin typeface="Book Antiqua" panose="02040602050305030304" pitchFamily="18" charset="0"/>
                <a:ea typeface="华康简宋"/>
                <a:cs typeface="Times New Roman" panose="02020603050405020304" pitchFamily="18" charset="0"/>
              </a:rPr>
              <a:t>v</a:t>
            </a:r>
            <a:r>
              <a:rPr lang="en-US" altLang="zh-CN" sz="2400" baseline="-30000" dirty="0" err="1" smtClean="0">
                <a:latin typeface="Times New Roman" panose="02020603050405020304" pitchFamily="18" charset="0"/>
                <a:ea typeface="华康简宋"/>
                <a:cs typeface="Times New Roman" panose="02020603050405020304" pitchFamily="18" charset="0"/>
              </a:rPr>
              <a:t>P</a:t>
            </a:r>
            <a:r>
              <a:rPr lang="en-US" altLang="zh-CN" sz="2400" baseline="-30000" dirty="0" smtClean="0">
                <a:latin typeface="Times New Roman" panose="02020603050405020304" pitchFamily="18" charset="0"/>
                <a:ea typeface="华康简宋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ea typeface="华康简宋"/>
                <a:cs typeface="Times New Roman" panose="02020603050405020304" pitchFamily="18" charset="0"/>
                <a:sym typeface="Symbol" panose="05050102010706020507" pitchFamily="18" charset="2"/>
              </a:rPr>
              <a:t> </a:t>
            </a:r>
            <a:r>
              <a:rPr lang="en-US" altLang="zh-CN" sz="2400" i="1" dirty="0" err="1" smtClean="0">
                <a:latin typeface="Book Antiqua" panose="02040602050305030304" pitchFamily="18" charset="0"/>
                <a:ea typeface="华康简宋"/>
                <a:cs typeface="Times New Roman" panose="02020603050405020304" pitchFamily="18" charset="0"/>
              </a:rPr>
              <a:t>v</a:t>
            </a:r>
            <a:r>
              <a:rPr lang="en-US" altLang="zh-CN" sz="2400" baseline="-30000" dirty="0" err="1" smtClean="0">
                <a:latin typeface="Times New Roman" panose="02020603050405020304" pitchFamily="18" charset="0"/>
                <a:ea typeface="华康简宋"/>
                <a:cs typeface="Times New Roman" panose="02020603050405020304" pitchFamily="18" charset="0"/>
              </a:rPr>
              <a:t>N</a:t>
            </a:r>
            <a:r>
              <a:rPr lang="en-US" altLang="zh-CN" sz="2400" dirty="0" smtClean="0">
                <a:ea typeface="华康简宋"/>
                <a:cs typeface="Times New Roman" panose="02020603050405020304" pitchFamily="18" charset="0"/>
              </a:rPr>
              <a:t>  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虚短</a:t>
            </a:r>
            <a:endParaRPr lang="en-US" altLang="zh-CN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40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479425" y="5369272"/>
            <a:ext cx="83121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88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60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4180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4230" indent="-39878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输入电阻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aseline="-30000" dirty="0" err="1">
                <a:latin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</a:rPr>
              <a:t>的阻值很高， 使  </a:t>
            </a:r>
            <a:r>
              <a:rPr lang="en-US" altLang="zh-CN" sz="2400" i="1" dirty="0" err="1" smtClean="0">
                <a:latin typeface="Times New Roman" panose="02020603050405020304" pitchFamily="18" charset="0"/>
                <a:ea typeface="华康简宋"/>
                <a:cs typeface="华康简宋"/>
              </a:rPr>
              <a:t>i</a:t>
            </a:r>
            <a:r>
              <a:rPr lang="en-US" altLang="zh-CN" sz="2400" baseline="-30000" dirty="0" err="1" smtClean="0">
                <a:latin typeface="Times New Roman" panose="02020603050405020304" pitchFamily="18" charset="0"/>
                <a:ea typeface="华康简宋"/>
                <a:cs typeface="华康简宋"/>
              </a:rPr>
              <a:t>P</a:t>
            </a:r>
            <a:r>
              <a:rPr lang="en-US" altLang="zh-CN" sz="2400" dirty="0" smtClean="0">
                <a:latin typeface="Times New Roman" panose="02020603050405020304" pitchFamily="18" charset="0"/>
                <a:ea typeface="华康简宋"/>
                <a:cs typeface="华康简宋"/>
              </a:rPr>
              <a:t> = 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+mn-ea"/>
              </a:rPr>
              <a:t>-</a:t>
            </a:r>
            <a:r>
              <a:rPr lang="en-US" altLang="zh-CN" sz="2400" i="1" dirty="0" err="1" smtClean="0">
                <a:latin typeface="Times New Roman" panose="02020603050405020304" pitchFamily="18" charset="0"/>
                <a:ea typeface="华康简宋"/>
                <a:cs typeface="华康简宋"/>
              </a:rPr>
              <a:t>i</a:t>
            </a:r>
            <a:r>
              <a:rPr lang="en-US" altLang="zh-CN" sz="2400" baseline="-30000" dirty="0" err="1" smtClean="0">
                <a:latin typeface="Times New Roman" panose="02020603050405020304" pitchFamily="18" charset="0"/>
                <a:ea typeface="华康简宋"/>
                <a:cs typeface="华康简宋"/>
              </a:rPr>
              <a:t>N</a:t>
            </a:r>
            <a:r>
              <a:rPr lang="en-US" altLang="zh-CN" sz="2400" baseline="-30000" dirty="0" smtClean="0">
                <a:latin typeface="Times New Roman" panose="02020603050405020304" pitchFamily="18" charset="0"/>
                <a:ea typeface="华康简宋"/>
                <a:cs typeface="华康简宋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ea typeface="华康简宋"/>
                <a:cs typeface="华康简宋"/>
              </a:rPr>
              <a:t>= 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(</a:t>
            </a:r>
            <a:r>
              <a:rPr kumimoji="1" lang="en-US" altLang="zh-CN" sz="2400" i="1" dirty="0" err="1" smtClean="0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kumimoji="1" lang="en-US" altLang="zh-CN" sz="2400" baseline="-30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P</a:t>
            </a:r>
            <a:r>
              <a:rPr kumimoji="1" lang="en-US" altLang="zh-CN" sz="2400" baseline="-30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 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+mn-ea"/>
                <a:ea typeface="+mn-ea"/>
              </a:rPr>
              <a:t>-</a:t>
            </a:r>
            <a:r>
              <a:rPr kumimoji="1" lang="en-US" altLang="zh-CN" sz="2400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 </a:t>
            </a:r>
            <a:r>
              <a:rPr kumimoji="1" lang="en-US" altLang="zh-CN" sz="2400" i="1" dirty="0" err="1" smtClean="0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kumimoji="1" lang="en-US" altLang="zh-CN" sz="2400" baseline="-30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)/</a:t>
            </a:r>
            <a:r>
              <a:rPr lang="en-US" altLang="zh-CN" sz="2400" i="1" dirty="0" err="1" smtClean="0">
                <a:latin typeface="Times New Roman" panose="02020603050405020304" pitchFamily="18" charset="0"/>
              </a:rPr>
              <a:t>r</a:t>
            </a:r>
            <a:r>
              <a:rPr lang="en-US" altLang="zh-CN" sz="2400" baseline="-30000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sz="2400" baseline="-30000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ea typeface="华康简宋"/>
                <a:cs typeface="华康简宋"/>
              </a:rPr>
              <a:t>≈ 0  </a:t>
            </a:r>
            <a:r>
              <a:rPr lang="zh-CN" altLang="en-US" sz="24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虚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断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6390" name="对象 2"/>
          <p:cNvGraphicFramePr>
            <a:graphicFrameLocks noChangeAspect="1"/>
          </p:cNvGraphicFramePr>
          <p:nvPr/>
        </p:nvGraphicFramePr>
        <p:xfrm>
          <a:off x="4303713" y="1196752"/>
          <a:ext cx="4768850" cy="305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0" name="Picture" r:id="rId2" imgW="2972435" imgH="1901825" progId="Word.Picture.8">
                  <p:embed/>
                </p:oleObj>
              </mc:Choice>
              <mc:Fallback>
                <p:oleObj name="Picture" r:id="rId2" imgW="2972435" imgH="1901825" progId="Word.Picture.8">
                  <p:embed/>
                  <p:pic>
                    <p:nvPicPr>
                      <p:cNvPr id="0" name="图片 339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3713" y="1196752"/>
                        <a:ext cx="4768850" cy="305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289050" y="44624"/>
            <a:ext cx="5911850" cy="637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600" dirty="0" smtClean="0">
                <a:solidFill>
                  <a:srgbClr val="000099"/>
                </a:solidFill>
              </a:rPr>
              <a:t>2.2  </a:t>
            </a:r>
            <a:r>
              <a:rPr lang="zh-CN" altLang="en-US" sz="3600" dirty="0" smtClean="0">
                <a:solidFill>
                  <a:srgbClr val="000099"/>
                </a:solidFill>
              </a:rPr>
              <a:t>理想</a:t>
            </a:r>
            <a:r>
              <a:rPr lang="zh-CN" altLang="en-US" sz="3600" dirty="0">
                <a:solidFill>
                  <a:srgbClr val="000099"/>
                </a:solidFill>
              </a:rPr>
              <a:t>运算放大器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67544" y="1492586"/>
          <a:ext cx="3520440" cy="316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14" name="Picture" r:id="rId1" imgW="2340610" imgH="2102485" progId="Word.Picture.8">
                  <p:embed/>
                </p:oleObj>
              </mc:Choice>
              <mc:Fallback>
                <p:oleObj name="Picture" r:id="rId1" imgW="2340610" imgH="2102485" progId="Word.Picture.8">
                  <p:embed/>
                  <p:pic>
                    <p:nvPicPr>
                      <p:cNvPr id="0" name="Object 2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1492586"/>
                        <a:ext cx="3520440" cy="316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0" name="对象 4"/>
          <p:cNvGraphicFramePr>
            <a:graphicFrameLocks noChangeAspect="1"/>
          </p:cNvGraphicFramePr>
          <p:nvPr/>
        </p:nvGraphicFramePr>
        <p:xfrm>
          <a:off x="4303713" y="1196975"/>
          <a:ext cx="4768850" cy="305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15" name="Picture" r:id="rId3" imgW="2972435" imgH="1901825" progId="Word.Picture.8">
                  <p:embed/>
                </p:oleObj>
              </mc:Choice>
              <mc:Fallback>
                <p:oleObj name="Picture" r:id="rId3" imgW="2972435" imgH="1901825" progId="Word.Picture.8">
                  <p:embed/>
                  <p:pic>
                    <p:nvPicPr>
                      <p:cNvPr id="0" name="图片 35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3713" y="1196975"/>
                        <a:ext cx="4768850" cy="305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48"/>
          <p:cNvSpPr>
            <a:spLocks noChangeArrowheads="1"/>
          </p:cNvSpPr>
          <p:nvPr/>
        </p:nvSpPr>
        <p:spPr bwMode="auto">
          <a:xfrm>
            <a:off x="4356100" y="4292600"/>
            <a:ext cx="3741738" cy="1016000"/>
          </a:xfrm>
          <a:prstGeom prst="rect">
            <a:avLst/>
          </a:prstGeom>
          <a:solidFill>
            <a:srgbClr val="CCFFCC"/>
          </a:solidFill>
          <a:ln w="12700" cap="sq">
            <a:solidFill>
              <a:srgbClr val="FF66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10000"/>
              </a:spcBef>
              <a:buClr>
                <a:srgbClr val="0000FF"/>
              </a:buClr>
              <a:buSzPct val="85000"/>
              <a:buFont typeface="Monotype Sorts"/>
              <a:buNone/>
            </a:pPr>
            <a:r>
              <a:rPr lang="zh-CN" altLang="en-US" sz="2400" dirty="0">
                <a:solidFill>
                  <a:schemeClr val="accent2"/>
                </a:solidFill>
                <a:latin typeface="宋体" panose="02010600030101010101" pitchFamily="2" charset="-122"/>
              </a:rPr>
              <a:t>特别注意：</a:t>
            </a:r>
            <a:endParaRPr lang="en-US" altLang="zh-CN" sz="24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10000"/>
              </a:spcBef>
              <a:buClr>
                <a:srgbClr val="0000FF"/>
              </a:buClr>
              <a:buSzPct val="85000"/>
              <a:buFont typeface="Monotype Sorts"/>
              <a:buNone/>
            </a:pPr>
            <a:r>
              <a:rPr lang="en-US" altLang="zh-CN" sz="2400" i="1" dirty="0">
                <a:solidFill>
                  <a:schemeClr val="accent2"/>
                </a:solidFill>
                <a:latin typeface="宋体" panose="02010600030101010101" pitchFamily="2" charset="-122"/>
                <a:ea typeface="华康简宋"/>
                <a:cs typeface="华康简宋"/>
              </a:rPr>
              <a:t> </a:t>
            </a:r>
            <a:r>
              <a:rPr lang="zh-CN" altLang="en-US" sz="2400" i="1" dirty="0">
                <a:solidFill>
                  <a:schemeClr val="accent2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   </a:t>
            </a:r>
            <a:r>
              <a:rPr lang="en-US" altLang="zh-CN" sz="2400" i="1" dirty="0" err="1" smtClean="0">
                <a:solidFill>
                  <a:schemeClr val="accent2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 dirty="0" err="1" smtClean="0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P</a:t>
            </a:r>
            <a:r>
              <a:rPr lang="en-US" altLang="zh-CN" sz="2400" baseline="-300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 </a:t>
            </a:r>
            <a:r>
              <a:rPr lang="en-US" altLang="zh-CN" sz="24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≈</a:t>
            </a:r>
            <a:r>
              <a:rPr lang="en-US" altLang="zh-CN" sz="2400" dirty="0" smtClean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i="1" dirty="0" err="1">
                <a:solidFill>
                  <a:schemeClr val="accent2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 dirty="0" err="1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N</a:t>
            </a:r>
            <a:r>
              <a:rPr lang="en-US" altLang="zh-CN" sz="2400" i="1" dirty="0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 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，</a:t>
            </a:r>
            <a:r>
              <a:rPr lang="en-US" altLang="zh-CN" sz="2400" i="1" dirty="0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    </a:t>
            </a:r>
            <a:r>
              <a:rPr lang="en-US" altLang="zh-CN" sz="2400" i="1" dirty="0" err="1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i</a:t>
            </a:r>
            <a:r>
              <a:rPr lang="en-US" altLang="zh-CN" sz="2400" baseline="-30000" dirty="0" err="1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P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≈ 0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、</a:t>
            </a:r>
            <a:r>
              <a:rPr lang="en-US" altLang="zh-CN" sz="2400" i="1" dirty="0" err="1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i</a:t>
            </a:r>
            <a:r>
              <a:rPr lang="en-US" altLang="zh-CN" sz="2400" baseline="-30000" dirty="0" err="1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N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≈ 0</a:t>
            </a:r>
            <a:endParaRPr lang="en-US" altLang="zh-CN" sz="2400" dirty="0">
              <a:solidFill>
                <a:schemeClr val="accent2"/>
              </a:solidFill>
              <a:latin typeface="Times New Roman" panose="02020603050405020304" pitchFamily="18" charset="0"/>
              <a:ea typeface="华康简宋"/>
              <a:cs typeface="华康简宋"/>
            </a:endParaRP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395288" y="781216"/>
            <a:ext cx="51411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dirty="0" smtClean="0">
                <a:solidFill>
                  <a:schemeClr val="accent2"/>
                </a:solidFill>
              </a:rPr>
              <a:t>2. </a:t>
            </a:r>
            <a:r>
              <a:rPr kumimoji="1" lang="zh-CN" altLang="en-US" dirty="0">
                <a:solidFill>
                  <a:schemeClr val="accent2"/>
                </a:solidFill>
              </a:rPr>
              <a:t>理想运算放大器的传输特性</a:t>
            </a:r>
            <a:r>
              <a:rPr kumimoji="1" lang="zh-CN" altLang="en-US" dirty="0"/>
              <a:t> </a:t>
            </a:r>
            <a:endParaRPr kumimoji="1" lang="zh-CN" altLang="en-US" dirty="0"/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511175" y="5400675"/>
            <a:ext cx="8056563" cy="92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kumimoji="1" lang="en-US" altLang="zh-CN" sz="2400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“</a:t>
            </a:r>
            <a:r>
              <a:rPr kumimoji="1" lang="zh-CN" altLang="en-US" sz="2400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虚短”和“虚断”是用来分析各种运放线性应用电路的有力法则，必须熟练掌握。</a:t>
            </a:r>
            <a:endParaRPr kumimoji="1" lang="zh-CN" altLang="en-US" sz="2400" dirty="0">
              <a:solidFill>
                <a:srgbClr val="0000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415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6" name="Rectangle 8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289050" y="44624"/>
            <a:ext cx="5911850" cy="637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600" dirty="0" smtClean="0">
                <a:solidFill>
                  <a:srgbClr val="000099"/>
                </a:solidFill>
              </a:rPr>
              <a:t>2.2  </a:t>
            </a:r>
            <a:r>
              <a:rPr lang="zh-CN" altLang="en-US" sz="3600" dirty="0" smtClean="0">
                <a:solidFill>
                  <a:srgbClr val="000099"/>
                </a:solidFill>
              </a:rPr>
              <a:t>理想</a:t>
            </a:r>
            <a:r>
              <a:rPr lang="zh-CN" altLang="en-US" sz="3600" dirty="0">
                <a:solidFill>
                  <a:srgbClr val="000099"/>
                </a:solidFill>
              </a:rPr>
              <a:t>运算放大器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 autoUpdateAnimBg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11188" y="1304925"/>
            <a:ext cx="8532812" cy="2850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40000"/>
              </a:lnSpc>
            </a:pPr>
            <a:r>
              <a:rPr lang="en-US" altLang="zh-CN" sz="3200" dirty="0"/>
              <a:t>2.1 </a:t>
            </a:r>
            <a:r>
              <a:rPr lang="zh-CN" altLang="en-US" sz="3200" dirty="0" smtClean="0"/>
              <a:t>集成电路运算放大器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/>
              <a:t>2.2 </a:t>
            </a:r>
            <a:r>
              <a:rPr lang="zh-CN" altLang="en-US" sz="3200" dirty="0"/>
              <a:t>理想运算放大器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>
                <a:solidFill>
                  <a:schemeClr val="accent2"/>
                </a:solidFill>
              </a:rPr>
              <a:t>2.3 </a:t>
            </a:r>
            <a:r>
              <a:rPr lang="zh-CN" altLang="en-US" sz="3200" dirty="0">
                <a:solidFill>
                  <a:schemeClr val="accent2"/>
                </a:solidFill>
              </a:rPr>
              <a:t>基本线性运放电路</a:t>
            </a:r>
            <a:endParaRPr lang="zh-CN" altLang="en-US" sz="3200" dirty="0">
              <a:solidFill>
                <a:schemeClr val="accent2"/>
              </a:solidFill>
            </a:endParaRPr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 smtClean="0"/>
              <a:t>2.4 </a:t>
            </a:r>
            <a:r>
              <a:rPr lang="zh-CN" altLang="en-US" sz="3200" dirty="0"/>
              <a:t>同相输入和反相输入放大电路的其他应用</a:t>
            </a:r>
            <a:endParaRPr lang="zh-CN" altLang="en-US" sz="3200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1188" y="43408"/>
            <a:ext cx="7607300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88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60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4180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4230" indent="-39878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dirty="0">
                <a:solidFill>
                  <a:srgbClr val="000099"/>
                </a:solidFill>
              </a:rPr>
              <a:t>2  </a:t>
            </a:r>
            <a:r>
              <a:rPr lang="zh-CN" altLang="en-US" sz="3600" dirty="0" smtClean="0">
                <a:solidFill>
                  <a:srgbClr val="000099"/>
                </a:solidFill>
              </a:rPr>
              <a:t>运算放大器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ChangeArrowheads="1"/>
          </p:cNvSpPr>
          <p:nvPr/>
        </p:nvSpPr>
        <p:spPr bwMode="auto">
          <a:xfrm>
            <a:off x="1116013" y="1546225"/>
            <a:ext cx="5184775" cy="1471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40000"/>
              </a:lnSpc>
            </a:pPr>
            <a:r>
              <a:rPr lang="en-US" altLang="zh-CN" sz="3200" dirty="0" smtClean="0">
                <a:solidFill>
                  <a:schemeClr val="accent2"/>
                </a:solidFill>
              </a:rPr>
              <a:t>2.3.1 </a:t>
            </a:r>
            <a:r>
              <a:rPr lang="zh-CN" altLang="en-US" sz="3200" dirty="0">
                <a:solidFill>
                  <a:schemeClr val="accent2"/>
                </a:solidFill>
              </a:rPr>
              <a:t>同相放大电路	</a:t>
            </a:r>
            <a:endParaRPr lang="zh-CN" altLang="en-US" sz="3200" dirty="0">
              <a:solidFill>
                <a:schemeClr val="accent2"/>
              </a:solidFill>
            </a:endParaRPr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 smtClean="0"/>
              <a:t>2.3.2 </a:t>
            </a:r>
            <a:r>
              <a:rPr lang="zh-CN" altLang="en-US" sz="3200" dirty="0"/>
              <a:t>反相放大电路</a:t>
            </a:r>
            <a:endParaRPr lang="zh-CN" altLang="en-US" sz="3200" dirty="0"/>
          </a:p>
        </p:txBody>
      </p:sp>
      <p:sp>
        <p:nvSpPr>
          <p:cNvPr id="19459" name="Rectangle 5"/>
          <p:cNvSpPr>
            <a:spLocks noChangeArrowheads="1"/>
          </p:cNvSpPr>
          <p:nvPr/>
        </p:nvSpPr>
        <p:spPr bwMode="auto">
          <a:xfrm>
            <a:off x="1655676" y="36041"/>
            <a:ext cx="5461000" cy="72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600" dirty="0" smtClean="0">
                <a:solidFill>
                  <a:srgbClr val="0000CC"/>
                </a:solidFill>
              </a:rPr>
              <a:t>2.3  </a:t>
            </a:r>
            <a:r>
              <a:rPr lang="zh-CN" altLang="en-US" sz="3600" dirty="0" smtClean="0">
                <a:solidFill>
                  <a:srgbClr val="0000CC"/>
                </a:solidFill>
              </a:rPr>
              <a:t>基本</a:t>
            </a:r>
            <a:r>
              <a:rPr lang="zh-CN" altLang="en-US" sz="3600" dirty="0">
                <a:solidFill>
                  <a:srgbClr val="0000CC"/>
                </a:solidFill>
              </a:rPr>
              <a:t>线性运放电路</a:t>
            </a:r>
            <a:endParaRPr lang="zh-CN" altLang="en-US" sz="36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3" name="Object 58"/>
          <p:cNvGraphicFramePr>
            <a:graphicFrameLocks noChangeAspect="1"/>
          </p:cNvGraphicFramePr>
          <p:nvPr/>
        </p:nvGraphicFramePr>
        <p:xfrm>
          <a:off x="4070350" y="1484313"/>
          <a:ext cx="4822825" cy="230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0" name="图片" r:id="rId1" imgW="2411730" imgH="1155700" progId="Word.Picture.8">
                  <p:embed/>
                </p:oleObj>
              </mc:Choice>
              <mc:Fallback>
                <p:oleObj name="图片" r:id="rId1" imgW="2411730" imgH="1155700" progId="Word.Picture.8">
                  <p:embed/>
                  <p:pic>
                    <p:nvPicPr>
                      <p:cNvPr id="0" name="图片 36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350" y="1484313"/>
                        <a:ext cx="4822825" cy="230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Rectangle 48"/>
          <p:cNvSpPr>
            <a:spLocks noChangeArrowheads="1"/>
          </p:cNvSpPr>
          <p:nvPr/>
        </p:nvSpPr>
        <p:spPr bwMode="auto">
          <a:xfrm>
            <a:off x="647700" y="765175"/>
            <a:ext cx="76327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10000"/>
              </a:lnSpc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altLang="zh-CN" sz="2400">
                <a:solidFill>
                  <a:srgbClr val="000000"/>
                </a:solidFill>
              </a:rPr>
              <a:t> </a:t>
            </a:r>
            <a:r>
              <a:rPr lang="zh-CN" altLang="en-US" sz="2400">
                <a:solidFill>
                  <a:srgbClr val="000000"/>
                </a:solidFill>
              </a:rPr>
              <a:t>能采用以下形式对信号进行线性放大吗？为什么？</a:t>
            </a:r>
            <a:endParaRPr lang="zh-CN" altLang="en-US" sz="2400">
              <a:solidFill>
                <a:srgbClr val="000000"/>
              </a:solidFill>
            </a:endParaRPr>
          </a:p>
        </p:txBody>
      </p:sp>
      <p:pic>
        <p:nvPicPr>
          <p:cNvPr id="5" name="Picture 51" descr="未标题-2 拷贝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268413"/>
            <a:ext cx="3360737" cy="377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52"/>
          <p:cNvGraphicFramePr>
            <a:graphicFrameLocks noChangeAspect="1"/>
          </p:cNvGraphicFramePr>
          <p:nvPr/>
        </p:nvGraphicFramePr>
        <p:xfrm>
          <a:off x="5413375" y="4005263"/>
          <a:ext cx="2590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1" name="公式" r:id="rId4" imgW="1294765" imgH="444500" progId="Equation.3">
                  <p:embed/>
                </p:oleObj>
              </mc:Choice>
              <mc:Fallback>
                <p:oleObj name="公式" r:id="rId4" imgW="1294765" imgH="444500" progId="Equation.3">
                  <p:embed/>
                  <p:pic>
                    <p:nvPicPr>
                      <p:cNvPr id="0" name="图片 36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75" y="4005263"/>
                        <a:ext cx="2590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3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3995738" y="4149725"/>
            <a:ext cx="1843087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88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60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4180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4230" indent="-39878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/>
              <a:t>线性区</a:t>
            </a:r>
            <a:endParaRPr lang="zh-CN" altLang="en-US" sz="2400"/>
          </a:p>
        </p:txBody>
      </p:sp>
      <p:sp>
        <p:nvSpPr>
          <p:cNvPr id="8" name="Rectangle 55"/>
          <p:cNvSpPr>
            <a:spLocks noChangeArrowheads="1"/>
          </p:cNvSpPr>
          <p:nvPr/>
        </p:nvSpPr>
        <p:spPr bwMode="auto">
          <a:xfrm>
            <a:off x="684213" y="5013325"/>
            <a:ext cx="7812087" cy="105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20000"/>
              </a:lnSpc>
              <a:buClr>
                <a:srgbClr val="0000FF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理论上可以，实际上很难。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buClr>
                <a:srgbClr val="0000FF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要求输入信号非常小，且此时运放的带宽也很窄。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68313" y="80628"/>
            <a:ext cx="50768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sz="3200" dirty="0" smtClean="0">
                <a:solidFill>
                  <a:srgbClr val="0000CC"/>
                </a:solidFill>
              </a:rPr>
              <a:t>2.3.1  </a:t>
            </a:r>
            <a:r>
              <a:rPr kumimoji="1" lang="zh-CN" altLang="en-US" sz="3200" dirty="0">
                <a:solidFill>
                  <a:srgbClr val="0000CC"/>
                </a:solidFill>
              </a:rPr>
              <a:t>同相放大电路</a:t>
            </a:r>
            <a:endParaRPr kumimoji="1" lang="zh-CN" altLang="en-US" sz="32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5"/>
          <p:cNvSpPr>
            <a:spLocks noChangeArrowheads="1"/>
          </p:cNvSpPr>
          <p:nvPr/>
        </p:nvSpPr>
        <p:spPr bwMode="auto">
          <a:xfrm>
            <a:off x="647700" y="882352"/>
            <a:ext cx="76327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10000"/>
              </a:lnSpc>
              <a:buClr>
                <a:srgbClr val="0000FF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</a:rPr>
              <a:t>实际应用中，线性放大时都需要引入负反馈</a:t>
            </a:r>
            <a:endParaRPr lang="zh-CN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4" name="Object 8"/>
          <p:cNvGraphicFramePr>
            <a:graphicFrameLocks noChangeAspect="1"/>
          </p:cNvGraphicFramePr>
          <p:nvPr/>
        </p:nvGraphicFramePr>
        <p:xfrm>
          <a:off x="1368425" y="3860006"/>
          <a:ext cx="1930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01" name="公式" r:id="rId1" imgW="965200" imgH="228600" progId="Equation.3">
                  <p:embed/>
                </p:oleObj>
              </mc:Choice>
              <mc:Fallback>
                <p:oleObj name="公式" r:id="rId1" imgW="965200" imgH="228600" progId="Equation.3">
                  <p:embed/>
                  <p:pic>
                    <p:nvPicPr>
                      <p:cNvPr id="0" name="图片 373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3860006"/>
                        <a:ext cx="1930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9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684213" y="3788569"/>
            <a:ext cx="719137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88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60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4180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4230" indent="-39878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/>
              <a:t>使</a:t>
            </a:r>
            <a:endParaRPr lang="zh-CN" altLang="en-US" sz="2400"/>
          </a:p>
        </p:txBody>
      </p:sp>
      <p:graphicFrame>
        <p:nvGraphicFramePr>
          <p:cNvPr id="6" name="Object 11"/>
          <p:cNvGraphicFramePr>
            <a:graphicFrameLocks noChangeAspect="1"/>
          </p:cNvGraphicFramePr>
          <p:nvPr/>
        </p:nvGraphicFramePr>
        <p:xfrm>
          <a:off x="4608513" y="2241550"/>
          <a:ext cx="4357687" cy="308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02" name="图片" r:id="rId4" imgW="2420620" imgH="1718945" progId="Word.Picture.8">
                  <p:embed/>
                </p:oleObj>
              </mc:Choice>
              <mc:Fallback>
                <p:oleObj name="图片" r:id="rId4" imgW="2420620" imgH="1718945" progId="Word.Picture.8">
                  <p:embed/>
                  <p:pic>
                    <p:nvPicPr>
                      <p:cNvPr id="0" name="图片 373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513" y="2241550"/>
                        <a:ext cx="4357687" cy="308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684213" y="1458615"/>
            <a:ext cx="80645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20000"/>
              </a:lnSpc>
              <a:buClr>
                <a:srgbClr val="0000FF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反馈：将输出量（电压或电流）送回到输入的过程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AutoShape 16"/>
          <p:cNvSpPr>
            <a:spLocks noChangeArrowheads="1"/>
          </p:cNvSpPr>
          <p:nvPr/>
        </p:nvSpPr>
        <p:spPr bwMode="auto">
          <a:xfrm>
            <a:off x="7127875" y="4797425"/>
            <a:ext cx="1357313" cy="403225"/>
          </a:xfrm>
          <a:prstGeom prst="wedgeRoundRectCallout">
            <a:avLst>
              <a:gd name="adj1" fmla="val -36903"/>
              <a:gd name="adj2" fmla="val -206694"/>
              <a:gd name="adj3" fmla="val 16667"/>
            </a:avLst>
          </a:prstGeom>
          <a:solidFill>
            <a:srgbClr val="CCFFCC"/>
          </a:solidFill>
          <a:ln w="9525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kumimoji="1"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反馈通路</a:t>
            </a:r>
            <a:endParaRPr kumimoji="1"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Rectangle 17"/>
          <p:cNvSpPr>
            <a:spLocks noChangeArrowheads="1"/>
          </p:cNvSpPr>
          <p:nvPr/>
        </p:nvSpPr>
        <p:spPr bwMode="auto">
          <a:xfrm>
            <a:off x="684213" y="2132856"/>
            <a:ext cx="3743325" cy="1531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35000"/>
              </a:lnSpc>
              <a:spcBef>
                <a:spcPts val="0"/>
              </a:spcBef>
              <a:buClr>
                <a:srgbClr val="0000FF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负反馈：反馈到输入的信号将减小原来加到放大器输入端的信号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" name="Object 18"/>
          <p:cNvGraphicFramePr>
            <a:graphicFrameLocks noChangeAspect="1"/>
          </p:cNvGraphicFramePr>
          <p:nvPr/>
        </p:nvGraphicFramePr>
        <p:xfrm>
          <a:off x="2381250" y="4293394"/>
          <a:ext cx="2032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03" name="公式" r:id="rId6" imgW="1015365" imgH="444500" progId="Equation.3">
                  <p:embed/>
                </p:oleObj>
              </mc:Choice>
              <mc:Fallback>
                <p:oleObj name="公式" r:id="rId6" imgW="1015365" imgH="444500" progId="Equation.3">
                  <p:embed/>
                  <p:pic>
                    <p:nvPicPr>
                      <p:cNvPr id="0" name="图片 373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293394"/>
                        <a:ext cx="2032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9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684213" y="4437856"/>
            <a:ext cx="1843087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88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60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4180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4230" indent="-39878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/>
              <a:t>容易满足</a:t>
            </a:r>
            <a:endParaRPr lang="zh-CN" altLang="en-US" sz="2400"/>
          </a:p>
        </p:txBody>
      </p:sp>
      <p:sp>
        <p:nvSpPr>
          <p:cNvPr id="12" name="Rectangle 20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719138" y="5203031"/>
            <a:ext cx="3024187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88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60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4180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4230" indent="-39878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/>
              <a:t>运放工作在线性区</a:t>
            </a:r>
            <a:endParaRPr lang="zh-CN" altLang="en-US" sz="2400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68313" y="80628"/>
            <a:ext cx="50768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sz="3200" dirty="0" smtClean="0">
                <a:solidFill>
                  <a:srgbClr val="0000CC"/>
                </a:solidFill>
              </a:rPr>
              <a:t>2.3.1  </a:t>
            </a:r>
            <a:r>
              <a:rPr kumimoji="1" lang="zh-CN" altLang="en-US" sz="3200" dirty="0">
                <a:solidFill>
                  <a:srgbClr val="0000CC"/>
                </a:solidFill>
              </a:rPr>
              <a:t>同相放大电路</a:t>
            </a:r>
            <a:endParaRPr kumimoji="1" lang="zh-CN" altLang="en-US" sz="32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/>
      <p:bldP spid="8" grpId="0" animBg="1"/>
      <p:bldP spid="9" grpId="0"/>
      <p:bldP spid="11" grpId="0" autoUpdateAnimBg="0"/>
      <p:bldP spid="1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468688" y="2960948"/>
          <a:ext cx="2581656" cy="2317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4" name="Picture" r:id="rId1" imgW="2340610" imgH="2102485" progId="Word.Picture.8">
                  <p:embed/>
                </p:oleObj>
              </mc:Choice>
              <mc:Fallback>
                <p:oleObj name="Picture" r:id="rId1" imgW="2340610" imgH="2102485" progId="Word.Picture.8">
                  <p:embed/>
                  <p:pic>
                    <p:nvPicPr>
                      <p:cNvPr id="0" name="图片 38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8688" y="2960948"/>
                        <a:ext cx="2581656" cy="23177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647700" y="728663"/>
            <a:ext cx="7885113" cy="199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25000"/>
              </a:lnSpc>
              <a:buClr>
                <a:srgbClr val="0000FF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00"/>
                </a:solidFill>
              </a:rPr>
              <a:t>        </a:t>
            </a:r>
            <a:r>
              <a:rPr lang="zh-CN" altLang="en-US" sz="2400">
                <a:solidFill>
                  <a:srgbClr val="000000"/>
                </a:solidFill>
              </a:rPr>
              <a:t>由于实际运放与理想运放特性很接近，所以在工程应用时，都将实际运放当作理想运放来简化分析和设计。</a:t>
            </a:r>
            <a:endParaRPr lang="zh-CN" altLang="en-US" sz="2400">
              <a:solidFill>
                <a:srgbClr val="000000"/>
              </a:solidFill>
            </a:endParaRPr>
          </a:p>
          <a:p>
            <a:pPr algn="just" eaLnBrk="1" hangingPunct="1">
              <a:lnSpc>
                <a:spcPct val="125000"/>
              </a:lnSpc>
              <a:buClr>
                <a:srgbClr val="0000FF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</a:rPr>
              <a:t>        需要特别注意，它们最大的差别是，理想运放的频带宽度是无限的，而实际运放的带宽是有限的。</a:t>
            </a: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3" name="Rectangle 16"/>
          <p:cNvSpPr>
            <a:spLocks noChangeArrowheads="1"/>
          </p:cNvSpPr>
          <p:nvPr/>
        </p:nvSpPr>
        <p:spPr bwMode="auto">
          <a:xfrm>
            <a:off x="576263" y="2890838"/>
            <a:ext cx="2628900" cy="3059112"/>
          </a:xfrm>
          <a:prstGeom prst="rect">
            <a:avLst/>
          </a:prstGeom>
          <a:solidFill>
            <a:srgbClr val="CCFFCC"/>
          </a:solidFill>
          <a:ln w="12700" cap="sq">
            <a:solidFill>
              <a:srgbClr val="FF66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10000"/>
              </a:spcBef>
              <a:buClr>
                <a:srgbClr val="0000FF"/>
              </a:buClr>
              <a:buSzPct val="85000"/>
              <a:buFont typeface="Monotype Sorts"/>
              <a:buNone/>
            </a:pPr>
            <a:r>
              <a:rPr lang="zh-CN" altLang="en-US" sz="2200">
                <a:solidFill>
                  <a:schemeClr val="accent2"/>
                </a:solidFill>
                <a:latin typeface="宋体" panose="02010600030101010101" pitchFamily="2" charset="-122"/>
              </a:rPr>
              <a:t>理想特性：</a:t>
            </a:r>
            <a:endParaRPr lang="zh-CN" altLang="en-US" sz="220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i="1">
                <a:latin typeface="Times New Roman" panose="02020603050405020304" pitchFamily="18" charset="0"/>
                <a:ea typeface="华康简宋"/>
                <a:cs typeface="华康简宋"/>
              </a:rPr>
              <a:t>    </a:t>
            </a:r>
            <a:r>
              <a:rPr kumimoji="1" lang="en-US" altLang="zh-CN" sz="2400" i="1">
                <a:latin typeface="Times New Roman" panose="02020603050405020304" pitchFamily="18" charset="0"/>
                <a:ea typeface="华康简宋"/>
                <a:cs typeface="华康简宋"/>
              </a:rPr>
              <a:t>r</a:t>
            </a:r>
            <a:r>
              <a:rPr kumimoji="1" lang="en-US" altLang="zh-CN" sz="2400" baseline="-30000">
                <a:latin typeface="Times New Roman" panose="02020603050405020304" pitchFamily="18" charset="0"/>
                <a:ea typeface="华康简宋"/>
                <a:cs typeface="华康简宋"/>
              </a:rPr>
              <a:t>i</a:t>
            </a:r>
            <a:r>
              <a:rPr kumimoji="1" lang="en-US" altLang="zh-CN" sz="2400">
                <a:latin typeface="Times New Roman" panose="02020603050405020304" pitchFamily="18" charset="0"/>
                <a:ea typeface="华康简宋"/>
                <a:cs typeface="华康简宋"/>
              </a:rPr>
              <a:t>≈∞</a:t>
            </a:r>
            <a:endParaRPr kumimoji="1" lang="en-US" altLang="zh-CN" sz="2400">
              <a:latin typeface="Times New Roman" panose="02020603050405020304" pitchFamily="18" charset="0"/>
              <a:ea typeface="华康简宋"/>
              <a:cs typeface="华康简宋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华康简宋"/>
                <a:cs typeface="华康简宋"/>
              </a:rPr>
              <a:t>    </a:t>
            </a:r>
            <a:r>
              <a:rPr kumimoji="1" lang="en-US" altLang="zh-CN" sz="2400" i="1">
                <a:latin typeface="Times New Roman" panose="02020603050405020304" pitchFamily="18" charset="0"/>
                <a:ea typeface="华康简宋"/>
                <a:cs typeface="华康简宋"/>
              </a:rPr>
              <a:t>r</a:t>
            </a:r>
            <a:r>
              <a:rPr kumimoji="1" lang="en-US" altLang="zh-CN" sz="2400" baseline="-30000">
                <a:latin typeface="Times New Roman" panose="02020603050405020304" pitchFamily="18" charset="0"/>
                <a:ea typeface="华康简宋"/>
                <a:cs typeface="华康简宋"/>
              </a:rPr>
              <a:t>o</a:t>
            </a:r>
            <a:r>
              <a:rPr kumimoji="1" lang="en-US" altLang="zh-CN" sz="2400">
                <a:latin typeface="Times New Roman" panose="02020603050405020304" pitchFamily="18" charset="0"/>
                <a:ea typeface="华康简宋"/>
                <a:cs typeface="华康简宋"/>
              </a:rPr>
              <a:t>≈0</a:t>
            </a:r>
            <a:endParaRPr kumimoji="1" lang="en-US" altLang="zh-CN" sz="2400">
              <a:latin typeface="Times New Roman" panose="02020603050405020304" pitchFamily="18" charset="0"/>
              <a:ea typeface="华康简宋"/>
              <a:cs typeface="华康简宋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华康简宋"/>
                <a:cs typeface="华康简宋"/>
              </a:rPr>
              <a:t>    </a:t>
            </a:r>
            <a:r>
              <a:rPr kumimoji="1" lang="en-US" altLang="zh-CN" sz="2400" i="1">
                <a:latin typeface="Times New Roman" panose="02020603050405020304" pitchFamily="18" charset="0"/>
                <a:ea typeface="华康简宋"/>
                <a:cs typeface="华康简宋"/>
              </a:rPr>
              <a:t>A</a:t>
            </a:r>
            <a:r>
              <a:rPr kumimoji="1" lang="en-US" altLang="zh-CN" sz="2400" i="1" baseline="-30000"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kumimoji="1" lang="en-US" altLang="zh-CN" sz="2400" baseline="-30000">
                <a:latin typeface="Times New Roman" panose="02020603050405020304" pitchFamily="18" charset="0"/>
                <a:ea typeface="华康简宋"/>
                <a:cs typeface="华康简宋"/>
              </a:rPr>
              <a:t>o</a:t>
            </a:r>
            <a:r>
              <a:rPr kumimoji="1" lang="en-US" altLang="zh-CN" sz="2400">
                <a:latin typeface="Times New Roman" panose="02020603050405020304" pitchFamily="18" charset="0"/>
                <a:ea typeface="华康简宋"/>
                <a:cs typeface="华康简宋"/>
              </a:rPr>
              <a:t>→∞</a:t>
            </a:r>
            <a:endParaRPr kumimoji="1" lang="en-US" altLang="zh-CN" sz="2400">
              <a:latin typeface="Times New Roman" panose="02020603050405020304" pitchFamily="18" charset="0"/>
              <a:ea typeface="华康简宋"/>
              <a:cs typeface="华康简宋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i="1">
                <a:latin typeface="Book Antiqua" panose="02040602050305030304" pitchFamily="18" charset="0"/>
                <a:ea typeface="华康简宋"/>
                <a:cs typeface="华康简宋"/>
              </a:rPr>
              <a:t>    v</a:t>
            </a:r>
            <a:r>
              <a:rPr kumimoji="1" lang="en-US" altLang="zh-CN" sz="2400" baseline="-30000">
                <a:latin typeface="Times New Roman" panose="02020603050405020304" pitchFamily="18" charset="0"/>
                <a:ea typeface="华康简宋"/>
                <a:cs typeface="华康简宋"/>
              </a:rPr>
              <a:t>o</a:t>
            </a:r>
            <a:r>
              <a:rPr kumimoji="1" lang="zh-CN" altLang="en-US" sz="2400">
                <a:latin typeface="Times New Roman" panose="02020603050405020304" pitchFamily="18" charset="0"/>
                <a:ea typeface="华康简宋"/>
                <a:cs typeface="华康简宋"/>
              </a:rPr>
              <a:t>＝</a:t>
            </a:r>
            <a:r>
              <a:rPr kumimoji="1" lang="en-US" altLang="zh-CN" sz="2400" i="1">
                <a:latin typeface="Times New Roman" panose="02020603050405020304" pitchFamily="18" charset="0"/>
                <a:ea typeface="华康简宋"/>
                <a:cs typeface="华康简宋"/>
              </a:rPr>
              <a:t>A</a:t>
            </a:r>
            <a:r>
              <a:rPr kumimoji="1" lang="en-US" altLang="zh-CN" sz="2400" i="1" baseline="-30000"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kumimoji="1" lang="en-US" altLang="zh-CN" sz="2400" baseline="-30000">
                <a:latin typeface="Times New Roman" panose="02020603050405020304" pitchFamily="18" charset="0"/>
                <a:ea typeface="华康简宋"/>
                <a:cs typeface="华康简宋"/>
              </a:rPr>
              <a:t>o</a:t>
            </a:r>
            <a:r>
              <a:rPr kumimoji="1" lang="en-US" altLang="zh-CN" sz="2400">
                <a:latin typeface="Times New Roman" panose="02020603050405020304" pitchFamily="18" charset="0"/>
                <a:ea typeface="华康简宋"/>
                <a:cs typeface="华康简宋"/>
              </a:rPr>
              <a:t>(</a:t>
            </a:r>
            <a:r>
              <a:rPr kumimoji="1" lang="en-US" altLang="zh-CN" sz="2400" i="1"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kumimoji="1" lang="en-US" altLang="zh-CN" sz="2400" baseline="-30000">
                <a:latin typeface="Times New Roman" panose="02020603050405020304" pitchFamily="18" charset="0"/>
                <a:ea typeface="华康简宋"/>
                <a:cs typeface="华康简宋"/>
              </a:rPr>
              <a:t>P</a:t>
            </a:r>
            <a:r>
              <a:rPr kumimoji="1" lang="zh-CN" altLang="en-US" sz="2400">
                <a:latin typeface="Times New Roman" panose="02020603050405020304" pitchFamily="18" charset="0"/>
              </a:rPr>
              <a:t>－</a:t>
            </a:r>
            <a:r>
              <a:rPr kumimoji="1" lang="en-US" altLang="zh-CN" sz="2400" i="1"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kumimoji="1" lang="en-US" altLang="zh-CN" sz="2400" baseline="-30000">
                <a:latin typeface="Times New Roman" panose="02020603050405020304" pitchFamily="18" charset="0"/>
                <a:ea typeface="华康简宋"/>
                <a:cs typeface="华康简宋"/>
              </a:rPr>
              <a:t>N</a:t>
            </a:r>
            <a:r>
              <a:rPr kumimoji="1" lang="en-US" altLang="zh-CN" sz="2400">
                <a:latin typeface="Times New Roman" panose="02020603050405020304" pitchFamily="18" charset="0"/>
                <a:ea typeface="华康简宋"/>
                <a:cs typeface="华康简宋"/>
              </a:rPr>
              <a:t>)</a:t>
            </a:r>
            <a:endParaRPr kumimoji="1" lang="en-US" altLang="zh-CN" sz="240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spcBef>
                <a:spcPct val="10000"/>
              </a:spcBef>
              <a:buClr>
                <a:srgbClr val="0000FF"/>
              </a:buClr>
              <a:buSzPct val="85000"/>
              <a:buFont typeface="Monotype Sorts"/>
              <a:buNone/>
            </a:pPr>
            <a:r>
              <a:rPr lang="en-US" altLang="zh-CN" sz="2200" i="1">
                <a:solidFill>
                  <a:schemeClr val="accent2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    v</a:t>
            </a:r>
            <a:r>
              <a:rPr lang="en-US" altLang="zh-CN" sz="2200" baseline="-30000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P</a:t>
            </a:r>
            <a:r>
              <a:rPr lang="en-US" altLang="zh-CN" sz="2200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≈</a:t>
            </a:r>
            <a:r>
              <a:rPr lang="en-US" altLang="zh-CN" sz="22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200" i="1">
                <a:solidFill>
                  <a:schemeClr val="accent2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200" baseline="-30000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N</a:t>
            </a:r>
            <a:r>
              <a:rPr lang="en-US" altLang="zh-CN" sz="2200">
                <a:solidFill>
                  <a:schemeClr val="accent2"/>
                </a:solidFill>
              </a:rPr>
              <a:t> </a:t>
            </a:r>
            <a:endParaRPr lang="en-US" altLang="zh-CN" sz="2200">
              <a:solidFill>
                <a:schemeClr val="accent2"/>
              </a:solidFill>
            </a:endParaRPr>
          </a:p>
          <a:p>
            <a:pPr algn="just" eaLnBrk="1" hangingPunct="1">
              <a:lnSpc>
                <a:spcPct val="120000"/>
              </a:lnSpc>
              <a:spcBef>
                <a:spcPct val="10000"/>
              </a:spcBef>
              <a:buClr>
                <a:srgbClr val="0000FF"/>
              </a:buClr>
              <a:buSzPct val="85000"/>
              <a:buFont typeface="Monotype Sorts"/>
              <a:buNone/>
            </a:pPr>
            <a:r>
              <a:rPr lang="en-US" altLang="zh-CN" sz="2200" i="1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     i</a:t>
            </a:r>
            <a:r>
              <a:rPr lang="en-US" altLang="zh-CN" sz="2200" baseline="-30000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P</a:t>
            </a:r>
            <a:r>
              <a:rPr lang="en-US" altLang="zh-CN" sz="2200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≈ 0</a:t>
            </a:r>
            <a:r>
              <a:rPr lang="zh-CN" altLang="en-US" sz="2200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、</a:t>
            </a:r>
            <a:r>
              <a:rPr lang="en-US" altLang="zh-CN" sz="2200" i="1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i</a:t>
            </a:r>
            <a:r>
              <a:rPr lang="en-US" altLang="zh-CN" sz="2200" baseline="-30000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N</a:t>
            </a:r>
            <a:r>
              <a:rPr lang="en-US" altLang="zh-CN" sz="2200">
                <a:solidFill>
                  <a:schemeClr val="accent2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≈ 0</a:t>
            </a:r>
            <a:endParaRPr lang="en-US" altLang="zh-CN" sz="2200">
              <a:solidFill>
                <a:schemeClr val="accent2"/>
              </a:solidFill>
              <a:latin typeface="Times New Roman" panose="02020603050405020304" pitchFamily="18" charset="0"/>
              <a:ea typeface="华康简宋"/>
              <a:cs typeface="华康简宋"/>
            </a:endParaRPr>
          </a:p>
        </p:txBody>
      </p:sp>
      <p:pic>
        <p:nvPicPr>
          <p:cNvPr id="4" name="Picture 17" descr="未标题-2 拷贝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788" y="2781300"/>
            <a:ext cx="2425700" cy="272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468313" y="80628"/>
            <a:ext cx="50768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sz="3200" dirty="0" smtClean="0">
                <a:solidFill>
                  <a:srgbClr val="0000CC"/>
                </a:solidFill>
              </a:rPr>
              <a:t>2.3.1  </a:t>
            </a:r>
            <a:r>
              <a:rPr kumimoji="1" lang="zh-CN" altLang="en-US" sz="3200" dirty="0">
                <a:solidFill>
                  <a:srgbClr val="0000CC"/>
                </a:solidFill>
              </a:rPr>
              <a:t>同相放大电路</a:t>
            </a:r>
            <a:endParaRPr kumimoji="1" lang="zh-CN" altLang="en-US" sz="32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5" name="Object 28"/>
          <p:cNvGraphicFramePr>
            <a:graphicFrameLocks noChangeAspect="1"/>
          </p:cNvGraphicFramePr>
          <p:nvPr/>
        </p:nvGraphicFramePr>
        <p:xfrm>
          <a:off x="4608513" y="955067"/>
          <a:ext cx="4357687" cy="308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52" name="图片" r:id="rId1" imgW="2420620" imgH="1718945" progId="Word.Picture.8">
                  <p:embed/>
                </p:oleObj>
              </mc:Choice>
              <mc:Fallback>
                <p:oleObj name="图片" r:id="rId1" imgW="2420620" imgH="1718945" progId="Word.Picture.8">
                  <p:embed/>
                  <p:pic>
                    <p:nvPicPr>
                      <p:cNvPr id="0" name="图片 393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513" y="955067"/>
                        <a:ext cx="4357687" cy="308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Rectangle 38"/>
          <p:cNvSpPr>
            <a:spLocks noChangeArrowheads="1"/>
          </p:cNvSpPr>
          <p:nvPr/>
        </p:nvSpPr>
        <p:spPr bwMode="auto">
          <a:xfrm>
            <a:off x="404813" y="748692"/>
            <a:ext cx="384333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FF"/>
              </a:buClr>
              <a:buSzPct val="85000"/>
              <a:buFont typeface="Monotype Sorts"/>
              <a:buNone/>
            </a:pPr>
            <a:r>
              <a:rPr lang="zh-CN" altLang="en-US" sz="2600" dirty="0">
                <a:solidFill>
                  <a:srgbClr val="000000"/>
                </a:solidFill>
                <a:latin typeface="楷体_GB2312"/>
              </a:rPr>
              <a:t>指标分析</a:t>
            </a:r>
            <a:endParaRPr lang="zh-CN" altLang="en-US" sz="2600" dirty="0">
              <a:solidFill>
                <a:srgbClr val="000000"/>
              </a:solidFill>
              <a:latin typeface="楷体_GB2312"/>
            </a:endParaRPr>
          </a:p>
        </p:txBody>
      </p:sp>
      <p:sp>
        <p:nvSpPr>
          <p:cNvPr id="5" name="Rectangle 39"/>
          <p:cNvSpPr>
            <a:spLocks noChangeArrowheads="1"/>
          </p:cNvSpPr>
          <p:nvPr/>
        </p:nvSpPr>
        <p:spPr bwMode="auto">
          <a:xfrm>
            <a:off x="404813" y="1215417"/>
            <a:ext cx="40957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sz="2400">
                <a:solidFill>
                  <a:srgbClr val="000000"/>
                </a:solidFill>
                <a:latin typeface="楷体_GB2312"/>
              </a:rPr>
              <a:t>电压增益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A</a:t>
            </a:r>
            <a:r>
              <a:rPr lang="en-US" altLang="zh-CN" sz="2400" i="1" baseline="-30000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>
                <a:solidFill>
                  <a:srgbClr val="000000"/>
                </a:solidFill>
                <a:latin typeface="楷体_GB2312"/>
              </a:rPr>
              <a:t> </a:t>
            </a:r>
            <a:endParaRPr lang="en-US" altLang="zh-CN" sz="2400">
              <a:solidFill>
                <a:srgbClr val="000000"/>
              </a:solidFill>
              <a:latin typeface="楷体_GB2312"/>
            </a:endParaRPr>
          </a:p>
        </p:txBody>
      </p:sp>
      <p:sp>
        <p:nvSpPr>
          <p:cNvPr id="6" name="Rectangle 40"/>
          <p:cNvSpPr>
            <a:spLocks noChangeArrowheads="1"/>
          </p:cNvSpPr>
          <p:nvPr/>
        </p:nvSpPr>
        <p:spPr bwMode="auto">
          <a:xfrm>
            <a:off x="657225" y="1650392"/>
            <a:ext cx="3951288" cy="162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</a:rPr>
              <a:t>根据理想运放特性</a:t>
            </a:r>
            <a:endParaRPr lang="zh-CN" altLang="en-US" sz="2400">
              <a:solidFill>
                <a:srgbClr val="000000"/>
              </a:solidFill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</a:rPr>
              <a:t>          </a:t>
            </a:r>
            <a:r>
              <a:rPr lang="en-US" altLang="zh-CN" sz="24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>
                <a:solidFill>
                  <a:srgbClr val="000000"/>
                </a:solidFill>
                <a:ea typeface="华康简宋"/>
                <a:cs typeface="华康简宋"/>
              </a:rPr>
              <a:t>p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≈</a:t>
            </a:r>
            <a:r>
              <a:rPr lang="en-US" altLang="zh-CN" sz="24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>
                <a:solidFill>
                  <a:srgbClr val="000000"/>
                </a:solidFill>
                <a:ea typeface="华康简宋"/>
                <a:cs typeface="华康简宋"/>
              </a:rPr>
              <a:t>n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  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zh-CN" altLang="en-US" sz="2400">
                <a:solidFill>
                  <a:srgbClr val="FF0000"/>
                </a:solidFill>
              </a:rPr>
              <a:t>虚短</a:t>
            </a:r>
            <a:r>
              <a:rPr lang="zh-CN" altLang="en-US" sz="2400"/>
              <a:t>）</a:t>
            </a:r>
            <a:endParaRPr lang="zh-CN" altLang="en-US" sz="2400"/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ea typeface="华康简宋"/>
                <a:cs typeface="华康简宋"/>
              </a:rPr>
              <a:t>          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i</a:t>
            </a:r>
            <a:r>
              <a:rPr lang="en-US" altLang="zh-CN" sz="2400" baseline="-3000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p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= </a:t>
            </a:r>
            <a:r>
              <a:rPr lang="en-US" altLang="zh-CN" sz="2400">
                <a:solidFill>
                  <a:srgbClr val="000000"/>
                </a:solidFill>
                <a:latin typeface="楷体_GB2312"/>
              </a:rPr>
              <a:t>-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i</a:t>
            </a:r>
            <a:r>
              <a:rPr lang="en-US" altLang="zh-CN" sz="2400" baseline="-3000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n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=0  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zh-CN" altLang="en-US" sz="2400">
                <a:solidFill>
                  <a:srgbClr val="FF0000"/>
                </a:solidFill>
              </a:rPr>
              <a:t>虚断</a:t>
            </a:r>
            <a:r>
              <a:rPr lang="zh-CN" altLang="en-US" sz="2400"/>
              <a:t>）</a:t>
            </a:r>
            <a:endParaRPr lang="zh-CN" altLang="en-US" sz="2400"/>
          </a:p>
        </p:txBody>
      </p:sp>
      <p:graphicFrame>
        <p:nvGraphicFramePr>
          <p:cNvPr id="7" name="Object 41"/>
          <p:cNvGraphicFramePr>
            <a:graphicFrameLocks noChangeAspect="1"/>
          </p:cNvGraphicFramePr>
          <p:nvPr/>
        </p:nvGraphicFramePr>
        <p:xfrm>
          <a:off x="992188" y="3649055"/>
          <a:ext cx="3321050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53" name="Equation" r:id="rId3" imgW="1435100" imgH="381000" progId="Equation.3">
                  <p:embed/>
                </p:oleObj>
              </mc:Choice>
              <mc:Fallback>
                <p:oleObj name="Equation" r:id="rId3" imgW="1435100" imgH="381000" progId="Equation.3">
                  <p:embed/>
                  <p:pic>
                    <p:nvPicPr>
                      <p:cNvPr id="0" name="图片 393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188" y="3649055"/>
                        <a:ext cx="3321050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2"/>
          <p:cNvSpPr>
            <a:spLocks noChangeArrowheads="1"/>
          </p:cNvSpPr>
          <p:nvPr/>
        </p:nvSpPr>
        <p:spPr bwMode="auto">
          <a:xfrm>
            <a:off x="647700" y="3231542"/>
            <a:ext cx="11430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</a:rPr>
              <a:t>所以</a:t>
            </a:r>
            <a:endParaRPr lang="zh-CN" altLang="en-US" sz="2400">
              <a:solidFill>
                <a:srgbClr val="000000"/>
              </a:solidFill>
              <a:ea typeface="华康简宋"/>
              <a:cs typeface="华康简宋"/>
            </a:endParaRPr>
          </a:p>
        </p:txBody>
      </p:sp>
      <p:graphicFrame>
        <p:nvGraphicFramePr>
          <p:cNvPr id="9" name="Object 43"/>
          <p:cNvGraphicFramePr>
            <a:graphicFrameLocks noChangeAspect="1"/>
          </p:cNvGraphicFramePr>
          <p:nvPr/>
        </p:nvGraphicFramePr>
        <p:xfrm>
          <a:off x="935038" y="4638067"/>
          <a:ext cx="35528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54" name="Equation" r:id="rId5" imgW="1524000" imgH="381000" progId="Equation.3">
                  <p:embed/>
                </p:oleObj>
              </mc:Choice>
              <mc:Fallback>
                <p:oleObj name="Equation" r:id="rId5" imgW="1524000" imgH="381000" progId="Equation.3">
                  <p:embed/>
                  <p:pic>
                    <p:nvPicPr>
                      <p:cNvPr id="0" name="图片 393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038" y="4638067"/>
                        <a:ext cx="3552825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44"/>
          <p:cNvSpPr>
            <a:spLocks noChangeArrowheads="1"/>
          </p:cNvSpPr>
          <p:nvPr/>
        </p:nvSpPr>
        <p:spPr bwMode="auto">
          <a:xfrm>
            <a:off x="1198563" y="5527067"/>
            <a:ext cx="4008437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FF0000"/>
                </a:solidFill>
              </a:rPr>
              <a:t>（可作为公式直接使用）</a:t>
            </a:r>
            <a:endParaRPr lang="zh-CN" altLang="en-US" sz="2400">
              <a:solidFill>
                <a:srgbClr val="FF0000"/>
              </a:solidFill>
              <a:ea typeface="华康简宋"/>
              <a:cs typeface="华康简宋"/>
            </a:endParaRPr>
          </a:p>
        </p:txBody>
      </p:sp>
      <p:sp>
        <p:nvSpPr>
          <p:cNvPr id="11" name="Rectangle 45"/>
          <p:cNvSpPr>
            <a:spLocks noChangeArrowheads="1"/>
          </p:cNvSpPr>
          <p:nvPr/>
        </p:nvSpPr>
        <p:spPr bwMode="auto">
          <a:xfrm>
            <a:off x="4716463" y="4266592"/>
            <a:ext cx="417512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10000"/>
              </a:lnSpc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altLang="zh-CN" sz="2400">
                <a:solidFill>
                  <a:srgbClr val="000000"/>
                </a:solidFill>
              </a:rPr>
              <a:t> </a:t>
            </a:r>
            <a:r>
              <a:rPr lang="zh-CN" altLang="en-US" sz="2400">
                <a:solidFill>
                  <a:srgbClr val="000000"/>
                </a:solidFill>
              </a:rPr>
              <a:t>为什么称为同相放大电路？</a:t>
            </a: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468313" y="80628"/>
            <a:ext cx="50768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sz="3200" dirty="0" smtClean="0">
                <a:solidFill>
                  <a:srgbClr val="0000CC"/>
                </a:solidFill>
              </a:rPr>
              <a:t>2.3.1  </a:t>
            </a:r>
            <a:r>
              <a:rPr kumimoji="1" lang="zh-CN" altLang="en-US" sz="3200" dirty="0">
                <a:solidFill>
                  <a:srgbClr val="0000CC"/>
                </a:solidFill>
              </a:rPr>
              <a:t>同相放大电路</a:t>
            </a:r>
            <a:endParaRPr kumimoji="1" lang="zh-CN" altLang="en-US" sz="32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8" grpId="0" autoUpdateAnimBg="0"/>
      <p:bldP spid="10" grpId="0" autoUpdateAnimBg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9" name="Object 17"/>
          <p:cNvGraphicFramePr>
            <a:graphicFrameLocks noChangeAspect="1"/>
          </p:cNvGraphicFramePr>
          <p:nvPr/>
        </p:nvGraphicFramePr>
        <p:xfrm>
          <a:off x="3671888" y="756989"/>
          <a:ext cx="5275262" cy="400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73" name="图片" r:id="rId1" imgW="3516630" imgH="2673350" progId="Word.Picture.8">
                  <p:embed/>
                </p:oleObj>
              </mc:Choice>
              <mc:Fallback>
                <p:oleObj name="图片" r:id="rId1" imgW="3516630" imgH="2673350" progId="Word.Picture.8">
                  <p:embed/>
                  <p:pic>
                    <p:nvPicPr>
                      <p:cNvPr id="0" name="图片 403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756989"/>
                        <a:ext cx="5275262" cy="400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2"/>
          <p:cNvGraphicFramePr>
            <a:graphicFrameLocks noChangeAspect="1"/>
          </p:cNvGraphicFramePr>
          <p:nvPr/>
        </p:nvGraphicFramePr>
        <p:xfrm>
          <a:off x="660400" y="4796433"/>
          <a:ext cx="5927725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74" name="公式" r:id="rId3" imgW="3289300" imgH="838200" progId="Equation.3">
                  <p:embed/>
                </p:oleObj>
              </mc:Choice>
              <mc:Fallback>
                <p:oleObj name="公式" r:id="rId3" imgW="3289300" imgH="838200" progId="Equation.3">
                  <p:embed/>
                  <p:pic>
                    <p:nvPicPr>
                      <p:cNvPr id="0" name="图片 403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" y="4796433"/>
                        <a:ext cx="5927725" cy="1512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Rectangle 14"/>
          <p:cNvSpPr>
            <a:spLocks noChangeArrowheads="1"/>
          </p:cNvSpPr>
          <p:nvPr/>
        </p:nvSpPr>
        <p:spPr bwMode="auto">
          <a:xfrm>
            <a:off x="468313" y="1269008"/>
            <a:ext cx="3095625" cy="237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25000"/>
              </a:lnSpc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altLang="zh-CN" sz="2400">
                <a:solidFill>
                  <a:srgbClr val="000000"/>
                </a:solidFill>
              </a:rPr>
              <a:t> </a:t>
            </a:r>
            <a:r>
              <a:rPr lang="zh-CN" altLang="en-US" sz="2400">
                <a:solidFill>
                  <a:srgbClr val="000000"/>
                </a:solidFill>
              </a:rPr>
              <a:t>用理想运放模型带来的误差有多少？</a:t>
            </a:r>
            <a:r>
              <a:rPr lang="en-US" altLang="zh-CN" sz="2400">
                <a:solidFill>
                  <a:srgbClr val="000000"/>
                </a:solidFill>
                <a:latin typeface="楷体_GB2312"/>
              </a:rPr>
              <a:t>(</a:t>
            </a:r>
            <a:r>
              <a:rPr lang="zh-CN" altLang="en-US" sz="2400">
                <a:solidFill>
                  <a:srgbClr val="000000"/>
                </a:solidFill>
              </a:rPr>
              <a:t>设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A</a:t>
            </a:r>
            <a:r>
              <a:rPr lang="en-US" altLang="zh-CN" sz="2400" i="1" baseline="-30000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o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CN" sz="2400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=10</a:t>
            </a:r>
            <a:r>
              <a:rPr lang="en-US" altLang="zh-CN" sz="2400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Ω,    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=100Ω,</a:t>
            </a:r>
            <a:r>
              <a:rPr lang="en-US" altLang="zh-CN" sz="2400">
                <a:solidFill>
                  <a:srgbClr val="000000"/>
                </a:solidFill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=1kΩ,   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=49kΩ</a:t>
            </a:r>
            <a:r>
              <a:rPr lang="en-US" altLang="zh-CN" sz="2400">
                <a:solidFill>
                  <a:srgbClr val="000000"/>
                </a:solidFill>
                <a:latin typeface="楷体_GB2312"/>
              </a:rPr>
              <a:t>)</a:t>
            </a:r>
            <a:endParaRPr lang="en-US" altLang="zh-CN" sz="2400">
              <a:solidFill>
                <a:srgbClr val="000000"/>
              </a:solidFill>
              <a:latin typeface="楷体_GB231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395288" y="3756620"/>
            <a:ext cx="3446462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采用实际运放模型的</a:t>
            </a:r>
            <a:r>
              <a:rPr lang="zh-CN" altLang="en-US" sz="2400">
                <a:solidFill>
                  <a:srgbClr val="000000"/>
                </a:solidFill>
                <a:latin typeface="楷体_GB2312"/>
              </a:rPr>
              <a:t>电压增益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A</a:t>
            </a:r>
            <a:r>
              <a:rPr lang="en-US" altLang="zh-CN" sz="2400" i="1" baseline="-30000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>
                <a:solidFill>
                  <a:srgbClr val="000000"/>
                </a:solidFill>
                <a:latin typeface="楷体_GB2312"/>
              </a:rPr>
              <a:t> </a:t>
            </a:r>
            <a:endParaRPr lang="en-US" altLang="zh-CN" sz="2400">
              <a:solidFill>
                <a:srgbClr val="000000"/>
              </a:solidFill>
              <a:latin typeface="楷体_GB2312"/>
            </a:endParaRPr>
          </a:p>
        </p:txBody>
      </p:sp>
      <p:graphicFrame>
        <p:nvGraphicFramePr>
          <p:cNvPr id="7" name="Object 23"/>
          <p:cNvGraphicFramePr>
            <a:graphicFrameLocks noChangeAspect="1"/>
          </p:cNvGraphicFramePr>
          <p:nvPr/>
        </p:nvGraphicFramePr>
        <p:xfrm>
          <a:off x="6615113" y="5375870"/>
          <a:ext cx="1052512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75" name="公式" r:id="rId5" imgW="583565" imgH="177800" progId="Equation.3">
                  <p:embed/>
                </p:oleObj>
              </mc:Choice>
              <mc:Fallback>
                <p:oleObj name="公式" r:id="rId5" imgW="583565" imgH="177800" progId="Equation.3">
                  <p:embed/>
                  <p:pic>
                    <p:nvPicPr>
                      <p:cNvPr id="0" name="图片 403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5113" y="5375870"/>
                        <a:ext cx="1052512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Rectangle 38"/>
          <p:cNvSpPr>
            <a:spLocks noChangeArrowheads="1"/>
          </p:cNvSpPr>
          <p:nvPr/>
        </p:nvSpPr>
        <p:spPr bwMode="auto">
          <a:xfrm>
            <a:off x="404813" y="743806"/>
            <a:ext cx="384333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FF"/>
              </a:buClr>
              <a:buSzPct val="85000"/>
              <a:buFont typeface="Monotype Sorts"/>
              <a:buNone/>
            </a:pPr>
            <a:r>
              <a:rPr lang="zh-CN" altLang="en-US" sz="2600" dirty="0">
                <a:solidFill>
                  <a:srgbClr val="000000"/>
                </a:solidFill>
                <a:latin typeface="楷体_GB2312"/>
              </a:rPr>
              <a:t>指标分析</a:t>
            </a:r>
            <a:endParaRPr lang="zh-CN" altLang="en-US" sz="2600" dirty="0">
              <a:solidFill>
                <a:srgbClr val="000000"/>
              </a:solidFill>
              <a:latin typeface="楷体_GB231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468313" y="80628"/>
            <a:ext cx="50768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sz="3200" dirty="0" smtClean="0">
                <a:solidFill>
                  <a:srgbClr val="0000CC"/>
                </a:solidFill>
              </a:rPr>
              <a:t>2.3.1  </a:t>
            </a:r>
            <a:r>
              <a:rPr kumimoji="1" lang="zh-CN" altLang="en-US" sz="3200" dirty="0">
                <a:solidFill>
                  <a:srgbClr val="0000CC"/>
                </a:solidFill>
              </a:rPr>
              <a:t>同相放大电路</a:t>
            </a:r>
            <a:endParaRPr kumimoji="1" lang="zh-CN" altLang="en-US" sz="32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8"/>
          <p:cNvSpPr>
            <a:spLocks noChangeArrowheads="1"/>
          </p:cNvSpPr>
          <p:nvPr/>
        </p:nvSpPr>
        <p:spPr bwMode="auto">
          <a:xfrm>
            <a:off x="404813" y="741585"/>
            <a:ext cx="384333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FF"/>
              </a:buClr>
              <a:buSzPct val="85000"/>
              <a:buFont typeface="Monotype Sorts"/>
              <a:buNone/>
            </a:pPr>
            <a:r>
              <a:rPr lang="zh-CN" altLang="en-US" sz="2600">
                <a:solidFill>
                  <a:srgbClr val="000000"/>
                </a:solidFill>
                <a:latin typeface="楷体_GB2312"/>
              </a:rPr>
              <a:t>指标分析</a:t>
            </a:r>
            <a:endParaRPr lang="zh-CN" altLang="en-US" sz="2600">
              <a:solidFill>
                <a:srgbClr val="000000"/>
              </a:solidFill>
              <a:latin typeface="楷体_GB2312"/>
            </a:endParaRPr>
          </a:p>
        </p:txBody>
      </p:sp>
      <p:sp>
        <p:nvSpPr>
          <p:cNvPr id="25604" name="Rectangle 9"/>
          <p:cNvSpPr>
            <a:spLocks noChangeArrowheads="1"/>
          </p:cNvSpPr>
          <p:nvPr/>
        </p:nvSpPr>
        <p:spPr bwMode="auto">
          <a:xfrm>
            <a:off x="468313" y="1271810"/>
            <a:ext cx="82073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25000"/>
              </a:lnSpc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altLang="zh-CN" sz="2400">
                <a:solidFill>
                  <a:srgbClr val="000000"/>
                </a:solidFill>
              </a:rPr>
              <a:t> </a:t>
            </a:r>
            <a:r>
              <a:rPr lang="zh-CN" altLang="en-US" sz="2400">
                <a:solidFill>
                  <a:srgbClr val="000000"/>
                </a:solidFill>
              </a:rPr>
              <a:t>用理想运放模型带来的误差有多少？</a:t>
            </a:r>
            <a:r>
              <a:rPr lang="en-US" altLang="zh-CN" sz="2400">
                <a:solidFill>
                  <a:srgbClr val="000000"/>
                </a:solidFill>
                <a:latin typeface="楷体_GB2312"/>
              </a:rPr>
              <a:t>(</a:t>
            </a:r>
            <a:r>
              <a:rPr lang="zh-CN" altLang="en-US" sz="2400">
                <a:solidFill>
                  <a:srgbClr val="000000"/>
                </a:solidFill>
              </a:rPr>
              <a:t>设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A</a:t>
            </a:r>
            <a:r>
              <a:rPr lang="en-US" altLang="zh-CN" sz="2400" i="1" baseline="-30000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o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CN" sz="2400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=10</a:t>
            </a:r>
            <a:r>
              <a:rPr lang="en-US" altLang="zh-CN" sz="2400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Ω,    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=100Ω,</a:t>
            </a:r>
            <a:r>
              <a:rPr lang="en-US" altLang="zh-CN" sz="2400">
                <a:solidFill>
                  <a:srgbClr val="000000"/>
                </a:solidFill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=1kΩ,   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=49kΩ</a:t>
            </a:r>
            <a:r>
              <a:rPr lang="en-US" altLang="zh-CN" sz="2400">
                <a:solidFill>
                  <a:srgbClr val="000000"/>
                </a:solidFill>
                <a:latin typeface="楷体_GB2312"/>
              </a:rPr>
              <a:t>)</a:t>
            </a:r>
            <a:endParaRPr lang="en-US" altLang="zh-CN" sz="2400">
              <a:solidFill>
                <a:srgbClr val="000000"/>
              </a:solidFill>
              <a:latin typeface="楷体_GB2312"/>
            </a:endParaRPr>
          </a:p>
        </p:txBody>
      </p:sp>
      <p:sp>
        <p:nvSpPr>
          <p:cNvPr id="25605" name="Rectangle 10"/>
          <p:cNvSpPr>
            <a:spLocks noChangeArrowheads="1"/>
          </p:cNvSpPr>
          <p:nvPr/>
        </p:nvSpPr>
        <p:spPr bwMode="auto">
          <a:xfrm>
            <a:off x="468313" y="2316385"/>
            <a:ext cx="7056437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采用实际运放模型的</a:t>
            </a:r>
            <a:r>
              <a:rPr lang="zh-CN" altLang="en-US" sz="2400">
                <a:solidFill>
                  <a:srgbClr val="000000"/>
                </a:solidFill>
                <a:latin typeface="楷体_GB2312"/>
              </a:rPr>
              <a:t>电压增益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A</a:t>
            </a:r>
            <a:r>
              <a:rPr lang="en-US" altLang="zh-CN" sz="2400" i="1" baseline="-30000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 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 49.975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468313" y="2892648"/>
            <a:ext cx="4535487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采用理想运放模型的</a:t>
            </a:r>
            <a:r>
              <a:rPr lang="zh-CN" altLang="en-US" sz="2400">
                <a:solidFill>
                  <a:srgbClr val="000000"/>
                </a:solidFill>
                <a:latin typeface="楷体_GB2312"/>
              </a:rPr>
              <a:t>电压增益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7" name="Object 13"/>
          <p:cNvGraphicFramePr>
            <a:graphicFrameLocks noChangeAspect="1"/>
          </p:cNvGraphicFramePr>
          <p:nvPr/>
        </p:nvGraphicFramePr>
        <p:xfrm>
          <a:off x="4787900" y="2800573"/>
          <a:ext cx="2781300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7" name="公式" r:id="rId1" imgW="1396365" imgH="444500" progId="Equation.3">
                  <p:embed/>
                </p:oleObj>
              </mc:Choice>
              <mc:Fallback>
                <p:oleObj name="公式" r:id="rId1" imgW="1396365" imgH="444500" progId="Equation.3">
                  <p:embed/>
                  <p:pic>
                    <p:nvPicPr>
                      <p:cNvPr id="0" name="图片 41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800573"/>
                        <a:ext cx="2781300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5"/>
          <p:cNvSpPr>
            <a:spLocks noChangeArrowheads="1"/>
          </p:cNvSpPr>
          <p:nvPr/>
        </p:nvSpPr>
        <p:spPr bwMode="auto">
          <a:xfrm>
            <a:off x="503238" y="3505423"/>
            <a:ext cx="7056437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产生的相对误差约为 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0.05%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" name="Rectangle 16"/>
          <p:cNvSpPr>
            <a:spLocks noChangeArrowheads="1"/>
          </p:cNvSpPr>
          <p:nvPr/>
        </p:nvSpPr>
        <p:spPr bwMode="auto">
          <a:xfrm>
            <a:off x="647700" y="4188048"/>
            <a:ext cx="7885113" cy="1473200"/>
          </a:xfrm>
          <a:prstGeom prst="rect">
            <a:avLst/>
          </a:prstGeom>
          <a:solidFill>
            <a:srgbClr val="CCFFCC"/>
          </a:solidFill>
          <a:ln w="9525" cap="sq">
            <a:solidFill>
              <a:srgbClr val="FF66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25000"/>
              </a:lnSpc>
              <a:buClr>
                <a:srgbClr val="0000FF"/>
              </a:buClr>
              <a:buSzPct val="85000"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实际上，电阻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aseline="-300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如果用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E48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系列的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阻值，则会有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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2%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误差，所以用理想运放代替实际运放进行电路分析和设计完全可行。    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468313" y="80628"/>
            <a:ext cx="50768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sz="3200" dirty="0" smtClean="0">
                <a:solidFill>
                  <a:srgbClr val="0000CC"/>
                </a:solidFill>
              </a:rPr>
              <a:t>2.3.1  </a:t>
            </a:r>
            <a:r>
              <a:rPr kumimoji="1" lang="zh-CN" altLang="en-US" sz="3200" dirty="0">
                <a:solidFill>
                  <a:srgbClr val="0000CC"/>
                </a:solidFill>
              </a:rPr>
              <a:t>同相放大电路</a:t>
            </a:r>
            <a:endParaRPr kumimoji="1" lang="zh-CN" altLang="en-US" sz="32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8" grpId="0" autoUpdateAnimBg="0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9"/>
          <p:cNvSpPr>
            <a:spLocks noChangeArrowheads="1"/>
          </p:cNvSpPr>
          <p:nvPr/>
        </p:nvSpPr>
        <p:spPr bwMode="auto">
          <a:xfrm>
            <a:off x="419100" y="1246448"/>
            <a:ext cx="43434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）输入电阻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R</a:t>
            </a:r>
            <a:r>
              <a:rPr lang="en-US" altLang="zh-CN" sz="2400" baseline="-3000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i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Rectangle 30"/>
          <p:cNvSpPr>
            <a:spLocks noChangeArrowheads="1"/>
          </p:cNvSpPr>
          <p:nvPr/>
        </p:nvSpPr>
        <p:spPr bwMode="auto">
          <a:xfrm>
            <a:off x="825500" y="1745630"/>
            <a:ext cx="39624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输入电阻定义          </a:t>
            </a:r>
            <a:endParaRPr lang="zh-CN" altLang="en-US" sz="2400" dirty="0">
              <a:solidFill>
                <a:srgbClr val="000000"/>
              </a:solidFill>
              <a:ea typeface="华康简宋"/>
              <a:cs typeface="华康简宋"/>
            </a:endParaRPr>
          </a:p>
        </p:txBody>
      </p:sp>
      <p:graphicFrame>
        <p:nvGraphicFramePr>
          <p:cNvPr id="5" name="Object 31"/>
          <p:cNvGraphicFramePr>
            <a:graphicFrameLocks noChangeAspect="1"/>
          </p:cNvGraphicFramePr>
          <p:nvPr/>
        </p:nvGraphicFramePr>
        <p:xfrm>
          <a:off x="3008288" y="1664630"/>
          <a:ext cx="1057275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24" name="Equation" r:id="rId1" imgW="457200" imgH="381000" progId="Equation.3">
                  <p:embed/>
                </p:oleObj>
              </mc:Choice>
              <mc:Fallback>
                <p:oleObj name="Equation" r:id="rId1" imgW="457200" imgH="381000" progId="Equation.3">
                  <p:embed/>
                  <p:pic>
                    <p:nvPicPr>
                      <p:cNvPr id="0" name="图片 424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288" y="1664630"/>
                        <a:ext cx="1057275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2"/>
          <p:cNvSpPr>
            <a:spLocks noChangeArrowheads="1"/>
          </p:cNvSpPr>
          <p:nvPr/>
        </p:nvSpPr>
        <p:spPr bwMode="auto">
          <a:xfrm>
            <a:off x="749300" y="2456892"/>
            <a:ext cx="3962400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根据虚短和虚断有</a:t>
            </a:r>
            <a:endParaRPr lang="zh-CN" altLang="en-US" sz="2400" dirty="0">
              <a:solidFill>
                <a:srgbClr val="000000"/>
              </a:solidFill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       </a:t>
            </a:r>
            <a:r>
              <a:rPr lang="en-US" altLang="zh-CN" sz="2400" i="1" dirty="0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 dirty="0">
                <a:solidFill>
                  <a:srgbClr val="000000"/>
                </a:solidFill>
                <a:ea typeface="华康简宋"/>
                <a:cs typeface="华康简宋"/>
              </a:rPr>
              <a:t>i</a:t>
            </a:r>
            <a:r>
              <a:rPr lang="zh-CN" altLang="en-US" sz="2400" dirty="0">
                <a:solidFill>
                  <a:srgbClr val="000000"/>
                </a:solidFill>
                <a:ea typeface="华康简宋"/>
                <a:cs typeface="华康简宋"/>
              </a:rPr>
              <a:t>＝</a:t>
            </a:r>
            <a:r>
              <a:rPr lang="en-US" altLang="zh-CN" sz="2400" i="1" dirty="0" err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 dirty="0" err="1">
                <a:solidFill>
                  <a:srgbClr val="000000"/>
                </a:solidFill>
                <a:ea typeface="华康简宋"/>
                <a:cs typeface="华康简宋"/>
              </a:rPr>
              <a:t>p</a:t>
            </a:r>
            <a:r>
              <a:rPr lang="zh-CN" altLang="en-US" sz="2400" dirty="0">
                <a:solidFill>
                  <a:srgbClr val="000000"/>
                </a:solidFill>
                <a:ea typeface="华康简宋"/>
                <a:cs typeface="华康简宋"/>
              </a:rPr>
              <a:t>，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i</a:t>
            </a:r>
            <a:r>
              <a:rPr lang="en-US" altLang="zh-CN" sz="2400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i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＝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i</a:t>
            </a:r>
            <a:r>
              <a:rPr lang="en-US" altLang="zh-CN" sz="2400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p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≈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0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华康简宋"/>
              <a:cs typeface="华康简宋"/>
            </a:endParaRPr>
          </a:p>
        </p:txBody>
      </p:sp>
      <p:grpSp>
        <p:nvGrpSpPr>
          <p:cNvPr id="7" name="Group 33"/>
          <p:cNvGrpSpPr/>
          <p:nvPr/>
        </p:nvGrpSpPr>
        <p:grpSpPr bwMode="auto">
          <a:xfrm>
            <a:off x="825500" y="3575261"/>
            <a:ext cx="2589213" cy="887413"/>
            <a:chOff x="336" y="2688"/>
            <a:chExt cx="1631" cy="559"/>
          </a:xfrm>
        </p:grpSpPr>
        <p:sp>
          <p:nvSpPr>
            <p:cNvPr id="26641" name="Rectangle 34"/>
            <p:cNvSpPr>
              <a:spLocks noChangeArrowheads="1"/>
            </p:cNvSpPr>
            <p:nvPr/>
          </p:nvSpPr>
          <p:spPr bwMode="auto">
            <a:xfrm>
              <a:off x="336" y="2736"/>
              <a:ext cx="72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6200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811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>
                  <a:srgbClr val="FF0000"/>
                </a:buClr>
                <a:buSzPct val="85000"/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000000"/>
                  </a:solidFill>
                </a:rPr>
                <a:t>所以</a:t>
              </a:r>
              <a:endParaRPr lang="zh-CN" altLang="en-US" sz="2400">
                <a:solidFill>
                  <a:srgbClr val="000000"/>
                </a:solidFill>
                <a:ea typeface="华康简宋"/>
                <a:cs typeface="华康简宋"/>
              </a:endParaRPr>
            </a:p>
          </p:txBody>
        </p:sp>
        <p:graphicFrame>
          <p:nvGraphicFramePr>
            <p:cNvPr id="26642" name="Object 35"/>
            <p:cNvGraphicFramePr>
              <a:graphicFrameLocks noChangeAspect="1"/>
            </p:cNvGraphicFramePr>
            <p:nvPr/>
          </p:nvGraphicFramePr>
          <p:xfrm>
            <a:off x="912" y="2688"/>
            <a:ext cx="1055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425" name="Equation" r:id="rId3" imgW="723900" imgH="381000" progId="Equation.3">
                    <p:embed/>
                  </p:oleObj>
                </mc:Choice>
                <mc:Fallback>
                  <p:oleObj name="Equation" r:id="rId3" imgW="723900" imgH="381000" progId="Equation.3">
                    <p:embed/>
                    <p:pic>
                      <p:nvPicPr>
                        <p:cNvPr id="0" name="图片 424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688"/>
                          <a:ext cx="1055" cy="5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Rectangle 36"/>
          <p:cNvSpPr>
            <a:spLocks noChangeArrowheads="1"/>
          </p:cNvSpPr>
          <p:nvPr/>
        </p:nvSpPr>
        <p:spPr bwMode="auto">
          <a:xfrm>
            <a:off x="571500" y="4555157"/>
            <a:ext cx="43434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）输出电阻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Rectangle 37"/>
          <p:cNvSpPr>
            <a:spLocks noChangeArrowheads="1"/>
          </p:cNvSpPr>
          <p:nvPr/>
        </p:nvSpPr>
        <p:spPr bwMode="auto">
          <a:xfrm>
            <a:off x="3492500" y="4509120"/>
            <a:ext cx="15240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R</a:t>
            </a:r>
            <a:r>
              <a:rPr lang="en-US" altLang="zh-CN" sz="2400" baseline="-3000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o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0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华康简宋"/>
              <a:cs typeface="华康简宋"/>
            </a:endParaRPr>
          </a:p>
        </p:txBody>
      </p:sp>
      <p:graphicFrame>
        <p:nvGraphicFramePr>
          <p:cNvPr id="26634" name="Object 38"/>
          <p:cNvGraphicFramePr>
            <a:graphicFrameLocks noChangeAspect="1"/>
          </p:cNvGraphicFramePr>
          <p:nvPr/>
        </p:nvGraphicFramePr>
        <p:xfrm>
          <a:off x="4608513" y="873125"/>
          <a:ext cx="4357687" cy="308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26" name="图片" r:id="rId5" imgW="2420620" imgH="1718945" progId="Word.Picture.8">
                  <p:embed/>
                </p:oleObj>
              </mc:Choice>
              <mc:Fallback>
                <p:oleObj name="图片" r:id="rId5" imgW="2420620" imgH="1718945" progId="Word.Picture.8">
                  <p:embed/>
                  <p:pic>
                    <p:nvPicPr>
                      <p:cNvPr id="0" name="图片 424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513" y="873125"/>
                        <a:ext cx="4357687" cy="308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43"/>
          <p:cNvGrpSpPr/>
          <p:nvPr/>
        </p:nvGrpSpPr>
        <p:grpSpPr bwMode="auto">
          <a:xfrm>
            <a:off x="4895850" y="2565400"/>
            <a:ext cx="647700" cy="1752600"/>
            <a:chOff x="3084" y="1616"/>
            <a:chExt cx="408" cy="1104"/>
          </a:xfrm>
        </p:grpSpPr>
        <p:sp>
          <p:nvSpPr>
            <p:cNvPr id="26638" name="Line 40"/>
            <p:cNvSpPr>
              <a:spLocks noChangeShapeType="1"/>
            </p:cNvSpPr>
            <p:nvPr/>
          </p:nvSpPr>
          <p:spPr bwMode="auto">
            <a:xfrm>
              <a:off x="3334" y="1616"/>
              <a:ext cx="158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39" name="Line 41"/>
            <p:cNvSpPr>
              <a:spLocks noChangeShapeType="1"/>
            </p:cNvSpPr>
            <p:nvPr/>
          </p:nvSpPr>
          <p:spPr bwMode="auto">
            <a:xfrm>
              <a:off x="3334" y="1616"/>
              <a:ext cx="0" cy="102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40" name="Rectangle 42"/>
            <p:cNvSpPr>
              <a:spLocks noChangeArrowheads="1"/>
            </p:cNvSpPr>
            <p:nvPr/>
          </p:nvSpPr>
          <p:spPr bwMode="auto">
            <a:xfrm>
              <a:off x="3084" y="2432"/>
              <a:ext cx="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6200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811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>
                  <a:srgbClr val="FF0000"/>
                </a:buClr>
                <a:buSzPct val="85000"/>
                <a:buFont typeface="Wingdings" panose="05000000000000000000" pitchFamily="2" charset="2"/>
                <a:buNone/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华康简宋"/>
                  <a:cs typeface="华康简宋"/>
                </a:rPr>
                <a:t>R</a:t>
              </a:r>
              <a:r>
                <a:rPr lang="en-US" altLang="zh-CN" sz="2000" baseline="-30000">
                  <a:solidFill>
                    <a:srgbClr val="000000"/>
                  </a:solidFill>
                  <a:latin typeface="Times New Roman" panose="02020603050405020304" pitchFamily="18" charset="0"/>
                  <a:ea typeface="华康简宋"/>
                  <a:cs typeface="华康简宋"/>
                </a:rPr>
                <a:t>i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6636" name="Rectangle 38"/>
          <p:cNvSpPr>
            <a:spLocks noChangeArrowheads="1"/>
          </p:cNvSpPr>
          <p:nvPr/>
        </p:nvSpPr>
        <p:spPr bwMode="auto">
          <a:xfrm>
            <a:off x="404813" y="743806"/>
            <a:ext cx="384333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FF"/>
              </a:buClr>
              <a:buSzPct val="85000"/>
              <a:buFont typeface="Monotype Sorts"/>
              <a:buNone/>
            </a:pPr>
            <a:r>
              <a:rPr lang="zh-CN" altLang="en-US" sz="2600" dirty="0">
                <a:solidFill>
                  <a:srgbClr val="000000"/>
                </a:solidFill>
                <a:latin typeface="楷体_GB2312"/>
              </a:rPr>
              <a:t>指标分析</a:t>
            </a:r>
            <a:endParaRPr lang="zh-CN" altLang="en-US" sz="2600" dirty="0">
              <a:solidFill>
                <a:srgbClr val="000000"/>
              </a:solidFill>
              <a:latin typeface="楷体_GB2312"/>
            </a:endParaRPr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533017" y="5148796"/>
            <a:ext cx="8071431" cy="1052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540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88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60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4180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4230" indent="-39878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     输入电阻趋于无穷大；输出电阻趋于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0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，因此带负载能力强，所带负载电阻大小不影响其运算关系。</a:t>
            </a:r>
            <a:endParaRPr kumimoji="1"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468313" y="80628"/>
            <a:ext cx="50768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sz="3200" dirty="0" smtClean="0">
                <a:solidFill>
                  <a:srgbClr val="0000CC"/>
                </a:solidFill>
              </a:rPr>
              <a:t>2.3.1  </a:t>
            </a:r>
            <a:r>
              <a:rPr kumimoji="1" lang="zh-CN" altLang="en-US" sz="3200" dirty="0">
                <a:solidFill>
                  <a:srgbClr val="0000CC"/>
                </a:solidFill>
              </a:rPr>
              <a:t>同相放大电路</a:t>
            </a:r>
            <a:endParaRPr kumimoji="1" lang="zh-CN" altLang="en-US" sz="32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10" grpId="0" autoUpdateAnimBg="0"/>
      <p:bldP spid="11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0" y="2938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1" name="Rectangle 7"/>
          <p:cNvSpPr>
            <a:spLocks noChangeArrowheads="1"/>
          </p:cNvSpPr>
          <p:nvPr/>
        </p:nvSpPr>
        <p:spPr bwMode="auto">
          <a:xfrm>
            <a:off x="0" y="2828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2" name="Rectangle 9"/>
          <p:cNvSpPr>
            <a:spLocks noChangeArrowheads="1"/>
          </p:cNvSpPr>
          <p:nvPr/>
        </p:nvSpPr>
        <p:spPr bwMode="auto">
          <a:xfrm>
            <a:off x="0" y="2943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00110" name="Object 14"/>
          <p:cNvGraphicFramePr>
            <a:graphicFrameLocks noChangeAspect="1"/>
          </p:cNvGraphicFramePr>
          <p:nvPr/>
        </p:nvGraphicFramePr>
        <p:xfrm>
          <a:off x="1828800" y="4275138"/>
          <a:ext cx="2603500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42" name="Equation" r:id="rId1" imgW="914400" imgH="431800" progId="Equation.DSMT4">
                  <p:embed/>
                </p:oleObj>
              </mc:Choice>
              <mc:Fallback>
                <p:oleObj name="Equation" r:id="rId1" imgW="914400" imgH="431800" progId="Equation.DSMT4">
                  <p:embed/>
                  <p:pic>
                    <p:nvPicPr>
                      <p:cNvPr id="0" name="图片 434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275138"/>
                        <a:ext cx="2603500" cy="1222375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0111" name="Object 15"/>
          <p:cNvGraphicFramePr>
            <a:graphicFrameLocks noChangeAspect="1"/>
          </p:cNvGraphicFramePr>
          <p:nvPr/>
        </p:nvGraphicFramePr>
        <p:xfrm>
          <a:off x="647700" y="1382713"/>
          <a:ext cx="4743450" cy="289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43" name="图片" r:id="rId3" imgW="1977390" imgH="1209040" progId="Word.Picture.8">
                  <p:embed/>
                </p:oleObj>
              </mc:Choice>
              <mc:Fallback>
                <p:oleObj name="图片" r:id="rId3" imgW="1977390" imgH="1209040" progId="Word.Picture.8">
                  <p:embed/>
                  <p:pic>
                    <p:nvPicPr>
                      <p:cNvPr id="0" name="图片 434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1382713"/>
                        <a:ext cx="4743450" cy="289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00112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8" y="1425575"/>
            <a:ext cx="11747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0113" name="Picture 1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825" y="2154238"/>
            <a:ext cx="1022350" cy="1176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7" name="Rectangle 19"/>
          <p:cNvSpPr>
            <a:spLocks noChangeArrowheads="1"/>
          </p:cNvSpPr>
          <p:nvPr/>
        </p:nvSpPr>
        <p:spPr bwMode="auto">
          <a:xfrm>
            <a:off x="0" y="2943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00114" name="Object 18"/>
          <p:cNvGraphicFramePr>
            <a:graphicFrameLocks noChangeAspect="1"/>
          </p:cNvGraphicFramePr>
          <p:nvPr/>
        </p:nvGraphicFramePr>
        <p:xfrm>
          <a:off x="5391150" y="1985963"/>
          <a:ext cx="2987675" cy="190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44" name="图片" r:id="rId7" imgW="1533525" imgH="971550" progId="Word.Picture.8">
                  <p:embed/>
                </p:oleObj>
              </mc:Choice>
              <mc:Fallback>
                <p:oleObj name="图片" r:id="rId7" imgW="1533525" imgH="971550" progId="Word.Picture.8">
                  <p:embed/>
                  <p:pic>
                    <p:nvPicPr>
                      <p:cNvPr id="0" name="图片 434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1985963"/>
                        <a:ext cx="2987675" cy="190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0116" name="AutoShape 20"/>
          <p:cNvSpPr>
            <a:spLocks noChangeArrowheads="1"/>
          </p:cNvSpPr>
          <p:nvPr/>
        </p:nvSpPr>
        <p:spPr bwMode="auto">
          <a:xfrm>
            <a:off x="4700588" y="1985963"/>
            <a:ext cx="976312" cy="485775"/>
          </a:xfrm>
          <a:prstGeom prst="rightArrow">
            <a:avLst>
              <a:gd name="adj1" fmla="val 50000"/>
              <a:gd name="adj2" fmla="val 50245"/>
            </a:avLst>
          </a:prstGeom>
          <a:noFill/>
          <a:ln w="28575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61" name="Rectangle 11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468313" y="770414"/>
            <a:ext cx="805497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0000FF"/>
              </a:buClr>
              <a:buSzPct val="85000"/>
              <a:buFont typeface="Monotype Sorts"/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同相放大电路的一种特殊形式</a:t>
            </a:r>
            <a:r>
              <a:rPr lang="en-US" altLang="zh-CN" sz="26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——</a:t>
            </a:r>
            <a:r>
              <a:rPr lang="zh-CN" altLang="en-US" sz="26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电压跟随器</a:t>
            </a:r>
            <a:endParaRPr lang="zh-CN" altLang="en-US" sz="2600" b="1" dirty="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5543550" y="3789363"/>
            <a:ext cx="3065463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8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800" baseline="-30000">
                <a:solidFill>
                  <a:srgbClr val="000000"/>
                </a:solidFill>
                <a:ea typeface="华康简宋"/>
                <a:cs typeface="华康简宋"/>
              </a:rPr>
              <a:t>o</a:t>
            </a:r>
            <a:r>
              <a:rPr lang="zh-CN" altLang="en-US" sz="2800">
                <a:solidFill>
                  <a:srgbClr val="000000"/>
                </a:solidFill>
                <a:ea typeface="华康简宋"/>
                <a:cs typeface="华康简宋"/>
              </a:rPr>
              <a:t>＝</a:t>
            </a:r>
            <a:r>
              <a:rPr lang="en-US" altLang="zh-CN" sz="28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800" baseline="-30000">
                <a:solidFill>
                  <a:srgbClr val="000000"/>
                </a:solidFill>
                <a:ea typeface="华康简宋"/>
                <a:cs typeface="华康简宋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</a:rPr>
              <a:t>≈ </a:t>
            </a:r>
            <a:r>
              <a:rPr lang="en-US" altLang="zh-CN" sz="28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800" baseline="-30000">
                <a:solidFill>
                  <a:srgbClr val="000000"/>
                </a:solidFill>
                <a:ea typeface="华康简宋"/>
                <a:cs typeface="华康简宋"/>
              </a:rPr>
              <a:t>p</a:t>
            </a:r>
            <a:r>
              <a:rPr lang="zh-CN" altLang="en-US" sz="2800">
                <a:solidFill>
                  <a:srgbClr val="000000"/>
                </a:solidFill>
                <a:ea typeface="华康简宋"/>
                <a:cs typeface="华康简宋"/>
              </a:rPr>
              <a:t>＝ </a:t>
            </a:r>
            <a:r>
              <a:rPr lang="en-US" altLang="zh-CN" sz="28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800" baseline="-30000">
                <a:solidFill>
                  <a:srgbClr val="000000"/>
                </a:solidFill>
                <a:ea typeface="华康简宋"/>
                <a:cs typeface="华康简宋"/>
              </a:rPr>
              <a:t>i</a:t>
            </a:r>
            <a:endParaRPr lang="en-US" altLang="zh-CN" sz="2800" baseline="-30000">
              <a:solidFill>
                <a:srgbClr val="000000"/>
              </a:solidFill>
              <a:ea typeface="华康简宋"/>
              <a:cs typeface="华康简宋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468313" y="80628"/>
            <a:ext cx="50768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sz="3200" dirty="0" smtClean="0">
                <a:solidFill>
                  <a:srgbClr val="0000CC"/>
                </a:solidFill>
              </a:rPr>
              <a:t>2.3.1  </a:t>
            </a:r>
            <a:r>
              <a:rPr kumimoji="1" lang="zh-CN" altLang="en-US" sz="3200" dirty="0">
                <a:solidFill>
                  <a:srgbClr val="0000CC"/>
                </a:solidFill>
              </a:rPr>
              <a:t>同相放大电路</a:t>
            </a:r>
            <a:endParaRPr kumimoji="1" lang="zh-CN" altLang="en-US" sz="32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0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00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0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0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00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0116" grpId="0" animBg="1"/>
      <p:bldP spid="1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4356100" y="1508150"/>
          <a:ext cx="3843338" cy="212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69" name="图片" r:id="rId1" imgW="2134870" imgH="1184275" progId="Word.Picture.8">
                  <p:embed/>
                </p:oleObj>
              </mc:Choice>
              <mc:Fallback>
                <p:oleObj name="图片" r:id="rId1" imgW="2134870" imgH="1184275" progId="Word.Picture.8">
                  <p:embed/>
                  <p:pic>
                    <p:nvPicPr>
                      <p:cNvPr id="0" name="图片 444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508150"/>
                        <a:ext cx="3843338" cy="212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1042988" y="1149375"/>
          <a:ext cx="2673350" cy="269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70" name="图片" r:id="rId3" imgW="1487170" imgH="1499235" progId="Word.Picture.8">
                  <p:embed/>
                </p:oleObj>
              </mc:Choice>
              <mc:Fallback>
                <p:oleObj name="图片" r:id="rId3" imgW="1487170" imgH="1499235" progId="Word.Picture.8">
                  <p:embed/>
                  <p:pic>
                    <p:nvPicPr>
                      <p:cNvPr id="0" name="图片 444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149375"/>
                        <a:ext cx="2673350" cy="2690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481013" y="3776687"/>
            <a:ext cx="380365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</a:rPr>
              <a:t>无电压跟随器时</a:t>
            </a:r>
            <a:endParaRPr lang="zh-CN" altLang="en-US" sz="2400">
              <a:solidFill>
                <a:srgbClr val="000000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</a:rPr>
              <a:t>        负载上得到的电压</a:t>
            </a:r>
            <a:endParaRPr lang="zh-CN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6" name="Object 9"/>
          <p:cNvGraphicFramePr>
            <a:graphicFrameLocks noChangeAspect="1"/>
          </p:cNvGraphicFramePr>
          <p:nvPr/>
        </p:nvGraphicFramePr>
        <p:xfrm>
          <a:off x="1503363" y="4713312"/>
          <a:ext cx="245745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71" name="公式" r:id="rId5" imgW="1371600" imgH="850900" progId="Equation.3">
                  <p:embed/>
                </p:oleObj>
              </mc:Choice>
              <mc:Fallback>
                <p:oleObj name="公式" r:id="rId5" imgW="1371600" imgH="850900" progId="Equation.3">
                  <p:embed/>
                  <p:pic>
                    <p:nvPicPr>
                      <p:cNvPr id="0" name="图片 444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363" y="4713312"/>
                        <a:ext cx="245745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4800600" y="3890987"/>
            <a:ext cx="3335338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</a:rPr>
              <a:t>有电压跟随器时</a:t>
            </a: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580063" y="4848250"/>
            <a:ext cx="24384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i</a:t>
            </a:r>
            <a:r>
              <a:rPr lang="en-US" altLang="zh-CN" sz="2400" baseline="-30000">
                <a:solidFill>
                  <a:srgbClr val="000000"/>
                </a:solidFill>
                <a:ea typeface="华康简宋"/>
                <a:cs typeface="华康简宋"/>
              </a:rPr>
              <a:t>p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≈0</a:t>
            </a:r>
            <a:r>
              <a:rPr lang="zh-CN" altLang="en-US" sz="2400">
                <a:solidFill>
                  <a:srgbClr val="000000"/>
                </a:solidFill>
                <a:ea typeface="华康简宋"/>
                <a:cs typeface="华康简宋"/>
              </a:rPr>
              <a:t>，</a:t>
            </a:r>
            <a:r>
              <a:rPr lang="en-US" altLang="zh-CN" sz="24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>
                <a:solidFill>
                  <a:srgbClr val="000000"/>
                </a:solidFill>
                <a:ea typeface="华康简宋"/>
                <a:cs typeface="华康简宋"/>
              </a:rPr>
              <a:t>p</a:t>
            </a:r>
            <a:r>
              <a:rPr lang="zh-CN" altLang="en-US" sz="2400">
                <a:solidFill>
                  <a:srgbClr val="000000"/>
                </a:solidFill>
                <a:ea typeface="华康简宋"/>
                <a:cs typeface="华康简宋"/>
              </a:rPr>
              <a:t>＝</a:t>
            </a:r>
            <a:r>
              <a:rPr lang="en-US" altLang="zh-CN" sz="24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>
                <a:solidFill>
                  <a:srgbClr val="000000"/>
                </a:solidFill>
                <a:ea typeface="华康简宋"/>
                <a:cs typeface="华康简宋"/>
              </a:rPr>
              <a:t>s</a:t>
            </a:r>
            <a:endParaRPr lang="en-US" altLang="zh-CN" sz="2400">
              <a:solidFill>
                <a:srgbClr val="000000"/>
              </a:solidFill>
            </a:endParaRP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5259388" y="4345012"/>
            <a:ext cx="32004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</a:rPr>
              <a:t>根据虚短和虚断</a:t>
            </a: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5486400" y="5299100"/>
            <a:ext cx="26670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4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>
                <a:solidFill>
                  <a:srgbClr val="000000"/>
                </a:solidFill>
                <a:ea typeface="华康简宋"/>
                <a:cs typeface="华康简宋"/>
              </a:rPr>
              <a:t>o</a:t>
            </a:r>
            <a:r>
              <a:rPr lang="zh-CN" altLang="en-US" sz="2400">
                <a:solidFill>
                  <a:srgbClr val="000000"/>
                </a:solidFill>
                <a:ea typeface="华康简宋"/>
                <a:cs typeface="华康简宋"/>
              </a:rPr>
              <a:t>＝</a:t>
            </a:r>
            <a:r>
              <a:rPr lang="en-US" altLang="zh-CN" sz="24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>
                <a:solidFill>
                  <a:srgbClr val="000000"/>
                </a:solidFill>
                <a:ea typeface="华康简宋"/>
                <a:cs typeface="华康简宋"/>
              </a:rPr>
              <a:t>n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≈ </a:t>
            </a:r>
            <a:r>
              <a:rPr lang="en-US" altLang="zh-CN" sz="24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>
                <a:solidFill>
                  <a:srgbClr val="000000"/>
                </a:solidFill>
                <a:ea typeface="华康简宋"/>
                <a:cs typeface="华康简宋"/>
              </a:rPr>
              <a:t>p</a:t>
            </a:r>
            <a:r>
              <a:rPr lang="zh-CN" altLang="en-US" sz="2400">
                <a:solidFill>
                  <a:srgbClr val="000000"/>
                </a:solidFill>
                <a:ea typeface="华康简宋"/>
                <a:cs typeface="华康简宋"/>
              </a:rPr>
              <a:t>＝ </a:t>
            </a:r>
            <a:r>
              <a:rPr lang="en-US" altLang="zh-CN" sz="24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>
                <a:solidFill>
                  <a:srgbClr val="000000"/>
                </a:solidFill>
                <a:ea typeface="华康简宋"/>
                <a:cs typeface="华康简宋"/>
              </a:rPr>
              <a:t>s</a:t>
            </a:r>
            <a:endParaRPr lang="en-US" altLang="zh-CN" sz="2400" baseline="-30000">
              <a:solidFill>
                <a:srgbClr val="000000"/>
              </a:solidFill>
              <a:ea typeface="华康简宋"/>
              <a:cs typeface="华康简宋"/>
            </a:endParaRPr>
          </a:p>
        </p:txBody>
      </p:sp>
      <p:sp>
        <p:nvSpPr>
          <p:cNvPr id="28683" name="Rectangle 17"/>
          <p:cNvSpPr>
            <a:spLocks noChangeArrowheads="1"/>
          </p:cNvSpPr>
          <p:nvPr/>
        </p:nvSpPr>
        <p:spPr bwMode="auto">
          <a:xfrm>
            <a:off x="503238" y="715987"/>
            <a:ext cx="6335712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10000"/>
              </a:lnSpc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altLang="zh-CN" sz="2400">
                <a:solidFill>
                  <a:srgbClr val="000000"/>
                </a:solidFill>
              </a:rPr>
              <a:t> </a:t>
            </a:r>
            <a:r>
              <a:rPr lang="zh-CN" altLang="en-US" sz="2400">
                <a:solidFill>
                  <a:srgbClr val="000000"/>
                </a:solidFill>
              </a:rPr>
              <a:t>电压跟随器对电压增益有贡献吗？</a:t>
            </a: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5832475" y="2913087"/>
            <a:ext cx="17097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FF0000"/>
                </a:solidFill>
                <a:ea typeface="华康简宋"/>
                <a:cs typeface="华康简宋"/>
              </a:rPr>
              <a:t>隔离或缓冲</a:t>
            </a:r>
            <a:endParaRPr lang="zh-CN" altLang="en-US" sz="2000">
              <a:solidFill>
                <a:srgbClr val="FF0000"/>
              </a:solidFill>
              <a:ea typeface="华康简宋"/>
              <a:cs typeface="华康简宋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68313" y="80628"/>
            <a:ext cx="50768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sz="3200" dirty="0" smtClean="0">
                <a:solidFill>
                  <a:srgbClr val="0000CC"/>
                </a:solidFill>
              </a:rPr>
              <a:t>2.3.1  </a:t>
            </a:r>
            <a:r>
              <a:rPr kumimoji="1" lang="zh-CN" altLang="en-US" sz="3200" dirty="0">
                <a:solidFill>
                  <a:srgbClr val="0000CC"/>
                </a:solidFill>
              </a:rPr>
              <a:t>同相放大电路</a:t>
            </a:r>
            <a:endParaRPr kumimoji="1" lang="zh-CN" altLang="en-US" sz="32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2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7" descr="未命名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13" y="1096963"/>
            <a:ext cx="4429125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584200" y="813435"/>
            <a:ext cx="543718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0000FF"/>
              </a:buClr>
              <a:buSzPct val="85000"/>
              <a:buFont typeface="Monotype Sorts"/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同相放大电路的另一种接法 </a:t>
            </a:r>
            <a:endParaRPr lang="zh-CN" altLang="en-US" sz="2600" b="1" dirty="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29700" name="Rectangle 6"/>
          <p:cNvSpPr>
            <a:spLocks noChangeArrowheads="1"/>
          </p:cNvSpPr>
          <p:nvPr/>
        </p:nvSpPr>
        <p:spPr bwMode="auto">
          <a:xfrm>
            <a:off x="0" y="2700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1" name="Rectangle 9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02154" name="Object 10"/>
          <p:cNvGraphicFramePr>
            <a:graphicFrameLocks noChangeAspect="1"/>
          </p:cNvGraphicFramePr>
          <p:nvPr/>
        </p:nvGraphicFramePr>
        <p:xfrm>
          <a:off x="584200" y="1916113"/>
          <a:ext cx="3784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48" name="Equation" r:id="rId2" imgW="1892300" imgH="482600" progId="Equation.DSMT4">
                  <p:embed/>
                </p:oleObj>
              </mc:Choice>
              <mc:Fallback>
                <p:oleObj name="Equation" r:id="rId2" imgW="1892300" imgH="482600" progId="Equation.DSMT4">
                  <p:embed/>
                  <p:pic>
                    <p:nvPicPr>
                      <p:cNvPr id="0" name="图片 453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1916113"/>
                        <a:ext cx="3784600" cy="96520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4"/>
          <p:cNvSpPr>
            <a:spLocks noChangeArrowheads="1"/>
          </p:cNvSpPr>
          <p:nvPr/>
        </p:nvSpPr>
        <p:spPr bwMode="auto">
          <a:xfrm>
            <a:off x="2601913" y="3681413"/>
            <a:ext cx="11430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FF0000"/>
                </a:solidFill>
              </a:rPr>
              <a:t>?</a:t>
            </a:r>
            <a:endParaRPr lang="zh-CN" altLang="en-US" sz="2400">
              <a:solidFill>
                <a:srgbClr val="FF0000"/>
              </a:solidFill>
              <a:ea typeface="华康简宋"/>
              <a:cs typeface="华康简宋"/>
            </a:endParaRPr>
          </a:p>
        </p:txBody>
      </p:sp>
      <p:graphicFrame>
        <p:nvGraphicFramePr>
          <p:cNvPr id="14" name="Object 35"/>
          <p:cNvGraphicFramePr>
            <a:graphicFrameLocks noChangeAspect="1"/>
          </p:cNvGraphicFramePr>
          <p:nvPr/>
        </p:nvGraphicFramePr>
        <p:xfrm>
          <a:off x="684213" y="3500438"/>
          <a:ext cx="1674812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49" name="Equation" r:id="rId4" imgW="723900" imgH="381000" progId="Equation.3">
                  <p:embed/>
                </p:oleObj>
              </mc:Choice>
              <mc:Fallback>
                <p:oleObj name="Equation" r:id="rId4" imgW="723900" imgH="381000" progId="Equation.3">
                  <p:embed/>
                  <p:pic>
                    <p:nvPicPr>
                      <p:cNvPr id="0" name="图片 453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500438"/>
                        <a:ext cx="1674812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43"/>
          <p:cNvGrpSpPr/>
          <p:nvPr/>
        </p:nvGrpSpPr>
        <p:grpSpPr bwMode="auto">
          <a:xfrm>
            <a:off x="4537075" y="3332163"/>
            <a:ext cx="647700" cy="1752600"/>
            <a:chOff x="3084" y="1616"/>
            <a:chExt cx="408" cy="1104"/>
          </a:xfrm>
        </p:grpSpPr>
        <p:sp>
          <p:nvSpPr>
            <p:cNvPr id="29707" name="Line 40"/>
            <p:cNvSpPr>
              <a:spLocks noChangeShapeType="1"/>
            </p:cNvSpPr>
            <p:nvPr/>
          </p:nvSpPr>
          <p:spPr bwMode="auto">
            <a:xfrm>
              <a:off x="3334" y="1616"/>
              <a:ext cx="158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08" name="Line 41"/>
            <p:cNvSpPr>
              <a:spLocks noChangeShapeType="1"/>
            </p:cNvSpPr>
            <p:nvPr/>
          </p:nvSpPr>
          <p:spPr bwMode="auto">
            <a:xfrm>
              <a:off x="3334" y="1616"/>
              <a:ext cx="0" cy="102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09" name="Rectangle 42"/>
            <p:cNvSpPr>
              <a:spLocks noChangeArrowheads="1"/>
            </p:cNvSpPr>
            <p:nvPr/>
          </p:nvSpPr>
          <p:spPr bwMode="auto">
            <a:xfrm>
              <a:off x="3084" y="2432"/>
              <a:ext cx="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6200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811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>
                  <a:srgbClr val="FF0000"/>
                </a:buClr>
                <a:buSzPct val="85000"/>
                <a:buFont typeface="Wingdings" panose="05000000000000000000" pitchFamily="2" charset="2"/>
                <a:buNone/>
              </a:pPr>
              <a:r>
                <a:rPr lang="en-US" altLang="zh-CN" sz="2000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华康简宋"/>
                  <a:cs typeface="华康简宋"/>
                </a:rPr>
                <a:t>R</a:t>
              </a:r>
              <a:r>
                <a:rPr lang="en-US" altLang="zh-CN" sz="2000" baseline="-300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华康简宋"/>
                  <a:cs typeface="华康简宋"/>
                </a:rPr>
                <a:t>i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8313" y="80628"/>
            <a:ext cx="50768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sz="3200" dirty="0" smtClean="0">
                <a:solidFill>
                  <a:srgbClr val="0000CC"/>
                </a:solidFill>
              </a:rPr>
              <a:t>2.3.1  </a:t>
            </a:r>
            <a:r>
              <a:rPr kumimoji="1" lang="zh-CN" altLang="en-US" sz="3200" dirty="0">
                <a:solidFill>
                  <a:srgbClr val="0000CC"/>
                </a:solidFill>
              </a:rPr>
              <a:t>同相放大电路</a:t>
            </a:r>
            <a:endParaRPr kumimoji="1" lang="zh-CN" altLang="en-US" sz="3200" dirty="0">
              <a:solidFill>
                <a:srgbClr val="0000CC"/>
              </a:solidFill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720090" y="4832985"/>
          <a:ext cx="237934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6" imgW="2377440" imgH="692150" progId="Paint.Picture">
                  <p:embed/>
                </p:oleObj>
              </mc:Choice>
              <mc:Fallback>
                <p:oleObj name="" r:id="rId6" imgW="2377440" imgH="69215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20090" y="4832985"/>
                        <a:ext cx="2379345" cy="692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2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468313" y="80628"/>
            <a:ext cx="50768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sz="3200" dirty="0" smtClean="0">
                <a:solidFill>
                  <a:srgbClr val="0000CC"/>
                </a:solidFill>
              </a:rPr>
              <a:t>2.3.1  </a:t>
            </a:r>
            <a:r>
              <a:rPr kumimoji="1" lang="zh-CN" altLang="en-US" sz="3200" dirty="0">
                <a:solidFill>
                  <a:srgbClr val="0000CC"/>
                </a:solidFill>
              </a:rPr>
              <a:t>同相放大电路</a:t>
            </a:r>
            <a:endParaRPr kumimoji="1" lang="zh-CN" altLang="en-US" sz="3200" dirty="0">
              <a:solidFill>
                <a:srgbClr val="0000CC"/>
              </a:solidFill>
            </a:endParaRPr>
          </a:p>
        </p:txBody>
      </p:sp>
      <p:sp>
        <p:nvSpPr>
          <p:cNvPr id="3" name="Rectangle 38"/>
          <p:cNvSpPr>
            <a:spLocks noChangeArrowheads="1"/>
          </p:cNvSpPr>
          <p:nvPr/>
        </p:nvSpPr>
        <p:spPr bwMode="auto">
          <a:xfrm>
            <a:off x="468313" y="800708"/>
            <a:ext cx="8172139" cy="1505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85000"/>
              <a:buFont typeface="Monotype Sorts"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例：设对交流信号频率而言电容的阻抗很小，可视作短路。（</a:t>
            </a:r>
            <a:r>
              <a:rPr lang="en-US" altLang="zh-CN" sz="26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）求</a:t>
            </a:r>
            <a:r>
              <a:rPr lang="zh-CN" altLang="en-US" sz="26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电路的交流电压增益；（</a:t>
            </a:r>
            <a:r>
              <a:rPr lang="en-US" altLang="zh-CN" sz="26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）若</a:t>
            </a:r>
            <a:r>
              <a:rPr lang="en-US" altLang="zh-CN" sz="2600" i="1" dirty="0">
                <a:solidFill>
                  <a:srgbClr val="000000"/>
                </a:solidFill>
                <a:latin typeface="Book Antiqua" panose="0204060205030503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6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为直流电压，则电压增益又为多少？</a:t>
            </a:r>
            <a:endParaRPr lang="zh-CN" altLang="en-US" sz="260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832140" y="2039661"/>
          <a:ext cx="2929728" cy="2501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58" name="Picture" r:id="rId1" imgW="1461135" imgH="1248410" progId="Word.Picture.8">
                  <p:embed/>
                </p:oleObj>
              </mc:Choice>
              <mc:Fallback>
                <p:oleObj name="Picture" r:id="rId1" imgW="1461135" imgH="1248410" progId="Word.Pictur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140" y="2039661"/>
                        <a:ext cx="2929728" cy="25016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470377" y="2261694"/>
            <a:ext cx="4799356" cy="2186351"/>
            <a:chOff x="542132" y="2456892"/>
            <a:chExt cx="4799356" cy="2186351"/>
          </a:xfrm>
        </p:grpSpPr>
        <p:graphicFrame>
          <p:nvGraphicFramePr>
            <p:cNvPr id="7" name="对象 6"/>
            <p:cNvGraphicFramePr>
              <a:graphicFrameLocks noChangeAspect="1"/>
            </p:cNvGraphicFramePr>
            <p:nvPr/>
          </p:nvGraphicFramePr>
          <p:xfrm>
            <a:off x="2411760" y="2501255"/>
            <a:ext cx="2929728" cy="2141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59" name="Picture" r:id="rId3" imgW="1461135" imgH="1069340" progId="Word.Picture.8">
                    <p:embed/>
                  </p:oleObj>
                </mc:Choice>
                <mc:Fallback>
                  <p:oleObj name="Picture" r:id="rId3" imgW="1461135" imgH="1069340" progId="Word.Picture.8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1760" y="2501255"/>
                          <a:ext cx="2929728" cy="21419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542132" y="2456892"/>
              <a:ext cx="1981500" cy="5453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kumimoji="1" lang="zh-CN" altLang="en-US" sz="26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交流通路</a:t>
              </a:r>
              <a:endParaRPr kumimoji="1" lang="zh-CN" altLang="en-US" sz="26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39592" y="4689584"/>
            <a:ext cx="7719183" cy="1421266"/>
            <a:chOff x="539592" y="4689584"/>
            <a:chExt cx="7719183" cy="1421266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/>
          </p:nvGraphicFramePr>
          <p:xfrm>
            <a:off x="5148511" y="4689584"/>
            <a:ext cx="3110264" cy="1421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60" name="Picture" r:id="rId5" imgW="1550670" imgH="709295" progId="Word.Picture.8">
                    <p:embed/>
                  </p:oleObj>
                </mc:Choice>
                <mc:Fallback>
                  <p:oleObj name="Picture" r:id="rId5" imgW="1550670" imgH="709295" progId="Word.Picture.8">
                    <p:embed/>
                    <p:pic>
                      <p:nvPicPr>
                        <p:cNvPr id="0" name="Object 2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511" y="4689584"/>
                          <a:ext cx="3110264" cy="14212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15"/>
            <p:cNvSpPr>
              <a:spLocks noChangeArrowheads="1"/>
            </p:cNvSpPr>
            <p:nvPr/>
          </p:nvSpPr>
          <p:spPr bwMode="auto">
            <a:xfrm>
              <a:off x="539592" y="5409865"/>
              <a:ext cx="1981500" cy="5453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 algn="ctr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kumimoji="1" lang="zh-CN" altLang="en-US" sz="26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直流通路</a:t>
              </a:r>
              <a:endParaRPr kumimoji="1" lang="zh-CN" altLang="en-US" sz="26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aphicFrame>
        <p:nvGraphicFramePr>
          <p:cNvPr id="9" name="Object 43"/>
          <p:cNvGraphicFramePr>
            <a:graphicFrameLocks noChangeAspect="1"/>
          </p:cNvGraphicFramePr>
          <p:nvPr/>
        </p:nvGraphicFramePr>
        <p:xfrm>
          <a:off x="575628" y="4293262"/>
          <a:ext cx="35528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54" name="Equation" r:id="rId7" imgW="1524000" imgH="381000" progId="Equation.3">
                  <p:embed/>
                </p:oleObj>
              </mc:Choice>
              <mc:Fallback>
                <p:oleObj name="Equation" r:id="rId7" imgW="1524000" imgH="381000" progId="Equation.3">
                  <p:embed/>
                  <p:pic>
                    <p:nvPicPr>
                      <p:cNvPr id="0" name="图片 393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628" y="4293262"/>
                        <a:ext cx="3552825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2484120" y="5300980"/>
          <a:ext cx="1543685" cy="891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9" imgW="1542415" imgH="890905" progId="Paint.Picture">
                  <p:embed/>
                </p:oleObj>
              </mc:Choice>
              <mc:Fallback>
                <p:oleObj name="" r:id="rId9" imgW="1542415" imgH="890905" progId="Paint.Picture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84120" y="5300980"/>
                        <a:ext cx="1543685" cy="891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116013" y="1546225"/>
            <a:ext cx="5184775" cy="1471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40000"/>
              </a:lnSpc>
            </a:pPr>
            <a:r>
              <a:rPr lang="en-US" altLang="zh-CN" sz="3200" dirty="0" smtClean="0"/>
              <a:t>2.3.1 </a:t>
            </a:r>
            <a:r>
              <a:rPr lang="zh-CN" altLang="en-US" sz="3200" dirty="0"/>
              <a:t>同相放大电路	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>
                <a:solidFill>
                  <a:schemeClr val="accent2"/>
                </a:solidFill>
              </a:rPr>
              <a:t>2.3.2 </a:t>
            </a:r>
            <a:r>
              <a:rPr lang="zh-CN" altLang="en-US" sz="3200" dirty="0">
                <a:solidFill>
                  <a:schemeClr val="accent2"/>
                </a:solidFill>
              </a:rPr>
              <a:t>反相放大电路</a:t>
            </a:r>
            <a:endParaRPr lang="zh-CN" altLang="en-US" sz="3200" dirty="0">
              <a:solidFill>
                <a:schemeClr val="accent2"/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655676" y="36041"/>
            <a:ext cx="5461000" cy="72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600" dirty="0" smtClean="0">
                <a:solidFill>
                  <a:srgbClr val="0000CC"/>
                </a:solidFill>
              </a:rPr>
              <a:t>2.3  </a:t>
            </a:r>
            <a:r>
              <a:rPr lang="zh-CN" altLang="en-US" sz="3600" dirty="0" smtClean="0">
                <a:solidFill>
                  <a:srgbClr val="0000CC"/>
                </a:solidFill>
              </a:rPr>
              <a:t>基本</a:t>
            </a:r>
            <a:r>
              <a:rPr lang="zh-CN" altLang="en-US" sz="3600" dirty="0">
                <a:solidFill>
                  <a:srgbClr val="0000CC"/>
                </a:solidFill>
              </a:rPr>
              <a:t>线性运放电路</a:t>
            </a:r>
            <a:endParaRPr lang="zh-CN" altLang="en-US" sz="36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628800"/>
            <a:ext cx="6173061" cy="3620005"/>
          </a:xfrm>
          <a:prstGeom prst="rect">
            <a:avLst/>
          </a:prstGeom>
        </p:spPr>
      </p:pic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466725" y="103982"/>
            <a:ext cx="50768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sz="3200" dirty="0" smtClean="0">
                <a:solidFill>
                  <a:srgbClr val="0000CC"/>
                </a:solidFill>
              </a:rPr>
              <a:t>2.3.2  </a:t>
            </a:r>
            <a:r>
              <a:rPr kumimoji="1" lang="zh-CN" altLang="en-US" sz="3200" dirty="0">
                <a:solidFill>
                  <a:srgbClr val="0000CC"/>
                </a:solidFill>
              </a:rPr>
              <a:t>反相放大电路</a:t>
            </a:r>
            <a:endParaRPr kumimoji="1" lang="zh-CN" altLang="en-US" sz="3200" dirty="0">
              <a:solidFill>
                <a:srgbClr val="0000CC"/>
              </a:solidFill>
            </a:endParaRP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466725" y="749648"/>
            <a:ext cx="3492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>
                <a:solidFill>
                  <a:schemeClr val="accent2"/>
                </a:solidFill>
              </a:rPr>
              <a:t>1. </a:t>
            </a:r>
            <a:r>
              <a:rPr kumimoji="1" lang="zh-CN" altLang="en-US">
                <a:solidFill>
                  <a:schemeClr val="accent2"/>
                </a:solidFill>
              </a:rPr>
              <a:t>电路形式</a:t>
            </a:r>
            <a:r>
              <a:rPr kumimoji="1" lang="zh-CN" altLang="en-US"/>
              <a:t> </a:t>
            </a:r>
            <a:endParaRPr kumimoji="1" lang="zh-CN" altLang="en-US"/>
          </a:p>
        </p:txBody>
      </p:sp>
      <p:sp>
        <p:nvSpPr>
          <p:cNvPr id="903173" name="AutoShape 5"/>
          <p:cNvSpPr>
            <a:spLocks noChangeArrowheads="1"/>
          </p:cNvSpPr>
          <p:nvPr/>
        </p:nvSpPr>
        <p:spPr bwMode="auto">
          <a:xfrm>
            <a:off x="791580" y="2240868"/>
            <a:ext cx="1331664" cy="408623"/>
          </a:xfrm>
          <a:prstGeom prst="wedgeRoundRectCallout">
            <a:avLst>
              <a:gd name="adj1" fmla="val 21308"/>
              <a:gd name="adj2" fmla="val 164375"/>
              <a:gd name="adj3" fmla="val 16667"/>
            </a:avLst>
          </a:prstGeom>
          <a:noFill/>
          <a:ln w="28575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2400" b="1" dirty="0" smtClean="0">
                <a:latin typeface="Times New Roman" panose="02020603050405020304" pitchFamily="18" charset="0"/>
                <a:ea typeface="楷体_GB2312"/>
                <a:cs typeface="楷体_GB2312"/>
              </a:rPr>
              <a:t>输入信号 </a:t>
            </a:r>
            <a:endParaRPr lang="zh-CN" altLang="en-US" sz="2400" b="1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903174" name="AutoShape 6"/>
          <p:cNvSpPr>
            <a:spLocks noChangeArrowheads="1"/>
          </p:cNvSpPr>
          <p:nvPr/>
        </p:nvSpPr>
        <p:spPr bwMode="auto">
          <a:xfrm>
            <a:off x="5112060" y="4518501"/>
            <a:ext cx="1382625" cy="408623"/>
          </a:xfrm>
          <a:prstGeom prst="wedgeRoundRectCallout">
            <a:avLst>
              <a:gd name="adj1" fmla="val -79521"/>
              <a:gd name="adj2" fmla="val -318886"/>
              <a:gd name="adj3" fmla="val 16667"/>
            </a:avLst>
          </a:prstGeom>
          <a:noFill/>
          <a:ln w="28575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2400" b="1">
                <a:latin typeface="Times New Roman" panose="02020603050405020304" pitchFamily="18" charset="0"/>
                <a:ea typeface="楷体_GB2312"/>
                <a:cs typeface="楷体_GB2312"/>
              </a:rPr>
              <a:t>反相输入 </a:t>
            </a:r>
            <a:endParaRPr lang="zh-CN" altLang="en-US" sz="2400" b="1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903175" name="AutoShape 7"/>
          <p:cNvSpPr>
            <a:spLocks noChangeArrowheads="1"/>
          </p:cNvSpPr>
          <p:nvPr/>
        </p:nvSpPr>
        <p:spPr bwMode="auto">
          <a:xfrm>
            <a:off x="7199313" y="4319588"/>
            <a:ext cx="1189037" cy="403225"/>
          </a:xfrm>
          <a:prstGeom prst="wedgeRoundRectCallout">
            <a:avLst>
              <a:gd name="adj1" fmla="val -51739"/>
              <a:gd name="adj2" fmla="val -192823"/>
              <a:gd name="adj3" fmla="val 16667"/>
            </a:avLst>
          </a:prstGeom>
          <a:noFill/>
          <a:ln w="28575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zh-CN" altLang="en-US" sz="2400" dirty="0"/>
              <a:t>输出端 </a:t>
            </a:r>
            <a:endParaRPr lang="zh-CN" altLang="en-US" sz="2400" dirty="0"/>
          </a:p>
        </p:txBody>
      </p:sp>
      <p:sp>
        <p:nvSpPr>
          <p:cNvPr id="903176" name="AutoShape 8"/>
          <p:cNvSpPr>
            <a:spLocks noChangeArrowheads="1"/>
          </p:cNvSpPr>
          <p:nvPr/>
        </p:nvSpPr>
        <p:spPr bwMode="auto">
          <a:xfrm>
            <a:off x="5966306" y="1345317"/>
            <a:ext cx="1368152" cy="408623"/>
          </a:xfrm>
          <a:prstGeom prst="wedgeRoundRectCallout">
            <a:avLst>
              <a:gd name="adj1" fmla="val -60048"/>
              <a:gd name="adj2" fmla="val 169157"/>
              <a:gd name="adj3" fmla="val 16667"/>
            </a:avLst>
          </a:prstGeom>
          <a:noFill/>
          <a:ln w="28575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zh-CN" altLang="en-US" sz="2400"/>
              <a:t>反馈通路 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0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3173" grpId="0" animBg="1"/>
      <p:bldP spid="903174" grpId="0" animBg="1"/>
      <p:bldP spid="903175" grpId="0" animBg="1"/>
      <p:bldP spid="90317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503238" y="782476"/>
            <a:ext cx="34925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>
                <a:solidFill>
                  <a:schemeClr val="accent2"/>
                </a:solidFill>
              </a:rPr>
              <a:t>2. </a:t>
            </a:r>
            <a:r>
              <a:rPr kumimoji="1" lang="zh-CN" altLang="en-US">
                <a:solidFill>
                  <a:schemeClr val="accent2"/>
                </a:solidFill>
              </a:rPr>
              <a:t>指标分析</a:t>
            </a:r>
            <a:endParaRPr kumimoji="1" lang="zh-CN" altLang="en-US"/>
          </a:p>
        </p:txBody>
      </p:sp>
      <p:graphicFrame>
        <p:nvGraphicFramePr>
          <p:cNvPr id="32772" name="Object 8"/>
          <p:cNvGraphicFramePr>
            <a:graphicFrameLocks noChangeAspect="1"/>
          </p:cNvGraphicFramePr>
          <p:nvPr/>
        </p:nvGraphicFramePr>
        <p:xfrm>
          <a:off x="4454525" y="882042"/>
          <a:ext cx="4365625" cy="230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17" name="图片" r:id="rId1" imgW="2182495" imgH="1155700" progId="Word.Picture.8">
                  <p:embed/>
                </p:oleObj>
              </mc:Choice>
              <mc:Fallback>
                <p:oleObj name="图片" r:id="rId1" imgW="2182495" imgH="1155700" progId="Word.Picture.8">
                  <p:embed/>
                  <p:pic>
                    <p:nvPicPr>
                      <p:cNvPr id="0" name="图片 465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4525" y="882042"/>
                        <a:ext cx="4365625" cy="230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717550" y="1756755"/>
            <a:ext cx="3962400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</a:rPr>
              <a:t>根据虚短和虚断有</a:t>
            </a:r>
            <a:endParaRPr lang="zh-CN" altLang="en-US" sz="2400">
              <a:solidFill>
                <a:srgbClr val="000000"/>
              </a:solidFill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</a:rPr>
              <a:t>       </a:t>
            </a:r>
            <a:r>
              <a:rPr lang="en-US" altLang="zh-CN" sz="24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>
                <a:solidFill>
                  <a:srgbClr val="000000"/>
                </a:solidFill>
                <a:ea typeface="华康简宋"/>
                <a:cs typeface="华康简宋"/>
              </a:rPr>
              <a:t>n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≈</a:t>
            </a:r>
            <a:r>
              <a:rPr lang="en-US" altLang="zh-CN" sz="2400" baseline="-30000">
                <a:solidFill>
                  <a:srgbClr val="000000"/>
                </a:solidFill>
                <a:ea typeface="华康简宋"/>
                <a:cs typeface="华康简宋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 baseline="-30000">
                <a:solidFill>
                  <a:srgbClr val="000000"/>
                </a:solidFill>
                <a:ea typeface="华康简宋"/>
                <a:cs typeface="华康简宋"/>
              </a:rPr>
              <a:t>p 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=</a:t>
            </a:r>
            <a:r>
              <a:rPr lang="en-US" altLang="zh-CN" sz="2400" baseline="-3000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0</a:t>
            </a:r>
            <a:r>
              <a:rPr lang="en-US" altLang="zh-CN" sz="2400" baseline="-30000">
                <a:solidFill>
                  <a:srgbClr val="000000"/>
                </a:solidFill>
                <a:ea typeface="华康简宋"/>
                <a:cs typeface="华康简宋"/>
              </a:rPr>
              <a:t> </a:t>
            </a:r>
            <a:r>
              <a:rPr lang="zh-CN" altLang="en-US" sz="2400">
                <a:solidFill>
                  <a:srgbClr val="000000"/>
                </a:solidFill>
                <a:ea typeface="华康简宋"/>
                <a:cs typeface="华康简宋"/>
              </a:rPr>
              <a:t>，  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i</a:t>
            </a:r>
            <a:r>
              <a:rPr lang="en-US" altLang="zh-CN" sz="2400" baseline="-3000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n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＝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0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华康简宋"/>
              <a:cs typeface="华康简宋"/>
            </a:endParaRPr>
          </a:p>
        </p:txBody>
      </p:sp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717550" y="2880705"/>
            <a:ext cx="22098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</a:rPr>
              <a:t>所以     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i</a:t>
            </a:r>
            <a:r>
              <a:rPr lang="en-US" altLang="zh-CN" sz="2400" baseline="-3000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1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＝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i</a:t>
            </a:r>
            <a:r>
              <a:rPr lang="en-US" altLang="zh-CN" sz="2400" baseline="-3000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2</a:t>
            </a:r>
            <a:r>
              <a:rPr lang="en-US" altLang="zh-CN" sz="2400">
                <a:solidFill>
                  <a:srgbClr val="000000"/>
                </a:solidFill>
              </a:rPr>
              <a:t> </a:t>
            </a:r>
            <a:endParaRPr lang="en-US" altLang="zh-CN" sz="2400">
              <a:solidFill>
                <a:srgbClr val="000000"/>
              </a:solidFill>
            </a:endParaRPr>
          </a:p>
        </p:txBody>
      </p:sp>
      <p:graphicFrame>
        <p:nvGraphicFramePr>
          <p:cNvPr id="21" name="Object 13"/>
          <p:cNvGraphicFramePr>
            <a:graphicFrameLocks noChangeAspect="1"/>
          </p:cNvGraphicFramePr>
          <p:nvPr/>
        </p:nvGraphicFramePr>
        <p:xfrm>
          <a:off x="4284663" y="3485542"/>
          <a:ext cx="20002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18" name="公式" r:id="rId3" imgW="1002665" imgH="444500" progId="Equation.3">
                  <p:embed/>
                </p:oleObj>
              </mc:Choice>
              <mc:Fallback>
                <p:oleObj name="公式" r:id="rId3" imgW="1002665" imgH="444500" progId="Equation.3">
                  <p:embed/>
                  <p:pic>
                    <p:nvPicPr>
                      <p:cNvPr id="0" name="图片 465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3485542"/>
                        <a:ext cx="200025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14"/>
          <p:cNvGrpSpPr/>
          <p:nvPr/>
        </p:nvGrpSpPr>
        <p:grpSpPr bwMode="auto">
          <a:xfrm>
            <a:off x="717550" y="3445855"/>
            <a:ext cx="2797175" cy="889000"/>
            <a:chOff x="334" y="2522"/>
            <a:chExt cx="1762" cy="560"/>
          </a:xfrm>
        </p:grpSpPr>
        <p:graphicFrame>
          <p:nvGraphicFramePr>
            <p:cNvPr id="32781" name="Object 15"/>
            <p:cNvGraphicFramePr>
              <a:graphicFrameLocks noChangeAspect="1"/>
            </p:cNvGraphicFramePr>
            <p:nvPr/>
          </p:nvGraphicFramePr>
          <p:xfrm>
            <a:off x="713" y="2522"/>
            <a:ext cx="1383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519" name="公式" r:id="rId5" imgW="1104900" imgH="444500" progId="Equation.3">
                    <p:embed/>
                  </p:oleObj>
                </mc:Choice>
                <mc:Fallback>
                  <p:oleObj name="公式" r:id="rId5" imgW="1104900" imgH="444500" progId="Equation.3">
                    <p:embed/>
                    <p:pic>
                      <p:nvPicPr>
                        <p:cNvPr id="0" name="图片 465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3" y="2522"/>
                          <a:ext cx="1383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2" name="Rectangle 16"/>
            <p:cNvSpPr>
              <a:spLocks noChangeArrowheads="1"/>
            </p:cNvSpPr>
            <p:nvPr/>
          </p:nvSpPr>
          <p:spPr bwMode="auto">
            <a:xfrm>
              <a:off x="334" y="2618"/>
              <a:ext cx="86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6200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811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>
                  <a:srgbClr val="FF0000"/>
                </a:buClr>
                <a:buSzPct val="85000"/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000000"/>
                  </a:solidFill>
                </a:rPr>
                <a:t>即</a:t>
              </a:r>
              <a:endParaRPr lang="zh-CN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25" name="Rectangle 17"/>
          <p:cNvSpPr>
            <a:spLocks noChangeArrowheads="1"/>
          </p:cNvSpPr>
          <p:nvPr/>
        </p:nvSpPr>
        <p:spPr bwMode="auto">
          <a:xfrm>
            <a:off x="4392613" y="4312630"/>
            <a:ext cx="368617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FF0000"/>
                </a:solidFill>
              </a:rPr>
              <a:t>（可作为公式直接使用）</a:t>
            </a:r>
            <a:endParaRPr lang="zh-CN" altLang="en-US" sz="2400">
              <a:solidFill>
                <a:srgbClr val="FF0000"/>
              </a:solidFill>
              <a:ea typeface="华康简宋"/>
              <a:cs typeface="华康简宋"/>
            </a:endParaRPr>
          </a:p>
        </p:txBody>
      </p: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530225" y="1288442"/>
            <a:ext cx="43434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sz="2400">
                <a:solidFill>
                  <a:srgbClr val="000000"/>
                </a:solidFill>
                <a:latin typeface="楷体_GB2312"/>
              </a:rPr>
              <a:t>电压增益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A</a:t>
            </a:r>
            <a:r>
              <a:rPr lang="en-US" altLang="zh-CN" sz="2400" i="1" baseline="-30000">
                <a:solidFill>
                  <a:srgbClr val="000000"/>
                </a:solidFill>
                <a:latin typeface="Book Antiqua" panose="02040602050305030304" pitchFamily="18" charset="0"/>
                <a:ea typeface="华康简宋"/>
                <a:cs typeface="华康简宋"/>
              </a:rPr>
              <a:t>v</a:t>
            </a:r>
            <a:r>
              <a:rPr lang="en-US" altLang="zh-CN" sz="2400">
                <a:solidFill>
                  <a:srgbClr val="000000"/>
                </a:solidFill>
                <a:latin typeface="楷体_GB2312"/>
              </a:rPr>
              <a:t> </a:t>
            </a:r>
            <a:endParaRPr lang="en-US" altLang="zh-CN" sz="2400">
              <a:solidFill>
                <a:srgbClr val="000000"/>
              </a:solidFill>
              <a:latin typeface="楷体_GB2312"/>
            </a:endParaRPr>
          </a:p>
        </p:txBody>
      </p:sp>
      <p:sp>
        <p:nvSpPr>
          <p:cNvPr id="27" name="Rectangle 19"/>
          <p:cNvSpPr>
            <a:spLocks noChangeArrowheads="1"/>
          </p:cNvSpPr>
          <p:nvPr/>
        </p:nvSpPr>
        <p:spPr bwMode="auto">
          <a:xfrm>
            <a:off x="755650" y="5563580"/>
            <a:ext cx="4572000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10000"/>
              </a:lnSpc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altLang="zh-CN" sz="2400">
                <a:solidFill>
                  <a:srgbClr val="000000"/>
                </a:solidFill>
              </a:rPr>
              <a:t> </a:t>
            </a:r>
            <a:r>
              <a:rPr lang="zh-CN" altLang="en-US" sz="2400">
                <a:solidFill>
                  <a:srgbClr val="000000"/>
                </a:solidFill>
              </a:rPr>
              <a:t>为什么称为反相放大电路？</a:t>
            </a: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28" name="Rectangle 7"/>
          <p:cNvSpPr>
            <a:spLocks noChangeArrowheads="1"/>
          </p:cNvSpPr>
          <p:nvPr/>
        </p:nvSpPr>
        <p:spPr bwMode="auto">
          <a:xfrm>
            <a:off x="388938" y="4792055"/>
            <a:ext cx="6991350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540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88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60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4180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4230" indent="-39878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若</a:t>
            </a:r>
            <a:r>
              <a:rPr kumimoji="1" lang="en-US" altLang="zh-CN" sz="2400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kumimoji="1" lang="zh-CN" altLang="en-US" sz="2400">
                <a:latin typeface="Times New Roman" panose="02020603050405020304" pitchFamily="18" charset="0"/>
              </a:rPr>
              <a:t>＝</a:t>
            </a:r>
            <a:r>
              <a:rPr kumimoji="1" lang="en-US" altLang="zh-CN" sz="2400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f </a:t>
            </a:r>
            <a:r>
              <a:rPr kumimoji="1" lang="zh-CN" altLang="en-US" sz="2400">
                <a:latin typeface="Times New Roman" panose="02020603050405020304" pitchFamily="18" charset="0"/>
              </a:rPr>
              <a:t>时，</a:t>
            </a:r>
            <a:r>
              <a:rPr kumimoji="1" lang="en-US" altLang="zh-CN" sz="2400" i="1">
                <a:latin typeface="Times New Roman" panose="02020603050405020304" pitchFamily="18" charset="0"/>
              </a:rPr>
              <a:t>A</a:t>
            </a:r>
            <a:r>
              <a:rPr kumimoji="1" lang="en-US" altLang="zh-CN" sz="2400" i="1" baseline="-25000">
                <a:latin typeface="Book Antiqua" panose="02040602050305030304" pitchFamily="18" charset="0"/>
              </a:rPr>
              <a:t>v</a:t>
            </a:r>
            <a:r>
              <a:rPr kumimoji="1" lang="zh-CN" altLang="en-US" sz="2400">
                <a:latin typeface="Times New Roman" panose="02020603050405020304" pitchFamily="18" charset="0"/>
              </a:rPr>
              <a:t>＝－</a:t>
            </a:r>
            <a:r>
              <a:rPr kumimoji="1" lang="en-US" altLang="zh-CN" sz="2400">
                <a:latin typeface="Times New Roman" panose="02020603050405020304" pitchFamily="18" charset="0"/>
              </a:rPr>
              <a:t>1</a:t>
            </a:r>
            <a:r>
              <a:rPr kumimoji="1" lang="zh-CN" altLang="en-US" sz="2400">
                <a:latin typeface="Times New Roman" panose="02020603050405020304" pitchFamily="18" charset="0"/>
              </a:rPr>
              <a:t>，习惯称为反相器。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466725" y="103982"/>
            <a:ext cx="50768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sz="3200" dirty="0" smtClean="0">
                <a:solidFill>
                  <a:srgbClr val="0000CC"/>
                </a:solidFill>
              </a:rPr>
              <a:t>2.3.2  </a:t>
            </a:r>
            <a:r>
              <a:rPr kumimoji="1" lang="zh-CN" altLang="en-US" sz="3200" dirty="0">
                <a:solidFill>
                  <a:srgbClr val="0000CC"/>
                </a:solidFill>
              </a:rPr>
              <a:t>反相放大电路</a:t>
            </a:r>
            <a:endParaRPr kumimoji="1" lang="zh-CN" altLang="en-US" sz="32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0" grpId="0" autoUpdateAnimBg="0"/>
      <p:bldP spid="25" grpId="0" autoUpdateAnimBg="0"/>
      <p:bldP spid="26" grpId="0" autoUpdateAnimBg="0"/>
      <p:bldP spid="2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6" name="Object 4"/>
          <p:cNvGraphicFramePr>
            <a:graphicFrameLocks noChangeAspect="1"/>
          </p:cNvGraphicFramePr>
          <p:nvPr/>
        </p:nvGraphicFramePr>
        <p:xfrm>
          <a:off x="4454525" y="874873"/>
          <a:ext cx="4365625" cy="230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96" name="图片" r:id="rId1" imgW="2182495" imgH="1155700" progId="Word.Picture.8">
                  <p:embed/>
                </p:oleObj>
              </mc:Choice>
              <mc:Fallback>
                <p:oleObj name="图片" r:id="rId1" imgW="2182495" imgH="1155700" progId="Word.Picture.8">
                  <p:embed/>
                  <p:pic>
                    <p:nvPicPr>
                      <p:cNvPr id="0" name="图片 473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4525" y="874873"/>
                        <a:ext cx="4365625" cy="230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Rectangle 17"/>
          <p:cNvSpPr>
            <a:spLocks noChangeArrowheads="1"/>
          </p:cNvSpPr>
          <p:nvPr/>
        </p:nvSpPr>
        <p:spPr bwMode="auto">
          <a:xfrm>
            <a:off x="373063" y="1424148"/>
            <a:ext cx="43434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）输入电阻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R</a:t>
            </a:r>
            <a:r>
              <a:rPr lang="en-US" altLang="zh-CN" sz="2400" baseline="-3000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i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" name="Object 18"/>
          <p:cNvGraphicFramePr>
            <a:graphicFrameLocks noChangeAspect="1"/>
          </p:cNvGraphicFramePr>
          <p:nvPr/>
        </p:nvGraphicFramePr>
        <p:xfrm>
          <a:off x="930275" y="1963898"/>
          <a:ext cx="27241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97" name="公式" r:id="rId3" imgW="1371600" imgH="444500" progId="Equation.3">
                  <p:embed/>
                </p:oleObj>
              </mc:Choice>
              <mc:Fallback>
                <p:oleObj name="公式" r:id="rId3" imgW="1371600" imgH="444500" progId="Equation.3">
                  <p:embed/>
                  <p:pic>
                    <p:nvPicPr>
                      <p:cNvPr id="0" name="图片 473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275" y="1963898"/>
                        <a:ext cx="272415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9"/>
          <p:cNvSpPr>
            <a:spLocks noChangeArrowheads="1"/>
          </p:cNvSpPr>
          <p:nvPr/>
        </p:nvSpPr>
        <p:spPr bwMode="auto">
          <a:xfrm>
            <a:off x="373063" y="2935448"/>
            <a:ext cx="43434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）输出电阻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auto">
          <a:xfrm>
            <a:off x="1439863" y="3440273"/>
            <a:ext cx="15240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FF00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R</a:t>
            </a:r>
            <a:r>
              <a:rPr lang="en-US" altLang="zh-CN" sz="2400" baseline="-3000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o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  <a:cs typeface="华康简宋"/>
              </a:rPr>
              <a:t>0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华康简宋"/>
              <a:cs typeface="华康简宋"/>
            </a:endParaRPr>
          </a:p>
        </p:txBody>
      </p:sp>
      <p:sp>
        <p:nvSpPr>
          <p:cNvPr id="9" name="Rectangle 21"/>
          <p:cNvSpPr>
            <a:spLocks noChangeArrowheads="1"/>
          </p:cNvSpPr>
          <p:nvPr/>
        </p:nvSpPr>
        <p:spPr bwMode="auto">
          <a:xfrm>
            <a:off x="431800" y="4511836"/>
            <a:ext cx="846137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20000"/>
              </a:lnSpc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chemeClr val="accent2"/>
                </a:solidFill>
                <a:latin typeface="宋体" panose="02010600030101010101" pitchFamily="2" charset="-122"/>
              </a:rPr>
              <a:t>若信号源是非理想的电压信号源，采用哪种放大电路更好？</a:t>
            </a:r>
            <a:endParaRPr lang="zh-CN" altLang="en-US" sz="240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buClr>
                <a:srgbClr val="0000FF"/>
              </a:buClr>
              <a:buSzPct val="85000"/>
              <a:buFont typeface="Monotype Sorts"/>
              <a:buNone/>
            </a:pPr>
            <a:r>
              <a:rPr lang="zh-CN" altLang="en-US" sz="2400">
                <a:solidFill>
                  <a:schemeClr val="accent2"/>
                </a:solidFill>
                <a:latin typeface="宋体" panose="02010600030101010101" pitchFamily="2" charset="-122"/>
              </a:rPr>
              <a:t>     同相放大电路    反相放大电路</a:t>
            </a:r>
            <a:endParaRPr lang="zh-CN" altLang="en-US" sz="240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pSp>
        <p:nvGrpSpPr>
          <p:cNvPr id="10" name="Group 26"/>
          <p:cNvGrpSpPr/>
          <p:nvPr/>
        </p:nvGrpSpPr>
        <p:grpSpPr bwMode="auto">
          <a:xfrm>
            <a:off x="4572000" y="2219486"/>
            <a:ext cx="504825" cy="815975"/>
            <a:chOff x="2880" y="1344"/>
            <a:chExt cx="318" cy="514"/>
          </a:xfrm>
        </p:grpSpPr>
        <p:sp>
          <p:nvSpPr>
            <p:cNvPr id="33803" name="Line 23"/>
            <p:cNvSpPr>
              <a:spLocks noChangeShapeType="1"/>
            </p:cNvSpPr>
            <p:nvPr/>
          </p:nvSpPr>
          <p:spPr bwMode="auto">
            <a:xfrm>
              <a:off x="3017" y="1344"/>
              <a:ext cx="158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04" name="Line 24"/>
            <p:cNvSpPr>
              <a:spLocks noChangeShapeType="1"/>
            </p:cNvSpPr>
            <p:nvPr/>
          </p:nvSpPr>
          <p:spPr bwMode="auto">
            <a:xfrm>
              <a:off x="3017" y="1344"/>
              <a:ext cx="0" cy="272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05" name="Rectangle 25"/>
            <p:cNvSpPr>
              <a:spLocks noChangeArrowheads="1"/>
            </p:cNvSpPr>
            <p:nvPr/>
          </p:nvSpPr>
          <p:spPr bwMode="auto">
            <a:xfrm>
              <a:off x="2880" y="1570"/>
              <a:ext cx="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6200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811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>
                  <a:srgbClr val="FF0000"/>
                </a:buClr>
                <a:buSzPct val="85000"/>
                <a:buFont typeface="Wingdings" panose="05000000000000000000" pitchFamily="2" charset="2"/>
                <a:buNone/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华康简宋"/>
                  <a:cs typeface="华康简宋"/>
                </a:rPr>
                <a:t>R</a:t>
              </a:r>
              <a:r>
                <a:rPr lang="en-US" altLang="zh-CN" sz="2000" baseline="-30000">
                  <a:solidFill>
                    <a:srgbClr val="000000"/>
                  </a:solidFill>
                  <a:latin typeface="Times New Roman" panose="02020603050405020304" pitchFamily="18" charset="0"/>
                  <a:ea typeface="华康简宋"/>
                  <a:cs typeface="华康简宋"/>
                </a:rPr>
                <a:t>i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466725" y="103982"/>
            <a:ext cx="50768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sz="3200" dirty="0" smtClean="0">
                <a:solidFill>
                  <a:srgbClr val="0000CC"/>
                </a:solidFill>
              </a:rPr>
              <a:t>2.3.2  </a:t>
            </a:r>
            <a:r>
              <a:rPr kumimoji="1" lang="zh-CN" altLang="en-US" sz="3200" dirty="0">
                <a:solidFill>
                  <a:srgbClr val="0000CC"/>
                </a:solidFill>
              </a:rPr>
              <a:t>反相放大电路</a:t>
            </a:r>
            <a:endParaRPr kumimoji="1" lang="zh-CN" altLang="en-US" sz="3200" dirty="0">
              <a:solidFill>
                <a:srgbClr val="0000CC"/>
              </a:solidFill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503238" y="782476"/>
            <a:ext cx="34925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>
                <a:solidFill>
                  <a:schemeClr val="accent2"/>
                </a:solidFill>
              </a:rPr>
              <a:t>2. </a:t>
            </a:r>
            <a:r>
              <a:rPr kumimoji="1" lang="zh-CN" altLang="en-US">
                <a:solidFill>
                  <a:schemeClr val="accent2"/>
                </a:solidFill>
              </a:rPr>
              <a:t>指标分析</a:t>
            </a:r>
            <a:endParaRPr kumimoji="1" lang="zh-CN" altLang="en-US"/>
          </a:p>
        </p:txBody>
      </p:sp>
      <p:graphicFrame>
        <p:nvGraphicFramePr>
          <p:cNvPr id="3" name="对象 2"/>
          <p:cNvGraphicFramePr/>
          <p:nvPr/>
        </p:nvGraphicFramePr>
        <p:xfrm>
          <a:off x="1331595" y="5529580"/>
          <a:ext cx="1647190" cy="716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645920" imgH="715645" progId="Paint.Picture">
                  <p:embed/>
                </p:oleObj>
              </mc:Choice>
              <mc:Fallback>
                <p:oleObj name="" r:id="rId5" imgW="1645920" imgH="715645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31595" y="5529580"/>
                        <a:ext cx="1647190" cy="716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/>
          <p:nvPr/>
        </p:nvGraphicFramePr>
        <p:xfrm>
          <a:off x="3779520" y="5481320"/>
          <a:ext cx="1591310" cy="891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7" imgW="1590040" imgH="890905" progId="Paint.Picture">
                  <p:embed/>
                </p:oleObj>
              </mc:Choice>
              <mc:Fallback>
                <p:oleObj name="" r:id="rId7" imgW="1590040" imgH="890905" progId="Paint.Picture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79520" y="5481320"/>
                        <a:ext cx="1591310" cy="891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  <p:bldP spid="9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64" name="Text Box 4"/>
          <p:cNvSpPr txBox="1">
            <a:spLocks noChangeArrowheads="1"/>
          </p:cNvSpPr>
          <p:nvPr/>
        </p:nvSpPr>
        <p:spPr bwMode="auto">
          <a:xfrm>
            <a:off x="576263" y="1640991"/>
            <a:ext cx="1079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lang="zh-CN" altLang="en-US" sz="2400">
                <a:solidFill>
                  <a:srgbClr val="CC0000"/>
                </a:solidFill>
              </a:rPr>
              <a:t>解：</a:t>
            </a:r>
            <a:endParaRPr lang="zh-CN" altLang="en-US" sz="2400">
              <a:solidFill>
                <a:srgbClr val="CC0000"/>
              </a:solidFill>
            </a:endParaRPr>
          </a:p>
        </p:txBody>
      </p:sp>
      <p:sp>
        <p:nvSpPr>
          <p:cNvPr id="911365" name="Rectangle 5"/>
          <p:cNvSpPr>
            <a:spLocks noChangeArrowheads="1"/>
          </p:cNvSpPr>
          <p:nvPr/>
        </p:nvSpPr>
        <p:spPr bwMode="auto">
          <a:xfrm>
            <a:off x="576263" y="1617179"/>
            <a:ext cx="3617912" cy="127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kumimoji="1" lang="en-US" altLang="zh-CN" sz="2200"/>
              <a:t>        1</a:t>
            </a:r>
            <a:r>
              <a:rPr kumimoji="1" lang="zh-CN" altLang="en-US" sz="2200"/>
              <a:t>）</a:t>
            </a:r>
            <a:r>
              <a:rPr kumimoji="1" lang="en-US" altLang="zh-CN" sz="2200"/>
              <a:t>S</a:t>
            </a:r>
            <a:r>
              <a:rPr kumimoji="1" lang="zh-CN" altLang="en-US" sz="2200"/>
              <a:t>闭合，电路同相输入端接地，构成反相比例电路，有： </a:t>
            </a:r>
            <a:endParaRPr kumimoji="1" lang="zh-CN" altLang="en-US" sz="2200"/>
          </a:p>
        </p:txBody>
      </p:sp>
      <p:sp>
        <p:nvSpPr>
          <p:cNvPr id="34821" name="Rectangle 7"/>
          <p:cNvSpPr>
            <a:spLocks noChangeArrowheads="1"/>
          </p:cNvSpPr>
          <p:nvPr/>
        </p:nvSpPr>
        <p:spPr bwMode="auto">
          <a:xfrm>
            <a:off x="576263" y="715479"/>
            <a:ext cx="8136197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kumimoji="1" lang="zh-CN" altLang="en-US" sz="2200" dirty="0" smtClean="0">
                <a:solidFill>
                  <a:schemeClr val="accent2"/>
                </a:solidFill>
              </a:rPr>
              <a:t>例</a:t>
            </a:r>
            <a:r>
              <a:rPr kumimoji="1" lang="en-US" altLang="zh-CN" sz="2200" dirty="0">
                <a:solidFill>
                  <a:schemeClr val="accent2"/>
                </a:solidFill>
              </a:rPr>
              <a:t>:</a:t>
            </a:r>
            <a:r>
              <a:rPr kumimoji="1" lang="en-US" altLang="zh-CN" sz="2200" dirty="0" smtClean="0"/>
              <a:t> </a:t>
            </a:r>
            <a:r>
              <a:rPr kumimoji="1" lang="zh-CN" altLang="en-US" sz="2200" dirty="0"/>
              <a:t>电路如图所示，求当开关闭合和断开时电路的增益  </a:t>
            </a:r>
            <a:r>
              <a:rPr kumimoji="1" lang="en-US" altLang="zh-CN" sz="2200" i="1" dirty="0" smtClean="0"/>
              <a:t>A</a:t>
            </a:r>
            <a:r>
              <a:rPr kumimoji="1" lang="en-US" altLang="zh-CN" sz="2200" i="1" baseline="-25000" dirty="0" smtClean="0">
                <a:latin typeface="Book Antiqua" panose="02040602050305030304" pitchFamily="18" charset="0"/>
              </a:rPr>
              <a:t>v</a:t>
            </a:r>
            <a:r>
              <a:rPr kumimoji="1" lang="en-US" altLang="zh-CN" sz="2200" dirty="0" smtClean="0"/>
              <a:t>=</a:t>
            </a:r>
            <a:r>
              <a:rPr kumimoji="1" lang="en-US" altLang="zh-CN" sz="2200" i="1" dirty="0" err="1" smtClean="0">
                <a:latin typeface="Book Antiqua" panose="02040602050305030304" pitchFamily="18" charset="0"/>
              </a:rPr>
              <a:t>v</a:t>
            </a:r>
            <a:r>
              <a:rPr kumimoji="1" lang="en-US" altLang="zh-CN" sz="2200" baseline="-25000" dirty="0" err="1" smtClean="0"/>
              <a:t>O</a:t>
            </a:r>
            <a:r>
              <a:rPr kumimoji="1" lang="en-US" altLang="zh-CN" sz="2200" dirty="0" smtClean="0"/>
              <a:t>/</a:t>
            </a:r>
            <a:r>
              <a:rPr kumimoji="1" lang="en-US" altLang="zh-CN" sz="2200" i="1" dirty="0" err="1" smtClean="0">
                <a:latin typeface="Book Antiqua" panose="02040602050305030304" pitchFamily="18" charset="0"/>
              </a:rPr>
              <a:t>v</a:t>
            </a:r>
            <a:r>
              <a:rPr kumimoji="1" lang="en-US" altLang="zh-CN" sz="2200" baseline="-25000" dirty="0" err="1" smtClean="0"/>
              <a:t>I</a:t>
            </a:r>
            <a:r>
              <a:rPr kumimoji="1" lang="zh-CN" altLang="en-US" sz="2200" dirty="0"/>
              <a:t>的值。</a:t>
            </a:r>
            <a:endParaRPr kumimoji="1" lang="zh-CN" altLang="en-US" sz="2200" dirty="0"/>
          </a:p>
        </p:txBody>
      </p:sp>
      <p:pic>
        <p:nvPicPr>
          <p:cNvPr id="34822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888" y="1640991"/>
            <a:ext cx="4511675" cy="267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11370" name="Object 10"/>
          <p:cNvGraphicFramePr>
            <a:graphicFrameLocks noChangeAspect="1"/>
          </p:cNvGraphicFramePr>
          <p:nvPr/>
        </p:nvGraphicFramePr>
        <p:xfrm>
          <a:off x="1141413" y="2925279"/>
          <a:ext cx="2676525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5" name="Equation" r:id="rId2" imgW="1346200" imgH="431800" progId="Equation.DSMT4">
                  <p:embed/>
                </p:oleObj>
              </mc:Choice>
              <mc:Fallback>
                <p:oleObj name="Equation" r:id="rId2" imgW="1346200" imgH="431800" progId="Equation.DSMT4">
                  <p:embed/>
                  <p:pic>
                    <p:nvPicPr>
                      <p:cNvPr id="0" name="图片 839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2925279"/>
                        <a:ext cx="2676525" cy="849312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371" name="Rectangle 11"/>
          <p:cNvSpPr>
            <a:spLocks noChangeArrowheads="1"/>
          </p:cNvSpPr>
          <p:nvPr/>
        </p:nvSpPr>
        <p:spPr bwMode="auto">
          <a:xfrm>
            <a:off x="576263" y="3861048"/>
            <a:ext cx="4859337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sz="2200"/>
              <a:t>2</a:t>
            </a:r>
            <a:r>
              <a:rPr kumimoji="1" lang="zh-CN" altLang="en-US" sz="2200"/>
              <a:t>）</a:t>
            </a:r>
            <a:r>
              <a:rPr kumimoji="1" lang="pt-BR" altLang="zh-CN" sz="2200"/>
              <a:t>S</a:t>
            </a:r>
            <a:r>
              <a:rPr kumimoji="1" lang="zh-CN" altLang="pt-BR" sz="2200"/>
              <a:t>断开，可以利用叠加原理求解 </a:t>
            </a:r>
            <a:endParaRPr kumimoji="1" lang="zh-CN" altLang="en-US" sz="2200"/>
          </a:p>
        </p:txBody>
      </p:sp>
      <p:graphicFrame>
        <p:nvGraphicFramePr>
          <p:cNvPr id="911372" name="Object 12"/>
          <p:cNvGraphicFramePr>
            <a:graphicFrameLocks noChangeAspect="1"/>
          </p:cNvGraphicFramePr>
          <p:nvPr/>
        </p:nvGraphicFramePr>
        <p:xfrm>
          <a:off x="1050925" y="4378573"/>
          <a:ext cx="1589088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6" name="Equation" r:id="rId4" imgW="787400" imgH="431800" progId="Equation.DSMT4">
                  <p:embed/>
                </p:oleObj>
              </mc:Choice>
              <mc:Fallback>
                <p:oleObj name="Equation" r:id="rId4" imgW="787400" imgH="431800" progId="Equation.DSMT4">
                  <p:embed/>
                  <p:pic>
                    <p:nvPicPr>
                      <p:cNvPr id="0" name="图片 839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25" y="4378573"/>
                        <a:ext cx="1589088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373" name="Object 13"/>
          <p:cNvGraphicFramePr>
            <a:graphicFrameLocks noChangeAspect="1"/>
          </p:cNvGraphicFramePr>
          <p:nvPr/>
        </p:nvGraphicFramePr>
        <p:xfrm>
          <a:off x="2986088" y="4329360"/>
          <a:ext cx="2103437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7" name="Equation" r:id="rId6" imgW="1040765" imgH="482600" progId="Equation.DSMT4">
                  <p:embed/>
                </p:oleObj>
              </mc:Choice>
              <mc:Fallback>
                <p:oleObj name="Equation" r:id="rId6" imgW="1040765" imgH="482600" progId="Equation.DSMT4">
                  <p:embed/>
                  <p:pic>
                    <p:nvPicPr>
                      <p:cNvPr id="0" name="图片 839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6088" y="4329360"/>
                        <a:ext cx="2103437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374" name="Object 14"/>
          <p:cNvGraphicFramePr>
            <a:graphicFrameLocks noChangeAspect="1"/>
          </p:cNvGraphicFramePr>
          <p:nvPr/>
        </p:nvGraphicFramePr>
        <p:xfrm>
          <a:off x="979488" y="5513635"/>
          <a:ext cx="16414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8" name="Equation" r:id="rId8" imgW="812165" imgH="241300" progId="Equation.DSMT4">
                  <p:embed/>
                </p:oleObj>
              </mc:Choice>
              <mc:Fallback>
                <p:oleObj name="Equation" r:id="rId8" imgW="812165" imgH="241300" progId="Equation.DSMT4">
                  <p:embed/>
                  <p:pic>
                    <p:nvPicPr>
                      <p:cNvPr id="0" name="图片 839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488" y="5513635"/>
                        <a:ext cx="16414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375" name="Object 15"/>
          <p:cNvGraphicFramePr>
            <a:graphicFrameLocks noChangeAspect="1"/>
          </p:cNvGraphicFramePr>
          <p:nvPr/>
        </p:nvGraphicFramePr>
        <p:xfrm>
          <a:off x="2570163" y="5273923"/>
          <a:ext cx="2846387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9" name="Equation" r:id="rId10" imgW="1409065" imgH="482600" progId="Equation.DSMT4">
                  <p:embed/>
                </p:oleObj>
              </mc:Choice>
              <mc:Fallback>
                <p:oleObj name="Equation" r:id="rId10" imgW="1409065" imgH="482600" progId="Equation.DSMT4">
                  <p:embed/>
                  <p:pic>
                    <p:nvPicPr>
                      <p:cNvPr id="0" name="图片 839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0163" y="5273923"/>
                        <a:ext cx="2846387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377" name="Object 17"/>
          <p:cNvGraphicFramePr>
            <a:graphicFrameLocks noChangeAspect="1"/>
          </p:cNvGraphicFramePr>
          <p:nvPr/>
        </p:nvGraphicFramePr>
        <p:xfrm>
          <a:off x="5365750" y="5513635"/>
          <a:ext cx="5889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0" name="Equation" r:id="rId12" imgW="292100" imgH="228600" progId="Equation.DSMT4">
                  <p:embed/>
                </p:oleObj>
              </mc:Choice>
              <mc:Fallback>
                <p:oleObj name="Equation" r:id="rId12" imgW="292100" imgH="228600" progId="Equation.DSMT4">
                  <p:embed/>
                  <p:pic>
                    <p:nvPicPr>
                      <p:cNvPr id="0" name="图片 839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0" y="5513635"/>
                        <a:ext cx="5889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378" name="Object 18"/>
          <p:cNvGraphicFramePr>
            <a:graphicFrameLocks noChangeAspect="1"/>
          </p:cNvGraphicFramePr>
          <p:nvPr/>
        </p:nvGraphicFramePr>
        <p:xfrm>
          <a:off x="6237288" y="5375523"/>
          <a:ext cx="1541462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1" name="Equation" r:id="rId14" imgW="774065" imgH="431800" progId="Equation.DSMT4">
                  <p:embed/>
                </p:oleObj>
              </mc:Choice>
              <mc:Fallback>
                <p:oleObj name="Equation" r:id="rId14" imgW="774065" imgH="431800" progId="Equation.DSMT4">
                  <p:embed/>
                  <p:pic>
                    <p:nvPicPr>
                      <p:cNvPr id="0" name="图片 839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7288" y="5375523"/>
                        <a:ext cx="1541462" cy="849312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466725" y="103982"/>
            <a:ext cx="50768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sz="3200" dirty="0" smtClean="0">
                <a:solidFill>
                  <a:srgbClr val="0000CC"/>
                </a:solidFill>
              </a:rPr>
              <a:t>2.3.2  </a:t>
            </a:r>
            <a:r>
              <a:rPr kumimoji="1" lang="zh-CN" altLang="en-US" sz="3200" dirty="0">
                <a:solidFill>
                  <a:srgbClr val="0000CC"/>
                </a:solidFill>
              </a:rPr>
              <a:t>反相放大电路</a:t>
            </a:r>
            <a:endParaRPr kumimoji="1" lang="zh-CN" altLang="en-US" sz="32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1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11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11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1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1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1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1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64" grpId="0"/>
      <p:bldP spid="911365" grpId="0"/>
      <p:bldP spid="91137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3"/>
          <p:cNvSpPr>
            <a:spLocks noChangeArrowheads="1"/>
          </p:cNvSpPr>
          <p:nvPr/>
        </p:nvSpPr>
        <p:spPr bwMode="auto">
          <a:xfrm>
            <a:off x="466724" y="779723"/>
            <a:ext cx="8173727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kumimoji="1" lang="zh-CN" altLang="en-US" sz="2400" dirty="0" smtClean="0">
                <a:solidFill>
                  <a:schemeClr val="accent2"/>
                </a:solidFill>
              </a:rPr>
              <a:t>例</a:t>
            </a:r>
            <a:r>
              <a:rPr kumimoji="1" lang="en-US" altLang="zh-CN" sz="2400" dirty="0" smtClean="0">
                <a:solidFill>
                  <a:schemeClr val="accent2"/>
                </a:solidFill>
              </a:rPr>
              <a:t>:</a:t>
            </a:r>
            <a:r>
              <a:rPr kumimoji="1" lang="en-US" altLang="zh-CN" sz="2400" dirty="0" smtClean="0"/>
              <a:t> </a:t>
            </a:r>
            <a:r>
              <a:rPr lang="zh-CN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负载</a:t>
            </a:r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电阻</a:t>
            </a:r>
            <a:r>
              <a:rPr lang="en-US" altLang="zh-CN" sz="2400" i="1" dirty="0">
                <a:ea typeface="方正细等线_GBK"/>
              </a:rPr>
              <a:t>R</a:t>
            </a:r>
            <a:r>
              <a:rPr lang="en-US" altLang="zh-CN" sz="2400" baseline="-25000" dirty="0">
                <a:ea typeface="方正细等线_GBK"/>
              </a:rPr>
              <a:t>L</a:t>
            </a:r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跨接在输出端与</a:t>
            </a:r>
            <a:r>
              <a:rPr lang="en-US" altLang="zh-CN" sz="2400" dirty="0"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点之间，没有接地（也称负载浮地）。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(1) </a:t>
            </a:r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求电流增益表达式</a:t>
            </a:r>
            <a:r>
              <a:rPr lang="en-US" altLang="zh-CN" sz="2400" i="1" dirty="0">
                <a:ea typeface="方正书宋_GBK"/>
              </a:rPr>
              <a:t>A</a:t>
            </a:r>
            <a:r>
              <a:rPr lang="en-US" altLang="zh-CN" sz="2400" i="1" baseline="-25000" dirty="0">
                <a:ea typeface="方正书宋_GBK"/>
              </a:rPr>
              <a:t>i</a:t>
            </a:r>
            <a:r>
              <a:rPr lang="en-US" altLang="zh-CN" sz="2400" i="1" dirty="0">
                <a:ea typeface="方正书宋_GBK"/>
              </a:rPr>
              <a:t>=</a:t>
            </a:r>
            <a:r>
              <a:rPr lang="en-US" altLang="zh-CN" sz="2400" i="1" dirty="0" err="1">
                <a:ea typeface="方正书宋_GBK"/>
              </a:rPr>
              <a:t>i</a:t>
            </a:r>
            <a:r>
              <a:rPr lang="en-US" altLang="zh-CN" sz="2400" baseline="-25000" dirty="0" err="1">
                <a:ea typeface="方正书宋_GBK"/>
              </a:rPr>
              <a:t>o</a:t>
            </a:r>
            <a:r>
              <a:rPr lang="en-US" altLang="zh-CN" sz="2400" i="1" dirty="0">
                <a:ea typeface="方正书宋_GBK"/>
              </a:rPr>
              <a:t>/i</a:t>
            </a:r>
            <a:r>
              <a:rPr lang="en-US" altLang="zh-CN" sz="2400" baseline="-25000" dirty="0">
                <a:ea typeface="方正书宋_GBK"/>
              </a:rPr>
              <a:t>s</a:t>
            </a:r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求电路的输入电阻。</a:t>
            </a:r>
            <a:endParaRPr lang="zh-CN" altLang="pt-BR" sz="24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2389" name="Rectangle 5"/>
          <p:cNvSpPr>
            <a:spLocks noChangeArrowheads="1"/>
          </p:cNvSpPr>
          <p:nvPr/>
        </p:nvSpPr>
        <p:spPr bwMode="auto">
          <a:xfrm>
            <a:off x="449048" y="2201651"/>
            <a:ext cx="40369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解</a:t>
            </a:r>
            <a:r>
              <a:rPr kumimoji="1"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：利用运放的虚短虚断</a:t>
            </a:r>
            <a:endParaRPr kumimoji="1"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12392" name="AutoShape 8"/>
          <p:cNvSpPr>
            <a:spLocks noChangeArrowheads="1"/>
          </p:cNvSpPr>
          <p:nvPr/>
        </p:nvSpPr>
        <p:spPr bwMode="auto">
          <a:xfrm>
            <a:off x="5933933" y="4846170"/>
            <a:ext cx="644525" cy="252413"/>
          </a:xfrm>
          <a:prstGeom prst="rightArrow">
            <a:avLst>
              <a:gd name="adj1" fmla="val 50000"/>
              <a:gd name="adj2" fmla="val 63836"/>
            </a:avLst>
          </a:prstGeom>
          <a:noFill/>
          <a:ln w="28575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466725" y="103982"/>
            <a:ext cx="50768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sz="3200" dirty="0" smtClean="0">
                <a:solidFill>
                  <a:srgbClr val="0000CC"/>
                </a:solidFill>
              </a:rPr>
              <a:t>2.3.2  </a:t>
            </a:r>
            <a:r>
              <a:rPr kumimoji="1" lang="zh-CN" altLang="en-US" sz="3200" dirty="0">
                <a:solidFill>
                  <a:srgbClr val="0000CC"/>
                </a:solidFill>
              </a:rPr>
              <a:t>反相放大电路</a:t>
            </a:r>
            <a:endParaRPr kumimoji="1" lang="zh-CN" altLang="en-US" sz="3200" dirty="0">
              <a:solidFill>
                <a:srgbClr val="0000CC"/>
              </a:solidFill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602163" y="1582269"/>
          <a:ext cx="4370170" cy="2291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87" name="Picture" r:id="rId1" imgW="2183130" imgH="1145540" progId="Word.Picture.8">
                  <p:embed/>
                </p:oleObj>
              </mc:Choice>
              <mc:Fallback>
                <p:oleObj name="Picture" r:id="rId1" imgW="2183130" imgH="1145540" progId="Word.Picture.8">
                  <p:embed/>
                  <p:pic>
                    <p:nvPicPr>
                      <p:cNvPr id="0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163" y="1582269"/>
                        <a:ext cx="4370170" cy="22919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627028" y="2672916"/>
          <a:ext cx="1396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88" name="Equation" r:id="rId3" imgW="16764000" imgH="5486400" progId="Equation.DSMT4">
                  <p:embed/>
                </p:oleObj>
              </mc:Choice>
              <mc:Fallback>
                <p:oleObj name="Equation" r:id="rId3" imgW="16764000" imgH="5486400" progId="Equation.DSMT4">
                  <p:embed/>
                  <p:pic>
                    <p:nvPicPr>
                      <p:cNvPr id="0" name="Object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028" y="2672916"/>
                        <a:ext cx="1396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657548" y="3192911"/>
          <a:ext cx="2361600" cy="88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89" name="Equation" r:id="rId5" imgW="28346400" imgH="10668000" progId="Equation.DSMT4">
                  <p:embed/>
                </p:oleObj>
              </mc:Choice>
              <mc:Fallback>
                <p:oleObj name="Equation" r:id="rId5" imgW="28346400" imgH="10668000" progId="Equation.DSMT4">
                  <p:embed/>
                  <p:pic>
                    <p:nvPicPr>
                      <p:cNvPr id="0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7548" y="3192911"/>
                        <a:ext cx="2361600" cy="888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449048" y="4043303"/>
            <a:ext cx="40369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电流增益</a:t>
            </a:r>
            <a:endParaRPr kumimoji="1"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971600" y="4163504"/>
          <a:ext cx="46736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90" name="Equation" r:id="rId7" imgW="56083200" imgH="15544800" progId="Equation.DSMT4">
                  <p:embed/>
                </p:oleObj>
              </mc:Choice>
              <mc:Fallback>
                <p:oleObj name="Equation" r:id="rId7" imgW="56083200" imgH="15544800" progId="Equation.DSMT4">
                  <p:embed/>
                  <p:pic>
                    <p:nvPicPr>
                      <p:cNvPr id="0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4163504"/>
                        <a:ext cx="4673600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6768244" y="4527877"/>
          <a:ext cx="1778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91" name="Equation" r:id="rId9" imgW="21336000" imgH="10668000" progId="Equation.DSMT4">
                  <p:embed/>
                </p:oleObj>
              </mc:Choice>
              <mc:Fallback>
                <p:oleObj name="Equation" r:id="rId9" imgW="21336000" imgH="10668000" progId="Equation.DSMT4">
                  <p:embed/>
                  <p:pic>
                    <p:nvPicPr>
                      <p:cNvPr id="0" name="图片 499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8244" y="4527877"/>
                        <a:ext cx="17780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502728" y="5601017"/>
            <a:ext cx="19450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输入电阻</a:t>
            </a:r>
            <a:endParaRPr kumimoji="1"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159732" y="5471268"/>
          <a:ext cx="1498320" cy="88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92" name="Equation" r:id="rId11" imgW="17983200" imgH="10668000" progId="Equation.DSMT4">
                  <p:embed/>
                </p:oleObj>
              </mc:Choice>
              <mc:Fallback>
                <p:oleObj name="Equation" r:id="rId11" imgW="17983200" imgH="10668000" progId="Equation.DSMT4">
                  <p:embed/>
                  <p:pic>
                    <p:nvPicPr>
                      <p:cNvPr id="0" name="Object 1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732" y="5471268"/>
                        <a:ext cx="1498320" cy="888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6732240" y="4091496"/>
            <a:ext cx="22040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zh-CN" altLang="en-US" sz="24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与负载有关吗？</a:t>
            </a:r>
            <a:endParaRPr kumimoji="1"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auto">
          <a:xfrm>
            <a:off x="3815916" y="5639163"/>
            <a:ext cx="25758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zh-CN" altLang="en-US" sz="24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有什么好处？</a:t>
            </a:r>
            <a:endParaRPr kumimoji="1"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1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2389" grpId="0"/>
      <p:bldP spid="912392" grpId="0" animBg="1"/>
      <p:bldP spid="20" grpId="0"/>
      <p:bldP spid="24" grpId="0"/>
      <p:bldP spid="27" grpId="0"/>
      <p:bldP spid="2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466724" y="779723"/>
            <a:ext cx="8173727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kumimoji="1" lang="zh-CN" altLang="en-US" sz="2400" dirty="0" smtClean="0">
                <a:solidFill>
                  <a:schemeClr val="accent2"/>
                </a:solidFill>
              </a:rPr>
              <a:t>例</a:t>
            </a:r>
            <a:r>
              <a:rPr kumimoji="1" lang="en-US" altLang="zh-CN" sz="2400" dirty="0" smtClean="0">
                <a:solidFill>
                  <a:schemeClr val="accent2"/>
                </a:solidFill>
              </a:rPr>
              <a:t>:</a:t>
            </a:r>
            <a:r>
              <a:rPr kumimoji="1" lang="en-US" altLang="zh-CN" sz="2400" dirty="0" smtClean="0"/>
              <a:t> </a:t>
            </a:r>
            <a:r>
              <a:rPr lang="zh-CN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负载</a:t>
            </a:r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电阻</a:t>
            </a:r>
            <a:r>
              <a:rPr lang="en-US" altLang="zh-CN" sz="2400" i="1" dirty="0">
                <a:ea typeface="方正细等线_GBK"/>
              </a:rPr>
              <a:t>R</a:t>
            </a:r>
            <a:r>
              <a:rPr lang="en-US" altLang="zh-CN" sz="2400" baseline="-25000" dirty="0">
                <a:ea typeface="方正细等线_GBK"/>
              </a:rPr>
              <a:t>L</a:t>
            </a:r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跨接在输出端与</a:t>
            </a:r>
            <a:r>
              <a:rPr lang="en-US" altLang="zh-CN" sz="2400" dirty="0"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点之间，没有接地（也称负载浮地）。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(1) </a:t>
            </a:r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求电流增益表达式</a:t>
            </a:r>
            <a:r>
              <a:rPr lang="en-US" altLang="zh-CN" sz="2400" i="1" dirty="0">
                <a:ea typeface="方正书宋_GBK"/>
              </a:rPr>
              <a:t>A</a:t>
            </a:r>
            <a:r>
              <a:rPr lang="en-US" altLang="zh-CN" sz="2400" i="1" baseline="-25000" dirty="0">
                <a:ea typeface="方正书宋_GBK"/>
              </a:rPr>
              <a:t>i</a:t>
            </a:r>
            <a:r>
              <a:rPr lang="en-US" altLang="zh-CN" sz="2400" i="1" dirty="0">
                <a:ea typeface="方正书宋_GBK"/>
              </a:rPr>
              <a:t>=</a:t>
            </a:r>
            <a:r>
              <a:rPr lang="en-US" altLang="zh-CN" sz="2400" i="1" dirty="0" err="1">
                <a:ea typeface="方正书宋_GBK"/>
              </a:rPr>
              <a:t>i</a:t>
            </a:r>
            <a:r>
              <a:rPr lang="en-US" altLang="zh-CN" sz="2400" baseline="-25000" dirty="0" err="1">
                <a:ea typeface="方正书宋_GBK"/>
              </a:rPr>
              <a:t>o</a:t>
            </a:r>
            <a:r>
              <a:rPr lang="en-US" altLang="zh-CN" sz="2400" i="1" dirty="0">
                <a:ea typeface="方正书宋_GBK"/>
              </a:rPr>
              <a:t>/i</a:t>
            </a:r>
            <a:r>
              <a:rPr lang="en-US" altLang="zh-CN" sz="2400" baseline="-25000" dirty="0">
                <a:ea typeface="方正书宋_GBK"/>
              </a:rPr>
              <a:t>s</a:t>
            </a:r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求电路的输入电阻。</a:t>
            </a:r>
            <a:endParaRPr lang="zh-CN" altLang="pt-BR" sz="24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449048" y="2201651"/>
            <a:ext cx="40369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解</a:t>
            </a:r>
            <a:r>
              <a:rPr kumimoji="1"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：利用运放的虚短虚断</a:t>
            </a:r>
            <a:endParaRPr kumimoji="1"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AutoShape 8"/>
          <p:cNvSpPr>
            <a:spLocks noChangeArrowheads="1"/>
          </p:cNvSpPr>
          <p:nvPr/>
        </p:nvSpPr>
        <p:spPr bwMode="auto">
          <a:xfrm>
            <a:off x="5933933" y="4846170"/>
            <a:ext cx="644525" cy="252413"/>
          </a:xfrm>
          <a:prstGeom prst="rightArrow">
            <a:avLst>
              <a:gd name="adj1" fmla="val 50000"/>
              <a:gd name="adj2" fmla="val 63836"/>
            </a:avLst>
          </a:prstGeom>
          <a:noFill/>
          <a:ln w="28575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66725" y="103982"/>
            <a:ext cx="50768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sz="3200" dirty="0" smtClean="0">
                <a:solidFill>
                  <a:srgbClr val="0000CC"/>
                </a:solidFill>
              </a:rPr>
              <a:t>2.3.2  </a:t>
            </a:r>
            <a:r>
              <a:rPr kumimoji="1" lang="zh-CN" altLang="en-US" sz="3200" dirty="0">
                <a:solidFill>
                  <a:srgbClr val="0000CC"/>
                </a:solidFill>
              </a:rPr>
              <a:t>反相放大电路</a:t>
            </a:r>
            <a:endParaRPr kumimoji="1" lang="zh-CN" altLang="en-US" sz="3200" dirty="0">
              <a:solidFill>
                <a:srgbClr val="0000CC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602163" y="1582269"/>
          <a:ext cx="4370170" cy="2291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21" name="Picture" r:id="rId1" imgW="2183130" imgH="1145540" progId="Word.Picture.8">
                  <p:embed/>
                </p:oleObj>
              </mc:Choice>
              <mc:Fallback>
                <p:oleObj name="Picture" r:id="rId1" imgW="2183130" imgH="1145540" progId="Word.Picture.8">
                  <p:embed/>
                  <p:pic>
                    <p:nvPicPr>
                      <p:cNvPr id="0" name="图片 735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163" y="1582269"/>
                        <a:ext cx="4370170" cy="22919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627028" y="2672916"/>
          <a:ext cx="1396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22" name="Equation" r:id="rId3" imgW="16764000" imgH="5486400" progId="Equation.DSMT4">
                  <p:embed/>
                </p:oleObj>
              </mc:Choice>
              <mc:Fallback>
                <p:oleObj name="Equation" r:id="rId3" imgW="16764000" imgH="5486400" progId="Equation.DSMT4">
                  <p:embed/>
                  <p:pic>
                    <p:nvPicPr>
                      <p:cNvPr id="0" name="图片 735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028" y="2672916"/>
                        <a:ext cx="1396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657548" y="3192911"/>
          <a:ext cx="2361600" cy="88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23" name="Equation" r:id="rId5" imgW="28346400" imgH="10668000" progId="Equation.DSMT4">
                  <p:embed/>
                </p:oleObj>
              </mc:Choice>
              <mc:Fallback>
                <p:oleObj name="Equation" r:id="rId5" imgW="28346400" imgH="10668000" progId="Equation.DSMT4">
                  <p:embed/>
                  <p:pic>
                    <p:nvPicPr>
                      <p:cNvPr id="0" name="图片 735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7548" y="3192911"/>
                        <a:ext cx="2361600" cy="888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49048" y="4043303"/>
            <a:ext cx="40369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电流增益</a:t>
            </a:r>
            <a:endParaRPr kumimoji="1"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971600" y="4163504"/>
          <a:ext cx="46736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24" name="Equation" r:id="rId7" imgW="56083200" imgH="15544800" progId="Equation.DSMT4">
                  <p:embed/>
                </p:oleObj>
              </mc:Choice>
              <mc:Fallback>
                <p:oleObj name="Equation" r:id="rId7" imgW="56083200" imgH="15544800" progId="Equation.DSMT4">
                  <p:embed/>
                  <p:pic>
                    <p:nvPicPr>
                      <p:cNvPr id="0" name="图片 735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4163504"/>
                        <a:ext cx="4673600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768244" y="4527877"/>
          <a:ext cx="1778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25" name="Equation" r:id="rId9" imgW="21336000" imgH="10668000" progId="Equation.DSMT4">
                  <p:embed/>
                </p:oleObj>
              </mc:Choice>
              <mc:Fallback>
                <p:oleObj name="Equation" r:id="rId9" imgW="21336000" imgH="10668000" progId="Equation.DSMT4">
                  <p:embed/>
                  <p:pic>
                    <p:nvPicPr>
                      <p:cNvPr id="0" name="图片 735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8244" y="4527877"/>
                        <a:ext cx="17780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502728" y="5601017"/>
            <a:ext cx="19450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输入电阻</a:t>
            </a:r>
            <a:endParaRPr kumimoji="1"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159732" y="5471268"/>
          <a:ext cx="1498320" cy="88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26" name="Equation" r:id="rId11" imgW="17983200" imgH="10668000" progId="Equation.DSMT4">
                  <p:embed/>
                </p:oleObj>
              </mc:Choice>
              <mc:Fallback>
                <p:oleObj name="Equation" r:id="rId11" imgW="17983200" imgH="10668000" progId="Equation.DSMT4">
                  <p:embed/>
                  <p:pic>
                    <p:nvPicPr>
                      <p:cNvPr id="0" name="图片 735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732" y="5471268"/>
                        <a:ext cx="1498320" cy="888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3815916" y="5639163"/>
            <a:ext cx="25758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zh-CN" altLang="en-US" sz="24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有什么好处？</a:t>
            </a:r>
            <a:endParaRPr kumimoji="1"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127647" y="2585339"/>
          <a:ext cx="1299718" cy="1033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27" name="Picture" r:id="rId13" imgW="650875" imgH="518160" progId="Word.Picture.8">
                  <p:embed/>
                </p:oleObj>
              </mc:Choice>
              <mc:Fallback>
                <p:oleObj name="Picture" r:id="rId13" imgW="650875" imgH="518160" progId="Word.Pictur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647" y="2585339"/>
                        <a:ext cx="1299718" cy="103396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6732240" y="4091496"/>
            <a:ext cx="22040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zh-CN" altLang="en-US" sz="24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与负载有关吗？</a:t>
            </a:r>
            <a:endParaRPr kumimoji="1"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298" y="1996552"/>
            <a:ext cx="4481186" cy="3124636"/>
          </a:xfrm>
          <a:prstGeom prst="rect">
            <a:avLst/>
          </a:prstGeom>
        </p:spPr>
      </p:pic>
      <p:sp>
        <p:nvSpPr>
          <p:cNvPr id="36866" name="Rectangle 4"/>
          <p:cNvSpPr>
            <a:spLocks noChangeArrowheads="1"/>
          </p:cNvSpPr>
          <p:nvPr/>
        </p:nvSpPr>
        <p:spPr bwMode="auto">
          <a:xfrm>
            <a:off x="284387" y="764704"/>
            <a:ext cx="8820150" cy="1285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kumimoji="1" lang="en-US" altLang="zh-CN" sz="2200" dirty="0">
                <a:solidFill>
                  <a:srgbClr val="CC0000"/>
                </a:solidFill>
              </a:rPr>
              <a:t> </a:t>
            </a:r>
            <a:r>
              <a:rPr kumimoji="1" lang="zh-CN" altLang="en-US" sz="2200" dirty="0" smtClean="0">
                <a:solidFill>
                  <a:srgbClr val="CC0000"/>
                </a:solidFill>
              </a:rPr>
              <a:t>例</a:t>
            </a:r>
            <a:r>
              <a:rPr kumimoji="1" lang="en-US" altLang="zh-CN" sz="2200" dirty="0" smtClean="0">
                <a:solidFill>
                  <a:srgbClr val="CC0000"/>
                </a:solidFill>
              </a:rPr>
              <a:t>:</a:t>
            </a:r>
            <a:r>
              <a:rPr kumimoji="1" lang="en-US" altLang="zh-CN" sz="2200" dirty="0" smtClean="0"/>
              <a:t> </a:t>
            </a:r>
            <a:r>
              <a:rPr lang="zh-CN" altLang="zh-CN" sz="22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设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信号为零时电源引脚电流</a:t>
            </a:r>
            <a:r>
              <a:rPr lang="en-US" altLang="zh-CN" sz="2200" i="1" dirty="0">
                <a:ea typeface="方正书宋_GBK"/>
              </a:rPr>
              <a:t>I</a:t>
            </a:r>
            <a:r>
              <a:rPr lang="en-US" altLang="zh-CN" sz="2200" baseline="-25000" dirty="0">
                <a:ea typeface="方正书宋_GBK"/>
              </a:rPr>
              <a:t>Q</a:t>
            </a:r>
            <a:r>
              <a:rPr lang="en-US" altLang="zh-CN" sz="2200" dirty="0">
                <a:ea typeface="华文行楷" panose="02010800040101010101" pitchFamily="2" charset="-122"/>
              </a:rPr>
              <a:t>=</a:t>
            </a:r>
            <a:r>
              <a:rPr lang="en-US" altLang="zh-CN" sz="2200" dirty="0">
                <a:ea typeface="方正细等线_GBK"/>
              </a:rPr>
              <a:t>0.5mA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（也称为静态电流）。电路输出驱动一个</a:t>
            </a:r>
            <a:r>
              <a:rPr lang="en-US" altLang="zh-CN" sz="2200" dirty="0">
                <a:ea typeface="方正细等线_GBK"/>
              </a:rPr>
              <a:t>2kΩ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的负载</a:t>
            </a:r>
            <a:r>
              <a:rPr lang="zh-CN" altLang="zh-CN" sz="22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22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(1) </a:t>
            </a:r>
            <a:r>
              <a:rPr lang="en-US" altLang="zh-CN" sz="2200" i="1" dirty="0" smtClean="0">
                <a:latin typeface="Book Antiqua" panose="02040602050305030304" pitchFamily="18" charset="0"/>
                <a:ea typeface="方正书宋_GBK"/>
                <a:cs typeface="Times New Roman" panose="02020603050405020304" pitchFamily="18" charset="0"/>
              </a:rPr>
              <a:t>v</a:t>
            </a:r>
            <a:r>
              <a:rPr lang="en-US" altLang="zh-CN" sz="2200" baseline="-25000" dirty="0" smtClean="0">
                <a:ea typeface="方正书宋_GBK"/>
              </a:rPr>
              <a:t>i</a:t>
            </a:r>
            <a:r>
              <a:rPr lang="en-US" altLang="zh-CN" sz="2200" i="1" dirty="0" smtClean="0">
                <a:ea typeface="方正书宋_GBK"/>
              </a:rPr>
              <a:t> </a:t>
            </a:r>
            <a:r>
              <a:rPr lang="en-US" altLang="zh-CN" sz="2200" dirty="0">
                <a:ea typeface="方正细等线_GBK"/>
              </a:rPr>
              <a:t>=0V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时，求运放的输出电流、两电源引脚中的电流和运放的耗散功率</a:t>
            </a:r>
            <a:r>
              <a:rPr lang="zh-CN" altLang="zh-CN" sz="22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22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(2) </a:t>
            </a:r>
            <a:r>
              <a:rPr lang="en-US" altLang="zh-CN" sz="2200" i="1" dirty="0" smtClean="0">
                <a:latin typeface="Book Antiqua" panose="02040602050305030304" pitchFamily="18" charset="0"/>
                <a:ea typeface="方正书宋_GBK"/>
                <a:cs typeface="Times New Roman" panose="02020603050405020304" pitchFamily="18" charset="0"/>
              </a:rPr>
              <a:t>v</a:t>
            </a:r>
            <a:r>
              <a:rPr lang="en-US" altLang="zh-CN" sz="2200" baseline="-25000" dirty="0" smtClean="0">
                <a:ea typeface="方正书宋_GBK"/>
              </a:rPr>
              <a:t>i</a:t>
            </a:r>
            <a:r>
              <a:rPr lang="en-US" altLang="zh-CN" sz="2200" i="1" dirty="0" smtClean="0">
                <a:ea typeface="方正书宋_GBK"/>
              </a:rPr>
              <a:t> </a:t>
            </a:r>
            <a:r>
              <a:rPr lang="en-US" altLang="zh-CN" sz="2200" dirty="0">
                <a:ea typeface="方正细等线_GBK"/>
              </a:rPr>
              <a:t>=3V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时，再</a:t>
            </a:r>
            <a:r>
              <a:rPr lang="zh-CN" altLang="zh-CN" sz="22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sz="22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sz="22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的问题。</a:t>
            </a:r>
            <a:endParaRPr lang="zh-CN" altLang="en-US" sz="22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1064" name="Rectangle 8"/>
          <p:cNvSpPr>
            <a:spLocks noChangeArrowheads="1"/>
          </p:cNvSpPr>
          <p:nvPr/>
        </p:nvSpPr>
        <p:spPr bwMode="auto">
          <a:xfrm>
            <a:off x="330022" y="2323728"/>
            <a:ext cx="1368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解：</a:t>
            </a:r>
            <a:endParaRPr kumimoji="1"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41065" name="Rectangle 9"/>
          <p:cNvSpPr>
            <a:spLocks noChangeArrowheads="1"/>
          </p:cNvSpPr>
          <p:nvPr/>
        </p:nvSpPr>
        <p:spPr bwMode="auto">
          <a:xfrm>
            <a:off x="939953" y="2319106"/>
            <a:ext cx="2044879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10000"/>
              </a:lnSpc>
            </a:pPr>
            <a:r>
              <a:rPr lang="en-US" altLang="zh-CN" sz="2400" dirty="0">
                <a:solidFill>
                  <a:prstClr val="black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(1) </a:t>
            </a:r>
            <a:r>
              <a:rPr lang="en-US" altLang="zh-CN" sz="2400" i="1" dirty="0">
                <a:solidFill>
                  <a:prstClr val="black"/>
                </a:solidFill>
                <a:latin typeface="Book Antiqua" panose="02040602050305030304" pitchFamily="18" charset="0"/>
                <a:ea typeface="方正书宋_GBK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solidFill>
                  <a:prstClr val="black"/>
                </a:solidFill>
                <a:latin typeface="Calibri" panose="020F0502020204030204"/>
                <a:ea typeface="方正书宋_GBK"/>
              </a:rPr>
              <a:t>i</a:t>
            </a:r>
            <a:r>
              <a:rPr lang="en-US" altLang="zh-CN" sz="2400" i="1" dirty="0">
                <a:solidFill>
                  <a:prstClr val="black"/>
                </a:solidFill>
                <a:latin typeface="Calibri" panose="020F0502020204030204"/>
                <a:ea typeface="方正书宋_GBK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ea typeface="方正细等线_GBK"/>
                <a:cs typeface="Times New Roman" panose="02020603050405020304" pitchFamily="18" charset="0"/>
              </a:rPr>
              <a:t>=0V</a:t>
            </a:r>
            <a:r>
              <a:rPr lang="zh-CN" altLang="zh-CN" sz="2400" dirty="0" smtClean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时</a:t>
            </a:r>
            <a:r>
              <a:rPr lang="zh-CN" altLang="en-US" sz="2400" dirty="0" smtClean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endParaRPr kumimoji="1" lang="zh-CN" altLang="en-US" sz="2400" dirty="0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466725" y="103982"/>
            <a:ext cx="50768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sz="3200" dirty="0" smtClean="0">
                <a:solidFill>
                  <a:srgbClr val="0000CC"/>
                </a:solidFill>
              </a:rPr>
              <a:t>2.3.2  </a:t>
            </a:r>
            <a:r>
              <a:rPr kumimoji="1" lang="zh-CN" altLang="en-US" sz="3200" dirty="0">
                <a:solidFill>
                  <a:srgbClr val="0000CC"/>
                </a:solidFill>
              </a:rPr>
              <a:t>反相放大电路</a:t>
            </a:r>
            <a:endParaRPr kumimoji="1" lang="zh-CN" altLang="en-US" sz="3200" dirty="0">
              <a:solidFill>
                <a:srgbClr val="0000CC"/>
              </a:solidFill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200452" y="2957563"/>
          <a:ext cx="1828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824" name="Equation" r:id="rId2" imgW="21945600" imgH="5486400" progId="Equation.DSMT4">
                  <p:embed/>
                </p:oleObj>
              </mc:Choice>
              <mc:Fallback>
                <p:oleObj name="Equation" r:id="rId2" imgW="21945600" imgH="5486400" progId="Equation.DSMT4">
                  <p:embed/>
                  <p:pic>
                    <p:nvPicPr>
                      <p:cNvPr id="0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452" y="2957563"/>
                        <a:ext cx="1828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200452" y="3700508"/>
          <a:ext cx="18018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825" name="Equation" r:id="rId4" imgW="21640800" imgH="5486400" progId="Equation.DSMT4">
                  <p:embed/>
                </p:oleObj>
              </mc:Choice>
              <mc:Fallback>
                <p:oleObj name="Equation" r:id="rId4" imgW="21640800" imgH="5486400" progId="Equation.DSMT4">
                  <p:embed/>
                  <p:pic>
                    <p:nvPicPr>
                      <p:cNvPr id="0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452" y="3700508"/>
                        <a:ext cx="1801813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200452" y="4443453"/>
          <a:ext cx="2819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826" name="Equation" r:id="rId6" imgW="33832800" imgH="5791200" progId="Equation.DSMT4">
                  <p:embed/>
                </p:oleObj>
              </mc:Choice>
              <mc:Fallback>
                <p:oleObj name="Equation" r:id="rId6" imgW="33832800" imgH="5791200" progId="Equation.DSMT4">
                  <p:embed/>
                  <p:pic>
                    <p:nvPicPr>
                      <p:cNvPr id="0" name="Object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452" y="4443453"/>
                        <a:ext cx="28194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200452" y="5211799"/>
          <a:ext cx="5257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827" name="Equation" r:id="rId8" imgW="63093600" imgH="5791200" progId="Equation.DSMT4">
                  <p:embed/>
                </p:oleObj>
              </mc:Choice>
              <mc:Fallback>
                <p:oleObj name="Equation" r:id="rId8" imgW="63093600" imgH="5791200" progId="Equation.DSMT4">
                  <p:embed/>
                  <p:pic>
                    <p:nvPicPr>
                      <p:cNvPr id="0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452" y="5211799"/>
                        <a:ext cx="5257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9"/>
          <p:cNvSpPr>
            <a:spLocks noChangeArrowheads="1"/>
          </p:cNvSpPr>
          <p:nvPr/>
        </p:nvSpPr>
        <p:spPr bwMode="auto">
          <a:xfrm>
            <a:off x="2984832" y="2310614"/>
            <a:ext cx="2044879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10000"/>
              </a:lnSpc>
            </a:pPr>
            <a:r>
              <a:rPr lang="en-US" altLang="zh-CN" sz="2400" dirty="0" smtClean="0">
                <a:solidFill>
                  <a:prstClr val="black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err="1" smtClean="0">
                <a:solidFill>
                  <a:prstClr val="black"/>
                </a:solidFill>
                <a:latin typeface="Book Antiqua" panose="02040602050305030304" pitchFamily="18" charset="0"/>
                <a:ea typeface="方正书宋_GBK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 smtClean="0">
                <a:solidFill>
                  <a:prstClr val="black"/>
                </a:solidFill>
                <a:latin typeface="Calibri" panose="020F0502020204030204"/>
                <a:ea typeface="方正书宋_GBK"/>
              </a:rPr>
              <a:t>o</a:t>
            </a:r>
            <a:r>
              <a:rPr lang="en-US" altLang="zh-CN" sz="2400" i="1" dirty="0" smtClean="0">
                <a:solidFill>
                  <a:prstClr val="black"/>
                </a:solidFill>
                <a:latin typeface="Calibri" panose="020F0502020204030204"/>
                <a:ea typeface="方正书宋_GBK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ea typeface="方正细等线_GBK"/>
                <a:cs typeface="Times New Roman" panose="02020603050405020304" pitchFamily="18" charset="0"/>
              </a:rPr>
              <a:t>=</a:t>
            </a:r>
            <a:r>
              <a:rPr lang="en-US" altLang="zh-CN" sz="2400" dirty="0" smtClean="0">
                <a:solidFill>
                  <a:prstClr val="black"/>
                </a:solidFill>
                <a:ea typeface="方正细等线_GBK"/>
                <a:cs typeface="Times New Roman" panose="02020603050405020304" pitchFamily="18" charset="0"/>
              </a:rPr>
              <a:t>0V</a:t>
            </a:r>
            <a:endParaRPr kumimoji="1"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4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1064" grpId="0"/>
      <p:bldP spid="941065" grpId="0"/>
      <p:bldP spid="3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298" y="1996552"/>
            <a:ext cx="4481186" cy="3124636"/>
          </a:xfrm>
          <a:prstGeom prst="rect">
            <a:avLst/>
          </a:prstGeom>
        </p:spPr>
      </p:pic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330022" y="2065470"/>
            <a:ext cx="1368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解：</a:t>
            </a:r>
            <a:endParaRPr kumimoji="1"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939953" y="2060848"/>
            <a:ext cx="2089299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10000"/>
              </a:lnSpc>
            </a:pPr>
            <a:r>
              <a:rPr lang="en-US" altLang="zh-CN" sz="2400" dirty="0">
                <a:solidFill>
                  <a:prstClr val="black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(1) </a:t>
            </a:r>
            <a:r>
              <a:rPr lang="en-US" altLang="zh-CN" sz="2400" i="1" dirty="0">
                <a:solidFill>
                  <a:prstClr val="black"/>
                </a:solidFill>
                <a:latin typeface="Book Antiqua" panose="02040602050305030304" pitchFamily="18" charset="0"/>
                <a:ea typeface="方正书宋_GBK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solidFill>
                  <a:prstClr val="black"/>
                </a:solidFill>
                <a:latin typeface="Calibri" panose="020F0502020204030204"/>
                <a:ea typeface="方正书宋_GBK"/>
              </a:rPr>
              <a:t>i</a:t>
            </a:r>
            <a:r>
              <a:rPr lang="en-US" altLang="zh-CN" sz="2400" i="1" dirty="0">
                <a:solidFill>
                  <a:prstClr val="black"/>
                </a:solidFill>
                <a:latin typeface="Calibri" panose="020F0502020204030204"/>
                <a:ea typeface="方正书宋_GBK"/>
              </a:rPr>
              <a:t> </a:t>
            </a:r>
            <a:r>
              <a:rPr lang="en-US" altLang="zh-CN" sz="2400" dirty="0" smtClean="0">
                <a:solidFill>
                  <a:prstClr val="black"/>
                </a:solidFill>
                <a:ea typeface="方正细等线_GBK"/>
                <a:cs typeface="Times New Roman" panose="02020603050405020304" pitchFamily="18" charset="0"/>
              </a:rPr>
              <a:t>=3V</a:t>
            </a:r>
            <a:r>
              <a:rPr lang="zh-CN" altLang="zh-CN" sz="2400" dirty="0" smtClean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时</a:t>
            </a:r>
            <a:r>
              <a:rPr lang="zh-CN" altLang="en-US" sz="2400" dirty="0" smtClean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endParaRPr kumimoji="1" lang="zh-CN" altLang="en-US" sz="24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66725" y="103982"/>
            <a:ext cx="50768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sz="3200" dirty="0" smtClean="0">
                <a:solidFill>
                  <a:srgbClr val="0000CC"/>
                </a:solidFill>
              </a:rPr>
              <a:t>2.3.2  </a:t>
            </a:r>
            <a:r>
              <a:rPr kumimoji="1" lang="zh-CN" altLang="en-US" sz="3200" dirty="0">
                <a:solidFill>
                  <a:srgbClr val="0000CC"/>
                </a:solidFill>
              </a:rPr>
              <a:t>反相放大电路</a:t>
            </a:r>
            <a:endParaRPr kumimoji="1" lang="zh-CN" altLang="en-US" sz="3200" dirty="0">
              <a:solidFill>
                <a:srgbClr val="0000CC"/>
              </a:solidFill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91580" y="5301208"/>
          <a:ext cx="25876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86" name="Equation" r:id="rId2" imgW="31089600" imgH="5486400" progId="Equation.DSMT4">
                  <p:embed/>
                </p:oleObj>
              </mc:Choice>
              <mc:Fallback>
                <p:oleObj name="Equation" r:id="rId2" imgW="31089600" imgH="5486400" progId="Equation.DSMT4">
                  <p:embed/>
                  <p:pic>
                    <p:nvPicPr>
                      <p:cNvPr id="0" name="图片 745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580" y="5301208"/>
                        <a:ext cx="258762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91580" y="5890528"/>
          <a:ext cx="2209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87" name="Equation" r:id="rId4" imgW="26517600" imgH="5791200" progId="Equation.DSMT4">
                  <p:embed/>
                </p:oleObj>
              </mc:Choice>
              <mc:Fallback>
                <p:oleObj name="Equation" r:id="rId4" imgW="26517600" imgH="5791200" progId="Equation.DSMT4">
                  <p:embed/>
                  <p:pic>
                    <p:nvPicPr>
                      <p:cNvPr id="0" name="图片 745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580" y="5890528"/>
                        <a:ext cx="2209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945892" y="5718708"/>
          <a:ext cx="5054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88" name="Equation" r:id="rId6" imgW="60655200" imgH="5791200" progId="Equation.DSMT4">
                  <p:embed/>
                </p:oleObj>
              </mc:Choice>
              <mc:Fallback>
                <p:oleObj name="Equation" r:id="rId6" imgW="60655200" imgH="5791200" progId="Equation.DSMT4">
                  <p:embed/>
                  <p:pic>
                    <p:nvPicPr>
                      <p:cNvPr id="0" name="图片 745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5892" y="5718708"/>
                        <a:ext cx="50546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91580" y="2546525"/>
          <a:ext cx="2438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89" name="Equation" r:id="rId8" imgW="29260800" imgH="10668000" progId="Equation.DSMT4">
                  <p:embed/>
                </p:oleObj>
              </mc:Choice>
              <mc:Fallback>
                <p:oleObj name="Equation" r:id="rId8" imgW="29260800" imgH="10668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580" y="2546525"/>
                        <a:ext cx="24384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91580" y="3429000"/>
          <a:ext cx="4064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90" name="Equation" r:id="rId10" imgW="48768000" imgH="10668000" progId="Equation.DSMT4">
                  <p:embed/>
                </p:oleObj>
              </mc:Choice>
              <mc:Fallback>
                <p:oleObj name="Equation" r:id="rId10" imgW="48768000" imgH="10668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580" y="3429000"/>
                        <a:ext cx="40640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791580" y="4329100"/>
          <a:ext cx="3505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91" name="Equation" r:id="rId12" imgW="42062400" imgH="10668000" progId="Equation.DSMT4">
                  <p:embed/>
                </p:oleObj>
              </mc:Choice>
              <mc:Fallback>
                <p:oleObj name="Equation" r:id="rId12" imgW="42062400" imgH="10668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580" y="4329100"/>
                        <a:ext cx="35052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8064388" y="3320988"/>
            <a:ext cx="65597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10000"/>
              </a:lnSpc>
            </a:pPr>
            <a:r>
              <a:rPr lang="en-US" altLang="zh-CN" sz="20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-</a:t>
            </a:r>
            <a:r>
              <a:rPr lang="en-US" altLang="zh-CN" sz="2000" dirty="0" smtClean="0">
                <a:solidFill>
                  <a:srgbClr val="FF0000"/>
                </a:solidFill>
                <a:ea typeface="方正细等线_GBK"/>
                <a:cs typeface="Times New Roman" panose="02020603050405020304" pitchFamily="18" charset="0"/>
              </a:rPr>
              <a:t>9V</a:t>
            </a:r>
            <a:endParaRPr kumimoji="1" lang="zh-CN" altLang="en-US" sz="2000" dirty="0">
              <a:solidFill>
                <a:srgbClr val="FF0000"/>
              </a:solidFill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962806" y="5106705"/>
          <a:ext cx="2667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92" name="Equation" r:id="rId14" imgW="32004000" imgH="5791200" progId="Equation.DSMT4">
                  <p:embed/>
                </p:oleObj>
              </mc:Choice>
              <mc:Fallback>
                <p:oleObj name="Equation" r:id="rId14" imgW="32004000" imgH="5791200" progId="Equation.DSMT4">
                  <p:embed/>
                  <p:pic>
                    <p:nvPicPr>
                      <p:cNvPr id="0" name="图片 745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2806" y="5106705"/>
                        <a:ext cx="26670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284387" y="764704"/>
            <a:ext cx="8820150" cy="1285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kumimoji="1" lang="en-US" altLang="zh-CN" sz="2200" dirty="0">
                <a:solidFill>
                  <a:srgbClr val="CC0000"/>
                </a:solidFill>
              </a:rPr>
              <a:t> </a:t>
            </a:r>
            <a:r>
              <a:rPr kumimoji="1" lang="zh-CN" altLang="en-US" sz="2200" dirty="0" smtClean="0">
                <a:solidFill>
                  <a:srgbClr val="CC0000"/>
                </a:solidFill>
              </a:rPr>
              <a:t>例</a:t>
            </a:r>
            <a:r>
              <a:rPr kumimoji="1" lang="en-US" altLang="zh-CN" sz="2200" dirty="0" smtClean="0">
                <a:solidFill>
                  <a:srgbClr val="CC0000"/>
                </a:solidFill>
              </a:rPr>
              <a:t>:</a:t>
            </a:r>
            <a:r>
              <a:rPr kumimoji="1" lang="en-US" altLang="zh-CN" sz="2200" dirty="0" smtClean="0"/>
              <a:t> </a:t>
            </a:r>
            <a:r>
              <a:rPr lang="zh-CN" altLang="zh-CN" sz="22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设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信号为零时电源引脚电流</a:t>
            </a:r>
            <a:r>
              <a:rPr lang="en-US" altLang="zh-CN" sz="2200" i="1" dirty="0">
                <a:ea typeface="方正书宋_GBK"/>
              </a:rPr>
              <a:t>I</a:t>
            </a:r>
            <a:r>
              <a:rPr lang="en-US" altLang="zh-CN" sz="2200" baseline="-25000" dirty="0">
                <a:ea typeface="方正书宋_GBK"/>
              </a:rPr>
              <a:t>Q</a:t>
            </a:r>
            <a:r>
              <a:rPr lang="en-US" altLang="zh-CN" sz="2200" dirty="0">
                <a:ea typeface="华文行楷" panose="02010800040101010101" pitchFamily="2" charset="-122"/>
              </a:rPr>
              <a:t>=</a:t>
            </a:r>
            <a:r>
              <a:rPr lang="en-US" altLang="zh-CN" sz="2200" dirty="0">
                <a:ea typeface="方正细等线_GBK"/>
              </a:rPr>
              <a:t>0.5mA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（也称为静态电流）。电路输出驱动一个</a:t>
            </a:r>
            <a:r>
              <a:rPr lang="en-US" altLang="zh-CN" sz="2200" dirty="0">
                <a:ea typeface="方正细等线_GBK"/>
              </a:rPr>
              <a:t>2kΩ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的负载</a:t>
            </a:r>
            <a:r>
              <a:rPr lang="zh-CN" altLang="zh-CN" sz="22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22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(1) </a:t>
            </a:r>
            <a:r>
              <a:rPr lang="en-US" altLang="zh-CN" sz="2200" i="1" dirty="0" smtClean="0">
                <a:latin typeface="Book Antiqua" panose="02040602050305030304" pitchFamily="18" charset="0"/>
                <a:ea typeface="方正书宋_GBK"/>
                <a:cs typeface="Times New Roman" panose="02020603050405020304" pitchFamily="18" charset="0"/>
              </a:rPr>
              <a:t>v</a:t>
            </a:r>
            <a:r>
              <a:rPr lang="en-US" altLang="zh-CN" sz="2200" baseline="-25000" dirty="0" smtClean="0">
                <a:ea typeface="方正书宋_GBK"/>
              </a:rPr>
              <a:t>i</a:t>
            </a:r>
            <a:r>
              <a:rPr lang="en-US" altLang="zh-CN" sz="2200" i="1" dirty="0" smtClean="0">
                <a:ea typeface="方正书宋_GBK"/>
              </a:rPr>
              <a:t> </a:t>
            </a:r>
            <a:r>
              <a:rPr lang="en-US" altLang="zh-CN" sz="2200" dirty="0">
                <a:ea typeface="方正细等线_GBK"/>
              </a:rPr>
              <a:t>=0V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时，求运放的输出电流、两电源引脚中的电流和运放的耗散功率</a:t>
            </a:r>
            <a:r>
              <a:rPr lang="zh-CN" altLang="zh-CN" sz="22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22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(2) </a:t>
            </a:r>
            <a:r>
              <a:rPr lang="en-US" altLang="zh-CN" sz="2200" i="1" dirty="0" smtClean="0">
                <a:latin typeface="Book Antiqua" panose="02040602050305030304" pitchFamily="18" charset="0"/>
                <a:ea typeface="方正书宋_GBK"/>
                <a:cs typeface="Times New Roman" panose="02020603050405020304" pitchFamily="18" charset="0"/>
              </a:rPr>
              <a:t>v</a:t>
            </a:r>
            <a:r>
              <a:rPr lang="en-US" altLang="zh-CN" sz="2200" baseline="-25000" dirty="0" smtClean="0">
                <a:ea typeface="方正书宋_GBK"/>
              </a:rPr>
              <a:t>i</a:t>
            </a:r>
            <a:r>
              <a:rPr lang="en-US" altLang="zh-CN" sz="2200" i="1" dirty="0" smtClean="0">
                <a:ea typeface="方正书宋_GBK"/>
              </a:rPr>
              <a:t> </a:t>
            </a:r>
            <a:r>
              <a:rPr lang="en-US" altLang="zh-CN" sz="2200" dirty="0">
                <a:ea typeface="方正细等线_GBK"/>
              </a:rPr>
              <a:t>=3V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时，再</a:t>
            </a:r>
            <a:r>
              <a:rPr lang="zh-CN" altLang="zh-CN" sz="22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sz="22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sz="22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的问题。</a:t>
            </a:r>
            <a:endParaRPr lang="zh-CN" altLang="en-US" sz="22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11188" y="1304925"/>
            <a:ext cx="8532812" cy="2850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40000"/>
              </a:lnSpc>
            </a:pPr>
            <a:r>
              <a:rPr lang="en-US" altLang="zh-CN" sz="3200" dirty="0"/>
              <a:t>2.1 </a:t>
            </a:r>
            <a:r>
              <a:rPr lang="zh-CN" altLang="en-US" sz="3200" dirty="0" smtClean="0"/>
              <a:t>集成电路运算放大器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/>
              <a:t>2.2 </a:t>
            </a:r>
            <a:r>
              <a:rPr lang="zh-CN" altLang="en-US" sz="3200" dirty="0"/>
              <a:t>理想运算放大器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/>
              <a:t>2.3 </a:t>
            </a:r>
            <a:r>
              <a:rPr lang="zh-CN" altLang="en-US" sz="3200" dirty="0"/>
              <a:t>基本线性运放电路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>
                <a:solidFill>
                  <a:schemeClr val="accent2"/>
                </a:solidFill>
              </a:rPr>
              <a:t>2.4 </a:t>
            </a:r>
            <a:r>
              <a:rPr lang="zh-CN" altLang="en-US" sz="3200" dirty="0">
                <a:solidFill>
                  <a:schemeClr val="accent2"/>
                </a:solidFill>
              </a:rPr>
              <a:t>同相输入和反相输入放大电路的其他应用</a:t>
            </a:r>
            <a:endParaRPr lang="zh-CN" altLang="en-US" sz="3200" dirty="0">
              <a:solidFill>
                <a:schemeClr val="accent2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11188" y="43408"/>
            <a:ext cx="7607300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88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60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4180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4230" indent="-39878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dirty="0">
                <a:solidFill>
                  <a:srgbClr val="000099"/>
                </a:solidFill>
              </a:rPr>
              <a:t>2  </a:t>
            </a:r>
            <a:r>
              <a:rPr lang="zh-CN" altLang="en-US" sz="3600" dirty="0" smtClean="0">
                <a:solidFill>
                  <a:srgbClr val="000099"/>
                </a:solidFill>
              </a:rPr>
              <a:t>运算放大器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/>
          <p:cNvSpPr>
            <a:spLocks noChangeArrowheads="1"/>
          </p:cNvSpPr>
          <p:nvPr/>
        </p:nvSpPr>
        <p:spPr bwMode="auto">
          <a:xfrm>
            <a:off x="1116013" y="1844675"/>
            <a:ext cx="5802312" cy="282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40000"/>
              </a:lnSpc>
            </a:pPr>
            <a:r>
              <a:rPr lang="en-US" altLang="zh-CN" sz="3200" dirty="0" smtClean="0">
                <a:solidFill>
                  <a:schemeClr val="accent2"/>
                </a:solidFill>
              </a:rPr>
              <a:t>2.4.1 </a:t>
            </a:r>
            <a:r>
              <a:rPr lang="zh-CN" altLang="en-US" sz="3200" dirty="0" smtClean="0">
                <a:solidFill>
                  <a:schemeClr val="accent2"/>
                </a:solidFill>
              </a:rPr>
              <a:t>求和电路</a:t>
            </a:r>
            <a:r>
              <a:rPr lang="zh-CN" altLang="en-US" sz="3200" dirty="0">
                <a:solidFill>
                  <a:schemeClr val="accent2"/>
                </a:solidFill>
              </a:rPr>
              <a:t>	</a:t>
            </a:r>
            <a:endParaRPr lang="zh-CN" altLang="en-US" sz="3200" dirty="0">
              <a:solidFill>
                <a:schemeClr val="accent2"/>
              </a:solidFill>
            </a:endParaRPr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 smtClean="0"/>
              <a:t>2.4.2 </a:t>
            </a:r>
            <a:r>
              <a:rPr lang="zh-CN" altLang="en-US" sz="3200" dirty="0"/>
              <a:t>求</a:t>
            </a:r>
            <a:r>
              <a:rPr lang="zh-CN" altLang="en-US" sz="3200" dirty="0" smtClean="0"/>
              <a:t>差电路</a:t>
            </a:r>
            <a:r>
              <a:rPr lang="zh-CN" altLang="en-US" sz="3200" dirty="0"/>
              <a:t>	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 smtClean="0"/>
              <a:t>2.4.3 </a:t>
            </a:r>
            <a:r>
              <a:rPr lang="zh-CN" altLang="en-US" sz="3200" dirty="0"/>
              <a:t>仪用</a:t>
            </a:r>
            <a:r>
              <a:rPr lang="zh-CN" altLang="en-US" sz="3200" dirty="0" smtClean="0"/>
              <a:t>放大器</a:t>
            </a:r>
            <a:r>
              <a:rPr lang="zh-CN" altLang="en-US" sz="3200" dirty="0"/>
              <a:t>	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 smtClean="0"/>
              <a:t>2.4.4 </a:t>
            </a:r>
            <a:r>
              <a:rPr lang="zh-CN" altLang="en-US" sz="3200" dirty="0"/>
              <a:t>积分和微分电路</a:t>
            </a:r>
            <a:endParaRPr lang="zh-CN" altLang="en-US" sz="3200" dirty="0"/>
          </a:p>
        </p:txBody>
      </p:sp>
      <p:sp>
        <p:nvSpPr>
          <p:cNvPr id="38915" name="Rectangle 5"/>
          <p:cNvSpPr>
            <a:spLocks noChangeArrowheads="1"/>
          </p:cNvSpPr>
          <p:nvPr/>
        </p:nvSpPr>
        <p:spPr bwMode="auto">
          <a:xfrm>
            <a:off x="647564" y="93054"/>
            <a:ext cx="7380820" cy="1355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600" dirty="0" smtClean="0">
                <a:solidFill>
                  <a:srgbClr val="000099"/>
                </a:solidFill>
              </a:rPr>
              <a:t>2.4  </a:t>
            </a:r>
            <a:r>
              <a:rPr lang="zh-CN" altLang="en-US" sz="3600" dirty="0">
                <a:solidFill>
                  <a:srgbClr val="000099"/>
                </a:solidFill>
              </a:rPr>
              <a:t>同相输入和反相输入放大电路</a:t>
            </a:r>
            <a:endParaRPr lang="zh-CN" altLang="en-US" sz="3600" dirty="0">
              <a:solidFill>
                <a:srgbClr val="000099"/>
              </a:solidFill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3600" dirty="0">
                <a:solidFill>
                  <a:srgbClr val="000099"/>
                </a:solidFill>
              </a:rPr>
              <a:t>的其他应用	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908720"/>
            <a:ext cx="4996083" cy="2915057"/>
          </a:xfrm>
          <a:prstGeom prst="rect">
            <a:avLst/>
          </a:prstGeom>
        </p:spPr>
      </p:pic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503238" y="783598"/>
            <a:ext cx="34925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zh-CN" altLang="en-US" dirty="0" smtClean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反相</a:t>
            </a:r>
            <a:r>
              <a:rPr kumimoji="1" lang="zh-CN" altLang="en-US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加法</a:t>
            </a:r>
            <a:r>
              <a:rPr kumimoji="1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kumimoji="1"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508705" y="95250"/>
            <a:ext cx="5940846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just" eaLnBrk="1" hangingPunct="1"/>
            <a:r>
              <a:rPr lang="en-US" altLang="zh-CN" sz="3200" dirty="0" smtClean="0">
                <a:solidFill>
                  <a:srgbClr val="0000CC"/>
                </a:solidFill>
              </a:rPr>
              <a:t>2.4.1    </a:t>
            </a:r>
            <a:r>
              <a:rPr lang="zh-CN" altLang="en-US" sz="3200" dirty="0" smtClean="0">
                <a:solidFill>
                  <a:srgbClr val="0000CC"/>
                </a:solidFill>
              </a:rPr>
              <a:t>求和</a:t>
            </a:r>
            <a:r>
              <a:rPr lang="zh-CN" altLang="en-US" sz="3200" dirty="0">
                <a:solidFill>
                  <a:srgbClr val="0000CC"/>
                </a:solidFill>
              </a:rPr>
              <a:t>电路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graphicFrame>
        <p:nvGraphicFramePr>
          <p:cNvPr id="924683" name="Object 11"/>
          <p:cNvGraphicFramePr>
            <a:graphicFrameLocks noChangeAspect="1"/>
          </p:cNvGraphicFramePr>
          <p:nvPr/>
        </p:nvGraphicFramePr>
        <p:xfrm>
          <a:off x="1086073" y="3138995"/>
          <a:ext cx="94773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13" name="Equation" r:id="rId2" imgW="10363200" imgH="10668000" progId="Equation.DSMT4">
                  <p:embed/>
                </p:oleObj>
              </mc:Choice>
              <mc:Fallback>
                <p:oleObj name="Equation" r:id="rId2" imgW="10363200" imgH="10668000" progId="Equation.DSMT4">
                  <p:embed/>
                  <p:pic>
                    <p:nvPicPr>
                      <p:cNvPr id="0" name="图片 563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6073" y="3138995"/>
                        <a:ext cx="94773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684" name="Object 12"/>
          <p:cNvGraphicFramePr>
            <a:graphicFrameLocks noChangeAspect="1"/>
          </p:cNvGraphicFramePr>
          <p:nvPr/>
        </p:nvGraphicFramePr>
        <p:xfrm>
          <a:off x="3290887" y="3138995"/>
          <a:ext cx="1281113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14" name="Equation" r:id="rId4" imgW="14020800" imgH="10668000" progId="Equation.DSMT4">
                  <p:embed/>
                </p:oleObj>
              </mc:Choice>
              <mc:Fallback>
                <p:oleObj name="Equation" r:id="rId4" imgW="14020800" imgH="10668000" progId="Equation.DSMT4">
                  <p:embed/>
                  <p:pic>
                    <p:nvPicPr>
                      <p:cNvPr id="0" name="图片 563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887" y="3138995"/>
                        <a:ext cx="1281113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685" name="Rectangle 13"/>
          <p:cNvSpPr>
            <a:spLocks noChangeArrowheads="1"/>
          </p:cNvSpPr>
          <p:nvPr/>
        </p:nvSpPr>
        <p:spPr bwMode="auto">
          <a:xfrm>
            <a:off x="677545" y="1412776"/>
            <a:ext cx="3023242" cy="106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76200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1811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zh-CN" alt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虚短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虚断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点的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KCL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方程得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24686" name="Object 14"/>
          <p:cNvGraphicFramePr>
            <a:graphicFrameLocks noChangeAspect="1"/>
          </p:cNvGraphicFramePr>
          <p:nvPr/>
        </p:nvGraphicFramePr>
        <p:xfrm>
          <a:off x="2069257" y="4257092"/>
          <a:ext cx="2905056" cy="977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15" name="Equation" r:id="rId6" imgW="31699200" imgH="10668000" progId="Equation.DSMT4">
                  <p:embed/>
                </p:oleObj>
              </mc:Choice>
              <mc:Fallback>
                <p:oleObj name="Equation" r:id="rId6" imgW="31699200" imgH="10668000" progId="Equation.DSMT4">
                  <p:embed/>
                  <p:pic>
                    <p:nvPicPr>
                      <p:cNvPr id="0" name="图片 563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9257" y="4257092"/>
                        <a:ext cx="2905056" cy="977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4698" name="Group 26"/>
          <p:cNvGrpSpPr/>
          <p:nvPr/>
        </p:nvGrpSpPr>
        <p:grpSpPr bwMode="auto">
          <a:xfrm>
            <a:off x="1108615" y="5465662"/>
            <a:ext cx="2684462" cy="555626"/>
            <a:chOff x="441" y="3602"/>
            <a:chExt cx="1691" cy="350"/>
          </a:xfrm>
        </p:grpSpPr>
        <p:graphicFrame>
          <p:nvGraphicFramePr>
            <p:cNvPr id="46098" name="Object 16"/>
            <p:cNvGraphicFramePr>
              <a:graphicFrameLocks noChangeAspect="1"/>
            </p:cNvGraphicFramePr>
            <p:nvPr/>
          </p:nvGraphicFramePr>
          <p:xfrm>
            <a:off x="789" y="3635"/>
            <a:ext cx="1161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16" name="Equation" r:id="rId8" imgW="20116800" imgH="5486400" progId="Equation.DSMT4">
                    <p:embed/>
                  </p:oleObj>
                </mc:Choice>
                <mc:Fallback>
                  <p:oleObj name="Equation" r:id="rId8" imgW="20116800" imgH="5486400" progId="Equation.DSMT4">
                    <p:embed/>
                    <p:pic>
                      <p:nvPicPr>
                        <p:cNvPr id="0" name="图片 563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9" y="3635"/>
                          <a:ext cx="1161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099" name="Rectangle 17"/>
            <p:cNvSpPr>
              <a:spLocks noChangeArrowheads="1"/>
            </p:cNvSpPr>
            <p:nvPr/>
          </p:nvSpPr>
          <p:spPr bwMode="auto">
            <a:xfrm>
              <a:off x="441" y="3602"/>
              <a:ext cx="169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6200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811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 smtClean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若</a:t>
              </a:r>
              <a:endPara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aphicFrame>
        <p:nvGraphicFramePr>
          <p:cNvPr id="924690" name="Object 18"/>
          <p:cNvGraphicFramePr>
            <a:graphicFrameLocks noChangeAspect="1"/>
          </p:cNvGraphicFramePr>
          <p:nvPr/>
        </p:nvGraphicFramePr>
        <p:xfrm>
          <a:off x="1120998" y="2616707"/>
          <a:ext cx="158432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17" name="Equation" r:id="rId10" imgW="17373600" imgH="5791200" progId="Equation.DSMT4">
                  <p:embed/>
                </p:oleObj>
              </mc:Choice>
              <mc:Fallback>
                <p:oleObj name="Equation" r:id="rId10" imgW="17373600" imgH="5791200" progId="Equation.DSMT4">
                  <p:embed/>
                  <p:pic>
                    <p:nvPicPr>
                      <p:cNvPr id="0" name="图片 563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998" y="2616707"/>
                        <a:ext cx="1584325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691" name="AutoShape 19"/>
          <p:cNvSpPr/>
          <p:nvPr/>
        </p:nvSpPr>
        <p:spPr bwMode="auto">
          <a:xfrm>
            <a:off x="851123" y="2794507"/>
            <a:ext cx="171450" cy="1047750"/>
          </a:xfrm>
          <a:prstGeom prst="leftBrace">
            <a:avLst>
              <a:gd name="adj1" fmla="val 50926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24692" name="Object 20"/>
          <p:cNvGraphicFramePr>
            <a:graphicFrameLocks noChangeAspect="1"/>
          </p:cNvGraphicFramePr>
          <p:nvPr/>
        </p:nvGraphicFramePr>
        <p:xfrm>
          <a:off x="2086198" y="3138995"/>
          <a:ext cx="119697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18" name="Equation" r:id="rId12" imgW="13106400" imgH="10668000" progId="Equation.DSMT4">
                  <p:embed/>
                </p:oleObj>
              </mc:Choice>
              <mc:Fallback>
                <p:oleObj name="Equation" r:id="rId12" imgW="13106400" imgH="10668000" progId="Equation.DSMT4">
                  <p:embed/>
                  <p:pic>
                    <p:nvPicPr>
                      <p:cNvPr id="0" name="图片 563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6198" y="3138995"/>
                        <a:ext cx="119697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693" name="AutoShape 21"/>
          <p:cNvSpPr>
            <a:spLocks noChangeArrowheads="1"/>
          </p:cNvSpPr>
          <p:nvPr/>
        </p:nvSpPr>
        <p:spPr bwMode="auto">
          <a:xfrm>
            <a:off x="1259632" y="4570785"/>
            <a:ext cx="561975" cy="303212"/>
          </a:xfrm>
          <a:prstGeom prst="rightArrow">
            <a:avLst>
              <a:gd name="adj1" fmla="val 50000"/>
              <a:gd name="adj2" fmla="val 46335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924697" name="Group 25"/>
          <p:cNvGrpSpPr/>
          <p:nvPr/>
        </p:nvGrpSpPr>
        <p:grpSpPr bwMode="auto">
          <a:xfrm>
            <a:off x="4031940" y="5481228"/>
            <a:ext cx="2984500" cy="555624"/>
            <a:chOff x="2202" y="3612"/>
            <a:chExt cx="1880" cy="350"/>
          </a:xfrm>
        </p:grpSpPr>
        <p:sp>
          <p:nvSpPr>
            <p:cNvPr id="46096" name="Rectangle 23"/>
            <p:cNvSpPr>
              <a:spLocks noChangeArrowheads="1"/>
            </p:cNvSpPr>
            <p:nvPr/>
          </p:nvSpPr>
          <p:spPr bwMode="auto">
            <a:xfrm>
              <a:off x="2202" y="3625"/>
              <a:ext cx="613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1pPr>
              <a:lvl2pPr marL="76200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2pPr>
              <a:lvl3pPr marL="11811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/>
                  <a:cs typeface="楷体_GB2312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则有</a:t>
              </a:r>
              <a:endParaRPr lang="zh-CN" altLang="en-US" sz="2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46097" name="Object 24"/>
            <p:cNvGraphicFramePr>
              <a:graphicFrameLocks noChangeAspect="1"/>
            </p:cNvGraphicFramePr>
            <p:nvPr/>
          </p:nvGraphicFramePr>
          <p:xfrm>
            <a:off x="2815" y="3612"/>
            <a:ext cx="1267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19" name="Equation" r:id="rId14" imgW="21945600" imgH="5486400" progId="Equation.DSMT4">
                    <p:embed/>
                  </p:oleObj>
                </mc:Choice>
                <mc:Fallback>
                  <p:oleObj name="Equation" r:id="rId14" imgW="21945600" imgH="5486400" progId="Equation.DSMT4">
                    <p:embed/>
                    <p:pic>
                      <p:nvPicPr>
                        <p:cNvPr id="0" name="图片 563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5" y="3612"/>
                          <a:ext cx="1267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24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92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92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924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92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924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92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924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4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24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685" grpId="0" autoUpdateAnimBg="0"/>
      <p:bldP spid="924691" grpId="0" animBg="1"/>
      <p:bldP spid="92469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116013" y="1844675"/>
            <a:ext cx="5802312" cy="282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40000"/>
              </a:lnSpc>
            </a:pPr>
            <a:r>
              <a:rPr lang="en-US" altLang="zh-CN" sz="3200" dirty="0" smtClean="0"/>
              <a:t>2.4.1 </a:t>
            </a:r>
            <a:r>
              <a:rPr lang="zh-CN" altLang="en-US" sz="3200" dirty="0" smtClean="0"/>
              <a:t>求和电路</a:t>
            </a:r>
            <a:r>
              <a:rPr lang="zh-CN" altLang="en-US" sz="3200" dirty="0"/>
              <a:t>	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>
                <a:solidFill>
                  <a:schemeClr val="accent2"/>
                </a:solidFill>
              </a:rPr>
              <a:t>2.4.2 </a:t>
            </a:r>
            <a:r>
              <a:rPr lang="zh-CN" altLang="en-US" sz="3200" dirty="0">
                <a:solidFill>
                  <a:schemeClr val="accent2"/>
                </a:solidFill>
              </a:rPr>
              <a:t>求差电路</a:t>
            </a:r>
            <a:r>
              <a:rPr lang="zh-CN" altLang="en-US" sz="3200" dirty="0"/>
              <a:t>	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 smtClean="0"/>
              <a:t>2.4.3 </a:t>
            </a:r>
            <a:r>
              <a:rPr lang="zh-CN" altLang="en-US" sz="3200" dirty="0"/>
              <a:t>仪用</a:t>
            </a:r>
            <a:r>
              <a:rPr lang="zh-CN" altLang="en-US" sz="3200" dirty="0" smtClean="0"/>
              <a:t>放大器</a:t>
            </a:r>
            <a:r>
              <a:rPr lang="zh-CN" altLang="en-US" sz="3200" dirty="0"/>
              <a:t>	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 smtClean="0"/>
              <a:t>2.4.4 </a:t>
            </a:r>
            <a:r>
              <a:rPr lang="zh-CN" altLang="en-US" sz="3200" dirty="0"/>
              <a:t>积分和微分电路</a:t>
            </a:r>
            <a:endParaRPr lang="zh-CN" altLang="en-US" sz="3200" dirty="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47564" y="93054"/>
            <a:ext cx="7380820" cy="1355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600" dirty="0" smtClean="0">
                <a:solidFill>
                  <a:srgbClr val="000099"/>
                </a:solidFill>
              </a:rPr>
              <a:t>2.4  </a:t>
            </a:r>
            <a:r>
              <a:rPr lang="zh-CN" altLang="en-US" sz="3600" dirty="0">
                <a:solidFill>
                  <a:srgbClr val="000099"/>
                </a:solidFill>
              </a:rPr>
              <a:t>同相输入和反相输入放大电路</a:t>
            </a:r>
            <a:endParaRPr lang="zh-CN" altLang="en-US" sz="3600" dirty="0">
              <a:solidFill>
                <a:srgbClr val="000099"/>
              </a:solidFill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3600" dirty="0">
                <a:solidFill>
                  <a:srgbClr val="000099"/>
                </a:solidFill>
              </a:rPr>
              <a:t>的其他应用	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734" y="1266063"/>
            <a:ext cx="5272824" cy="3875311"/>
          </a:xfrm>
          <a:prstGeom prst="rect">
            <a:avLst/>
          </a:prstGeom>
        </p:spPr>
      </p:pic>
      <p:sp>
        <p:nvSpPr>
          <p:cNvPr id="39938" name="Rectangle 4"/>
          <p:cNvSpPr>
            <a:spLocks noChangeArrowheads="1"/>
          </p:cNvSpPr>
          <p:nvPr/>
        </p:nvSpPr>
        <p:spPr bwMode="auto">
          <a:xfrm>
            <a:off x="503548" y="66675"/>
            <a:ext cx="640889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just" eaLnBrk="1" hangingPunct="1"/>
            <a:r>
              <a:rPr lang="en-US" altLang="zh-CN" sz="3200" dirty="0" smtClean="0">
                <a:solidFill>
                  <a:srgbClr val="0000CC"/>
                </a:solidFill>
              </a:rPr>
              <a:t>2.4.2    </a:t>
            </a:r>
            <a:r>
              <a:rPr lang="zh-CN" altLang="en-US" sz="3200" dirty="0" smtClean="0">
                <a:solidFill>
                  <a:srgbClr val="0000CC"/>
                </a:solidFill>
              </a:rPr>
              <a:t>求</a:t>
            </a:r>
            <a:r>
              <a:rPr lang="zh-CN" altLang="en-US" sz="3200" dirty="0">
                <a:solidFill>
                  <a:srgbClr val="0000CC"/>
                </a:solidFill>
              </a:rPr>
              <a:t>差电路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sp>
        <p:nvSpPr>
          <p:cNvPr id="39940" name="Rectangle 6"/>
          <p:cNvSpPr>
            <a:spLocks noChangeArrowheads="1"/>
          </p:cNvSpPr>
          <p:nvPr/>
        </p:nvSpPr>
        <p:spPr bwMode="auto">
          <a:xfrm>
            <a:off x="611560" y="749647"/>
            <a:ext cx="3492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dirty="0">
                <a:solidFill>
                  <a:schemeClr val="accent2"/>
                </a:solidFill>
              </a:rPr>
              <a:t>1. </a:t>
            </a:r>
            <a:r>
              <a:rPr kumimoji="1" lang="zh-CN" altLang="en-US" dirty="0" smtClean="0">
                <a:solidFill>
                  <a:schemeClr val="accent2"/>
                </a:solidFill>
              </a:rPr>
              <a:t>电路结构</a:t>
            </a:r>
            <a:r>
              <a:rPr kumimoji="1" lang="zh-CN" altLang="en-US" dirty="0" smtClean="0"/>
              <a:t> </a:t>
            </a:r>
            <a:endParaRPr kumimoji="1" lang="zh-CN" altLang="en-US" dirty="0"/>
          </a:p>
        </p:txBody>
      </p:sp>
      <p:sp>
        <p:nvSpPr>
          <p:cNvPr id="918535" name="Rectangle 7"/>
          <p:cNvSpPr>
            <a:spLocks noChangeArrowheads="1"/>
          </p:cNvSpPr>
          <p:nvPr/>
        </p:nvSpPr>
        <p:spPr bwMode="auto">
          <a:xfrm>
            <a:off x="2373814" y="5288954"/>
            <a:ext cx="31951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i="1" dirty="0" err="1" smtClean="0">
                <a:latin typeface="Book Antiqua" panose="02040602050305030304" pitchFamily="18" charset="0"/>
              </a:rPr>
              <a:t>v</a:t>
            </a:r>
            <a:r>
              <a:rPr kumimoji="1" lang="en-US" altLang="zh-CN" baseline="-25000" dirty="0" err="1" smtClean="0"/>
              <a:t>o</a:t>
            </a:r>
            <a:r>
              <a:rPr kumimoji="1" lang="en-US" altLang="zh-CN" dirty="0" smtClean="0"/>
              <a:t>= </a:t>
            </a:r>
            <a:r>
              <a:rPr kumimoji="1" lang="en-US" altLang="zh-CN" i="1" dirty="0" smtClean="0"/>
              <a:t>f </a:t>
            </a:r>
            <a:r>
              <a:rPr kumimoji="1" lang="en-US" altLang="zh-CN" dirty="0" smtClean="0"/>
              <a:t>(</a:t>
            </a:r>
            <a:r>
              <a:rPr kumimoji="1" lang="en-US" altLang="zh-CN" i="1" dirty="0" smtClean="0">
                <a:latin typeface="Book Antiqua" panose="02040602050305030304" pitchFamily="18" charset="0"/>
              </a:rPr>
              <a:t>v</a:t>
            </a:r>
            <a:r>
              <a:rPr kumimoji="1" lang="en-US" altLang="zh-CN" baseline="-25000" dirty="0" smtClean="0"/>
              <a:t>i1</a:t>
            </a:r>
            <a:r>
              <a:rPr kumimoji="1" lang="zh-CN" altLang="en-US" dirty="0"/>
              <a:t>，</a:t>
            </a:r>
            <a:r>
              <a:rPr kumimoji="1" lang="en-US" altLang="zh-CN" i="1" dirty="0" smtClean="0">
                <a:latin typeface="Book Antiqua" panose="02040602050305030304" pitchFamily="18" charset="0"/>
              </a:rPr>
              <a:t>v</a:t>
            </a:r>
            <a:r>
              <a:rPr kumimoji="1" lang="en-US" altLang="zh-CN" baseline="-25000" dirty="0" smtClean="0"/>
              <a:t>i2</a:t>
            </a:r>
            <a:r>
              <a:rPr kumimoji="1" lang="en-US" altLang="zh-CN" dirty="0"/>
              <a:t>) = </a:t>
            </a:r>
            <a:r>
              <a:rPr kumimoji="1" lang="zh-CN" altLang="en-US" dirty="0" smtClean="0"/>
              <a:t>？ 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853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59" y="1232756"/>
            <a:ext cx="4101085" cy="3014131"/>
          </a:xfrm>
          <a:prstGeom prst="rect">
            <a:avLst/>
          </a:prstGeom>
        </p:spPr>
      </p:pic>
      <p:sp>
        <p:nvSpPr>
          <p:cNvPr id="40962" name="Rectangle 4"/>
          <p:cNvSpPr>
            <a:spLocks noChangeArrowheads="1"/>
          </p:cNvSpPr>
          <p:nvPr/>
        </p:nvSpPr>
        <p:spPr bwMode="auto">
          <a:xfrm>
            <a:off x="544513" y="741177"/>
            <a:ext cx="48910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dirty="0">
                <a:solidFill>
                  <a:schemeClr val="accent2"/>
                </a:solidFill>
              </a:rPr>
              <a:t>2. </a:t>
            </a:r>
            <a:r>
              <a:rPr kumimoji="1" lang="zh-CN" altLang="en-US" dirty="0">
                <a:solidFill>
                  <a:schemeClr val="accent2"/>
                </a:solidFill>
              </a:rPr>
              <a:t>输入输出关系</a:t>
            </a:r>
            <a:r>
              <a:rPr kumimoji="1" lang="zh-CN" altLang="en-US" dirty="0"/>
              <a:t> </a:t>
            </a:r>
            <a:endParaRPr kumimoji="1" lang="zh-CN" altLang="en-US" dirty="0"/>
          </a:p>
        </p:txBody>
      </p:sp>
      <p:sp>
        <p:nvSpPr>
          <p:cNvPr id="919565" name="AutoShape 13"/>
          <p:cNvSpPr/>
          <p:nvPr/>
        </p:nvSpPr>
        <p:spPr bwMode="auto">
          <a:xfrm>
            <a:off x="8352420" y="1484784"/>
            <a:ext cx="396875" cy="2376264"/>
          </a:xfrm>
          <a:prstGeom prst="rightBrace">
            <a:avLst>
              <a:gd name="adj1" fmla="val 39467"/>
              <a:gd name="adj2" fmla="val 50000"/>
            </a:avLst>
          </a:prstGeom>
          <a:noFill/>
          <a:ln w="28575">
            <a:solidFill>
              <a:srgbClr val="FF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19569" name="Object 17"/>
          <p:cNvGraphicFramePr>
            <a:graphicFrameLocks noChangeAspect="1"/>
          </p:cNvGraphicFramePr>
          <p:nvPr/>
        </p:nvGraphicFramePr>
        <p:xfrm>
          <a:off x="5796280" y="3092671"/>
          <a:ext cx="2486088" cy="977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27" name="Equation" r:id="rId2" imgW="27127200" imgH="10668000" progId="Equation.DSMT4">
                  <p:embed/>
                </p:oleObj>
              </mc:Choice>
              <mc:Fallback>
                <p:oleObj name="Equation" r:id="rId2" imgW="27127200" imgH="10668000" progId="Equation.DSMT4">
                  <p:embed/>
                  <p:pic>
                    <p:nvPicPr>
                      <p:cNvPr id="0" name="图片 519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280" y="3092671"/>
                        <a:ext cx="2486088" cy="977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9571" name="Object 19"/>
          <p:cNvGraphicFramePr>
            <a:graphicFrameLocks noChangeAspect="1"/>
          </p:cNvGraphicFramePr>
          <p:nvPr/>
        </p:nvGraphicFramePr>
        <p:xfrm>
          <a:off x="5786438" y="1197292"/>
          <a:ext cx="2346696" cy="1005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28" name="Equation" r:id="rId4" imgW="25603200" imgH="10972800" progId="Equation.DSMT4">
                  <p:embed/>
                </p:oleObj>
              </mc:Choice>
              <mc:Fallback>
                <p:oleObj name="Equation" r:id="rId4" imgW="25603200" imgH="10972800" progId="Equation.DSMT4">
                  <p:embed/>
                  <p:pic>
                    <p:nvPicPr>
                      <p:cNvPr id="0" name="图片 519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6438" y="1197292"/>
                        <a:ext cx="2346696" cy="10058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9573" name="Object 21"/>
          <p:cNvGraphicFramePr>
            <a:graphicFrameLocks noChangeAspect="1"/>
          </p:cNvGraphicFramePr>
          <p:nvPr/>
        </p:nvGraphicFramePr>
        <p:xfrm>
          <a:off x="6084168" y="2358300"/>
          <a:ext cx="1061280" cy="530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29" name="Equation" r:id="rId6" imgW="11582400" imgH="5791200" progId="Equation.DSMT4">
                  <p:embed/>
                </p:oleObj>
              </mc:Choice>
              <mc:Fallback>
                <p:oleObj name="Equation" r:id="rId6" imgW="11582400" imgH="5791200" progId="Equation.DSMT4">
                  <p:embed/>
                  <p:pic>
                    <p:nvPicPr>
                      <p:cNvPr id="0" name="图片 519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2358300"/>
                        <a:ext cx="1061280" cy="530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9574" name="Object 22"/>
          <p:cNvGraphicFramePr>
            <a:graphicFrameLocks noChangeAspect="1"/>
          </p:cNvGraphicFramePr>
          <p:nvPr/>
        </p:nvGraphicFramePr>
        <p:xfrm>
          <a:off x="2087724" y="4273297"/>
          <a:ext cx="4673520" cy="96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30" name="Equation" r:id="rId8" imgW="56083200" imgH="11582400" progId="Equation.DSMT4">
                  <p:embed/>
                </p:oleObj>
              </mc:Choice>
              <mc:Fallback>
                <p:oleObj name="Equation" r:id="rId8" imgW="56083200" imgH="11582400" progId="Equation.DSMT4">
                  <p:embed/>
                  <p:pic>
                    <p:nvPicPr>
                      <p:cNvPr id="0" name="图片 519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724" y="4273297"/>
                        <a:ext cx="4673520" cy="96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9576" name="Rectangle 24"/>
          <p:cNvSpPr>
            <a:spLocks noChangeArrowheads="1"/>
          </p:cNvSpPr>
          <p:nvPr/>
        </p:nvSpPr>
        <p:spPr bwMode="auto">
          <a:xfrm>
            <a:off x="1150938" y="5584605"/>
            <a:ext cx="31822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zh-CN" altLang="en-US" sz="2400" dirty="0" smtClean="0"/>
              <a:t>当 </a:t>
            </a:r>
            <a:r>
              <a:rPr kumimoji="1" lang="en-US" altLang="zh-CN" sz="2400" i="1" dirty="0" smtClean="0"/>
              <a:t>R</a:t>
            </a:r>
            <a:r>
              <a:rPr kumimoji="1" lang="en-US" altLang="zh-CN" sz="2400" baseline="-25000" dirty="0" smtClean="0"/>
              <a:t>3</a:t>
            </a:r>
            <a:r>
              <a:rPr kumimoji="1" lang="en-US" altLang="zh-CN" sz="2400" dirty="0" smtClean="0"/>
              <a:t> </a:t>
            </a:r>
            <a:r>
              <a:rPr kumimoji="1" lang="en-US" altLang="zh-CN" sz="2400" dirty="0"/>
              <a:t>/</a:t>
            </a:r>
            <a:r>
              <a:rPr kumimoji="1" lang="en-US" altLang="zh-CN" sz="2400" i="1" dirty="0"/>
              <a:t>R</a:t>
            </a:r>
            <a:r>
              <a:rPr kumimoji="1" lang="en-US" altLang="zh-CN" sz="2400" baseline="-25000" dirty="0"/>
              <a:t>2</a:t>
            </a:r>
            <a:r>
              <a:rPr kumimoji="1" lang="en-US" altLang="zh-CN" sz="2400" dirty="0"/>
              <a:t> </a:t>
            </a:r>
            <a:r>
              <a:rPr kumimoji="1" lang="zh-CN" altLang="en-US" sz="2400" dirty="0"/>
              <a:t>＝</a:t>
            </a:r>
            <a:r>
              <a:rPr kumimoji="1" lang="en-US" altLang="zh-CN" sz="2400" i="1" dirty="0"/>
              <a:t>R</a:t>
            </a:r>
            <a:r>
              <a:rPr kumimoji="1" lang="en-US" altLang="zh-CN" sz="2400" baseline="-25000" dirty="0"/>
              <a:t>4</a:t>
            </a:r>
            <a:r>
              <a:rPr kumimoji="1" lang="en-US" altLang="zh-CN" sz="2400" dirty="0"/>
              <a:t> /</a:t>
            </a:r>
            <a:r>
              <a:rPr kumimoji="1" lang="en-US" altLang="zh-CN" sz="2400" i="1" dirty="0" smtClean="0"/>
              <a:t>R</a:t>
            </a:r>
            <a:r>
              <a:rPr kumimoji="1" lang="en-US" altLang="zh-CN" sz="2400" baseline="-25000" dirty="0" smtClean="0"/>
              <a:t>1 </a:t>
            </a:r>
            <a:r>
              <a:rPr kumimoji="1" lang="zh-CN" altLang="en-US" sz="2400" dirty="0" smtClean="0"/>
              <a:t>时，</a:t>
            </a:r>
            <a:endParaRPr kumimoji="1" lang="en-US" altLang="zh-CN" sz="2400" dirty="0"/>
          </a:p>
        </p:txBody>
      </p:sp>
      <p:graphicFrame>
        <p:nvGraphicFramePr>
          <p:cNvPr id="919577" name="Object 25"/>
          <p:cNvGraphicFramePr>
            <a:graphicFrameLocks noChangeAspect="1"/>
          </p:cNvGraphicFramePr>
          <p:nvPr/>
        </p:nvGraphicFramePr>
        <p:xfrm>
          <a:off x="4688184" y="5373216"/>
          <a:ext cx="2260080" cy="88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31" name="Equation" r:id="rId10" imgW="27127200" imgH="10668000" progId="Equation.DSMT4">
                  <p:embed/>
                </p:oleObj>
              </mc:Choice>
              <mc:Fallback>
                <p:oleObj name="Equation" r:id="rId10" imgW="27127200" imgH="10668000" progId="Equation.DSMT4">
                  <p:embed/>
                  <p:pic>
                    <p:nvPicPr>
                      <p:cNvPr id="0" name="图片 519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8184" y="5373216"/>
                        <a:ext cx="2260080" cy="888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任意多边形 5"/>
          <p:cNvSpPr/>
          <p:nvPr/>
        </p:nvSpPr>
        <p:spPr bwMode="auto">
          <a:xfrm>
            <a:off x="2663788" y="1061330"/>
            <a:ext cx="2905125" cy="561975"/>
          </a:xfrm>
          <a:custGeom>
            <a:avLst/>
            <a:gdLst>
              <a:gd name="T0" fmla="*/ 0 w 2905125"/>
              <a:gd name="T1" fmla="*/ 533462 h 562037"/>
              <a:gd name="T2" fmla="*/ 1314450 w 2905125"/>
              <a:gd name="T3" fmla="*/ 62 h 562037"/>
              <a:gd name="T4" fmla="*/ 2905125 w 2905125"/>
              <a:gd name="T5" fmla="*/ 562037 h 562037"/>
              <a:gd name="T6" fmla="*/ 2905125 w 2905125"/>
              <a:gd name="T7" fmla="*/ 562037 h 5620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5125" h="562037">
                <a:moveTo>
                  <a:pt x="0" y="533462"/>
                </a:moveTo>
                <a:cubicBezTo>
                  <a:pt x="415131" y="264381"/>
                  <a:pt x="830263" y="-4700"/>
                  <a:pt x="1314450" y="62"/>
                </a:cubicBezTo>
                <a:cubicBezTo>
                  <a:pt x="1798637" y="4824"/>
                  <a:pt x="2905125" y="562037"/>
                  <a:pt x="2905125" y="562037"/>
                </a:cubicBezTo>
              </a:path>
            </a:pathLst>
          </a:custGeom>
          <a:noFill/>
          <a:ln w="28575" cap="flat" cmpd="sng" algn="ctr">
            <a:solidFill>
              <a:srgbClr val="FF00FF"/>
            </a:solidFill>
            <a:prstDash val="solid"/>
            <a:round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" name="任意多边形 18"/>
          <p:cNvSpPr/>
          <p:nvPr/>
        </p:nvSpPr>
        <p:spPr bwMode="auto">
          <a:xfrm>
            <a:off x="2619933" y="3140968"/>
            <a:ext cx="2924175" cy="541337"/>
          </a:xfrm>
          <a:custGeom>
            <a:avLst/>
            <a:gdLst>
              <a:gd name="T0" fmla="*/ 0 w 2924175"/>
              <a:gd name="T1" fmla="*/ 541031 h 541031"/>
              <a:gd name="T2" fmla="*/ 1314450 w 2924175"/>
              <a:gd name="T3" fmla="*/ 7631 h 541031"/>
              <a:gd name="T4" fmla="*/ 2924175 w 2924175"/>
              <a:gd name="T5" fmla="*/ 255281 h 54103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24175" h="541031">
                <a:moveTo>
                  <a:pt x="0" y="541031"/>
                </a:moveTo>
                <a:cubicBezTo>
                  <a:pt x="415131" y="271950"/>
                  <a:pt x="827088" y="55256"/>
                  <a:pt x="1314450" y="7631"/>
                </a:cubicBezTo>
                <a:cubicBezTo>
                  <a:pt x="1801812" y="-39994"/>
                  <a:pt x="2588816" y="146537"/>
                  <a:pt x="2924175" y="255281"/>
                </a:cubicBezTo>
              </a:path>
            </a:pathLst>
          </a:custGeom>
          <a:noFill/>
          <a:ln w="28575" cap="flat" cmpd="sng" algn="ctr">
            <a:solidFill>
              <a:srgbClr val="FF00FF"/>
            </a:solidFill>
            <a:prstDash val="solid"/>
            <a:round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503548" y="66675"/>
            <a:ext cx="640889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just" eaLnBrk="1" hangingPunct="1"/>
            <a:r>
              <a:rPr lang="en-US" altLang="zh-CN" sz="3200" dirty="0" smtClean="0">
                <a:solidFill>
                  <a:srgbClr val="0000CC"/>
                </a:solidFill>
              </a:rPr>
              <a:t>2.4.2    </a:t>
            </a:r>
            <a:r>
              <a:rPr lang="zh-CN" altLang="en-US" sz="3200" dirty="0" smtClean="0">
                <a:solidFill>
                  <a:srgbClr val="0000CC"/>
                </a:solidFill>
              </a:rPr>
              <a:t>求</a:t>
            </a:r>
            <a:r>
              <a:rPr lang="zh-CN" altLang="en-US" sz="3200" dirty="0">
                <a:solidFill>
                  <a:srgbClr val="0000CC"/>
                </a:solidFill>
              </a:rPr>
              <a:t>差电路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sp>
        <p:nvSpPr>
          <p:cNvPr id="17" name="AutoShape 21"/>
          <p:cNvSpPr>
            <a:spLocks noChangeArrowheads="1"/>
          </p:cNvSpPr>
          <p:nvPr/>
        </p:nvSpPr>
        <p:spPr bwMode="auto">
          <a:xfrm>
            <a:off x="1201713" y="4581128"/>
            <a:ext cx="561975" cy="303212"/>
          </a:xfrm>
          <a:prstGeom prst="rightArrow">
            <a:avLst>
              <a:gd name="adj1" fmla="val 50000"/>
              <a:gd name="adj2" fmla="val 46335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19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19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1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19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1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1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1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9565" grpId="0" animBg="1"/>
      <p:bldP spid="919576" grpId="0"/>
      <p:bldP spid="17" grpId="0" animBg="1"/>
      <p:bldP spid="19" grpId="0" animBg="1"/>
      <p:bldP spid="19" grpId="1" animBg="1"/>
      <p:bldP spid="6" grpId="0" animBg="1"/>
      <p:bldP spid="6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848375"/>
            <a:ext cx="4686954" cy="3444721"/>
          </a:xfrm>
          <a:prstGeom prst="rect">
            <a:avLst/>
          </a:prstGeom>
        </p:spPr>
      </p:pic>
      <p:graphicFrame>
        <p:nvGraphicFramePr>
          <p:cNvPr id="920585" name="Object 9"/>
          <p:cNvGraphicFramePr>
            <a:graphicFrameLocks noChangeAspect="1"/>
          </p:cNvGraphicFramePr>
          <p:nvPr/>
        </p:nvGraphicFramePr>
        <p:xfrm>
          <a:off x="926975" y="3250054"/>
          <a:ext cx="2653992" cy="977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8" name="Equation" r:id="rId2" imgW="28956000" imgH="10668000" progId="Equation.DSMT4">
                  <p:embed/>
                </p:oleObj>
              </mc:Choice>
              <mc:Fallback>
                <p:oleObj name="Equation" r:id="rId2" imgW="28956000" imgH="10668000" progId="Equation.DSMT4">
                  <p:embed/>
                  <p:pic>
                    <p:nvPicPr>
                      <p:cNvPr id="0" name="图片 525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975" y="3250054"/>
                        <a:ext cx="2653992" cy="977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2" name="Rectangle 2"/>
          <p:cNvSpPr>
            <a:spLocks noChangeArrowheads="1"/>
          </p:cNvSpPr>
          <p:nvPr/>
        </p:nvSpPr>
        <p:spPr bwMode="auto">
          <a:xfrm>
            <a:off x="496528" y="785651"/>
            <a:ext cx="2527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dirty="0">
                <a:solidFill>
                  <a:schemeClr val="accent2"/>
                </a:solidFill>
              </a:rPr>
              <a:t>3. </a:t>
            </a:r>
            <a:r>
              <a:rPr kumimoji="1" lang="zh-CN" altLang="en-US" dirty="0">
                <a:solidFill>
                  <a:schemeClr val="accent2"/>
                </a:solidFill>
              </a:rPr>
              <a:t>电压增益</a:t>
            </a:r>
            <a:r>
              <a:rPr kumimoji="1" lang="zh-CN" altLang="en-US" dirty="0"/>
              <a:t> </a:t>
            </a:r>
            <a:endParaRPr kumimoji="1" lang="zh-CN" altLang="en-US" dirty="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503548" y="66675"/>
            <a:ext cx="640889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just" eaLnBrk="1" hangingPunct="1"/>
            <a:r>
              <a:rPr lang="en-US" altLang="zh-CN" sz="3200" dirty="0" smtClean="0">
                <a:solidFill>
                  <a:srgbClr val="0000CC"/>
                </a:solidFill>
              </a:rPr>
              <a:t>2.4.2    </a:t>
            </a:r>
            <a:r>
              <a:rPr lang="zh-CN" altLang="en-US" sz="3200" dirty="0" smtClean="0">
                <a:solidFill>
                  <a:srgbClr val="0000CC"/>
                </a:solidFill>
              </a:rPr>
              <a:t>求</a:t>
            </a:r>
            <a:r>
              <a:rPr lang="zh-CN" altLang="en-US" sz="3200" dirty="0">
                <a:solidFill>
                  <a:srgbClr val="0000CC"/>
                </a:solidFill>
              </a:rPr>
              <a:t>差电路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graphicFrame>
        <p:nvGraphicFramePr>
          <p:cNvPr id="8" name="Object 25"/>
          <p:cNvGraphicFramePr>
            <a:graphicFrameLocks noChangeAspect="1"/>
          </p:cNvGraphicFramePr>
          <p:nvPr/>
        </p:nvGraphicFramePr>
        <p:xfrm>
          <a:off x="925274" y="2037051"/>
          <a:ext cx="2486088" cy="977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9" name="Equation" r:id="rId4" imgW="27127200" imgH="10668000" progId="Equation.DSMT4">
                  <p:embed/>
                </p:oleObj>
              </mc:Choice>
              <mc:Fallback>
                <p:oleObj name="Equation" r:id="rId4" imgW="27127200" imgH="10668000" progId="Equation.DSMT4">
                  <p:embed/>
                  <p:pic>
                    <p:nvPicPr>
                      <p:cNvPr id="0" name="图片 525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274" y="2037051"/>
                        <a:ext cx="2486088" cy="977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1714376" y="4656138"/>
          <a:ext cx="2905056" cy="977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30" name="Equation" r:id="rId6" imgW="31699200" imgH="10668000" progId="Equation.DSMT4">
                  <p:embed/>
                </p:oleObj>
              </mc:Choice>
              <mc:Fallback>
                <p:oleObj name="Equation" r:id="rId6" imgW="31699200" imgH="10668000" progId="Equation.DSMT4">
                  <p:embed/>
                  <p:pic>
                    <p:nvPicPr>
                      <p:cNvPr id="0" name="图片 525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376" y="4656138"/>
                        <a:ext cx="2905056" cy="977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4"/>
          <p:cNvSpPr>
            <a:spLocks noChangeArrowheads="1"/>
          </p:cNvSpPr>
          <p:nvPr/>
        </p:nvSpPr>
        <p:spPr bwMode="auto">
          <a:xfrm>
            <a:off x="1079612" y="4869438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zh-CN" altLang="en-US" sz="2400" dirty="0" smtClean="0"/>
              <a:t>或</a:t>
            </a:r>
            <a:endParaRPr kumimoji="1"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0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688" y="3262420"/>
            <a:ext cx="4064884" cy="2906959"/>
          </a:xfrm>
          <a:prstGeom prst="rect">
            <a:avLst/>
          </a:prstGeom>
        </p:spPr>
      </p:pic>
      <p:pic>
        <p:nvPicPr>
          <p:cNvPr id="9" name="图片 8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339" y="80628"/>
            <a:ext cx="4101085" cy="3014131"/>
          </a:xfrm>
          <a:prstGeom prst="rect">
            <a:avLst/>
          </a:prstGeom>
        </p:spPr>
      </p:pic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611188" y="821656"/>
            <a:ext cx="3492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dirty="0">
                <a:solidFill>
                  <a:schemeClr val="accent2"/>
                </a:solidFill>
              </a:rPr>
              <a:t>4. </a:t>
            </a:r>
            <a:r>
              <a:rPr kumimoji="1" lang="zh-CN" altLang="en-US" dirty="0" smtClean="0">
                <a:solidFill>
                  <a:schemeClr val="accent2"/>
                </a:solidFill>
              </a:rPr>
              <a:t>差模</a:t>
            </a:r>
            <a:r>
              <a:rPr kumimoji="1" lang="zh-CN" altLang="en-US" dirty="0">
                <a:solidFill>
                  <a:schemeClr val="accent2"/>
                </a:solidFill>
              </a:rPr>
              <a:t>输入</a:t>
            </a:r>
            <a:r>
              <a:rPr kumimoji="1" lang="zh-CN" altLang="en-US" dirty="0" smtClean="0">
                <a:solidFill>
                  <a:schemeClr val="accent2"/>
                </a:solidFill>
              </a:rPr>
              <a:t>电阻</a:t>
            </a:r>
            <a:endParaRPr kumimoji="1" lang="zh-CN" altLang="en-US" dirty="0"/>
          </a:p>
        </p:txBody>
      </p:sp>
      <p:graphicFrame>
        <p:nvGraphicFramePr>
          <p:cNvPr id="43014" name="对象 1"/>
          <p:cNvGraphicFramePr>
            <a:graphicFrameLocks noChangeAspect="1"/>
          </p:cNvGraphicFramePr>
          <p:nvPr/>
        </p:nvGraphicFramePr>
        <p:xfrm>
          <a:off x="1331640" y="1557611"/>
          <a:ext cx="167616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76" name="Equation" r:id="rId3" imgW="20116800" imgH="5486400" progId="Equation.DSMT4">
                  <p:embed/>
                </p:oleObj>
              </mc:Choice>
              <mc:Fallback>
                <p:oleObj name="Equation" r:id="rId3" imgW="20116800" imgH="5486400" progId="Equation.DSMT4">
                  <p:embed/>
                  <p:pic>
                    <p:nvPicPr>
                      <p:cNvPr id="0" name="图片 535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1557611"/>
                        <a:ext cx="167616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503548" y="66675"/>
            <a:ext cx="640889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just" eaLnBrk="1" hangingPunct="1"/>
            <a:r>
              <a:rPr lang="en-US" altLang="zh-CN" sz="3200" dirty="0" smtClean="0">
                <a:solidFill>
                  <a:srgbClr val="0000CC"/>
                </a:solidFill>
              </a:rPr>
              <a:t>2.4.2    </a:t>
            </a:r>
            <a:r>
              <a:rPr lang="zh-CN" altLang="en-US" sz="3200" dirty="0" smtClean="0">
                <a:solidFill>
                  <a:srgbClr val="0000CC"/>
                </a:solidFill>
              </a:rPr>
              <a:t>求</a:t>
            </a:r>
            <a:r>
              <a:rPr lang="zh-CN" altLang="en-US" sz="3200" dirty="0">
                <a:solidFill>
                  <a:srgbClr val="0000CC"/>
                </a:solidFill>
              </a:rPr>
              <a:t>差电路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274763" y="2306191"/>
          <a:ext cx="21558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77" name="Equation" r:id="rId5" imgW="25908000" imgH="5486400" progId="Equation.DSMT4">
                  <p:embed/>
                </p:oleObj>
              </mc:Choice>
              <mc:Fallback>
                <p:oleObj name="Equation" r:id="rId5" imgW="25908000" imgH="548640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763" y="2306191"/>
                        <a:ext cx="215582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279525" y="2935288"/>
          <a:ext cx="2413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78" name="Equation" r:id="rId7" imgW="28956000" imgH="10668000" progId="Equation.DSMT4">
                  <p:embed/>
                </p:oleObj>
              </mc:Choice>
              <mc:Fallback>
                <p:oleObj name="Equation" r:id="rId7" imgW="28956000" imgH="10668000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2935288"/>
                        <a:ext cx="24130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116013" y="1844675"/>
            <a:ext cx="5802312" cy="282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40000"/>
              </a:lnSpc>
            </a:pPr>
            <a:r>
              <a:rPr lang="en-US" altLang="zh-CN" sz="3200" dirty="0" smtClean="0"/>
              <a:t>2.4.1 </a:t>
            </a:r>
            <a:r>
              <a:rPr lang="zh-CN" altLang="en-US" sz="3200" dirty="0" smtClean="0"/>
              <a:t>求和电路</a:t>
            </a:r>
            <a:r>
              <a:rPr lang="zh-CN" altLang="en-US" sz="3200" dirty="0"/>
              <a:t>	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/>
              <a:t>2.4.2 </a:t>
            </a:r>
            <a:r>
              <a:rPr lang="zh-CN" altLang="en-US" sz="3200" dirty="0"/>
              <a:t>求差电路	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>
                <a:solidFill>
                  <a:schemeClr val="accent2"/>
                </a:solidFill>
              </a:rPr>
              <a:t>2.4.3 </a:t>
            </a:r>
            <a:r>
              <a:rPr lang="zh-CN" altLang="en-US" sz="3200" dirty="0">
                <a:solidFill>
                  <a:schemeClr val="accent2"/>
                </a:solidFill>
              </a:rPr>
              <a:t>仪用</a:t>
            </a:r>
            <a:r>
              <a:rPr lang="zh-CN" altLang="en-US" sz="3200" dirty="0" smtClean="0">
                <a:solidFill>
                  <a:schemeClr val="accent2"/>
                </a:solidFill>
              </a:rPr>
              <a:t>放大器</a:t>
            </a:r>
            <a:r>
              <a:rPr lang="zh-CN" altLang="en-US" sz="3200" dirty="0"/>
              <a:t>	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 smtClean="0"/>
              <a:t>2.4.4 </a:t>
            </a:r>
            <a:r>
              <a:rPr lang="zh-CN" altLang="en-US" sz="3200" dirty="0"/>
              <a:t>积分和微分电路</a:t>
            </a:r>
            <a:endParaRPr lang="zh-CN" altLang="en-US" sz="3200" dirty="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47564" y="93054"/>
            <a:ext cx="7380820" cy="1355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600" dirty="0" smtClean="0">
                <a:solidFill>
                  <a:srgbClr val="000099"/>
                </a:solidFill>
              </a:rPr>
              <a:t>2.4  </a:t>
            </a:r>
            <a:r>
              <a:rPr lang="zh-CN" altLang="en-US" sz="3600" dirty="0">
                <a:solidFill>
                  <a:srgbClr val="000099"/>
                </a:solidFill>
              </a:rPr>
              <a:t>同相输入和反相输入放大电路</a:t>
            </a:r>
            <a:endParaRPr lang="zh-CN" altLang="en-US" sz="3600" dirty="0">
              <a:solidFill>
                <a:srgbClr val="000099"/>
              </a:solidFill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3600" dirty="0">
                <a:solidFill>
                  <a:srgbClr val="000099"/>
                </a:solidFill>
              </a:rPr>
              <a:t>的其他应用	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5" name="对象 3"/>
          <p:cNvGraphicFramePr>
            <a:graphicFrameLocks noChangeAspect="1"/>
          </p:cNvGraphicFramePr>
          <p:nvPr/>
        </p:nvGraphicFramePr>
        <p:xfrm>
          <a:off x="3527425" y="554038"/>
          <a:ext cx="5199063" cy="2659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81" name="Picture" r:id="rId1" imgW="3239770" imgH="1657350" progId="Word.Picture.8">
                  <p:embed/>
                </p:oleObj>
              </mc:Choice>
              <mc:Fallback>
                <p:oleObj name="Picture" r:id="rId1" imgW="3239770" imgH="1657350" progId="Word.Picture.8">
                  <p:embed/>
                  <p:pic>
                    <p:nvPicPr>
                      <p:cNvPr id="0" name="图片 577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554038"/>
                        <a:ext cx="5199063" cy="26590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3203575" y="2859088"/>
            <a:ext cx="1116013" cy="341312"/>
          </a:xfrm>
          <a:prstGeom prst="wedgeRoundRectCallout">
            <a:avLst>
              <a:gd name="adj1" fmla="val 44231"/>
              <a:gd name="adj2" fmla="val -143537"/>
              <a:gd name="adj3" fmla="val 16667"/>
            </a:avLst>
          </a:prstGeom>
          <a:noFill/>
          <a:ln w="28575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热敏电阻 </a:t>
            </a:r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9157" name="Rectangle 69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647700" y="816893"/>
            <a:ext cx="34178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b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88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60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4180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4230" indent="-39878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电桥测温电路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755650" y="1412875"/>
          <a:ext cx="2220913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82" name="公式" r:id="rId4" imgW="1244600" imgH="444500" progId="Equation.3">
                  <p:embed/>
                </p:oleObj>
              </mc:Choice>
              <mc:Fallback>
                <p:oleObj name="公式" r:id="rId4" imgW="1244600" imgH="444500" progId="Equation.3">
                  <p:embed/>
                  <p:pic>
                    <p:nvPicPr>
                      <p:cNvPr id="0" name="图片 577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412875"/>
                        <a:ext cx="2220913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5"/>
          <p:cNvSpPr txBox="1">
            <a:spLocks noChangeArrowheads="1"/>
          </p:cNvSpPr>
          <p:nvPr/>
        </p:nvSpPr>
        <p:spPr bwMode="auto">
          <a:xfrm>
            <a:off x="107950" y="2168843"/>
            <a:ext cx="3503295" cy="589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00FF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35000"/>
              </a:lnSpc>
              <a:spcBef>
                <a:spcPct val="5000"/>
              </a:spcBef>
              <a:buClr>
                <a:srgbClr val="0000CC"/>
              </a:buClr>
              <a:buSzTx/>
              <a:buFont typeface="Wingdings" panose="05000000000000000000" pitchFamily="2" charset="2"/>
              <a:buChar char="Ø"/>
            </a:pPr>
            <a:r>
              <a:rPr kumimoji="1" lang="en-US" altLang="zh-CN" sz="2400">
                <a:solidFill>
                  <a:srgbClr val="CC0000"/>
                </a:solidFill>
              </a:rPr>
              <a:t> </a:t>
            </a:r>
            <a:r>
              <a:rPr kumimoji="1" lang="zh-CN" altLang="en-US" sz="2400">
                <a:solidFill>
                  <a:srgbClr val="CC0000"/>
                </a:solidFill>
              </a:rPr>
              <a:t>能实现吗？</a:t>
            </a:r>
            <a:r>
              <a:rPr kumimoji="1" lang="en-US" altLang="zh-CN" sz="2400" i="1">
                <a:solidFill>
                  <a:srgbClr val="CC0000"/>
                </a:solidFill>
              </a:rPr>
              <a:t>i</a:t>
            </a:r>
            <a:r>
              <a:rPr kumimoji="1" lang="en-US" altLang="zh-CN" sz="1400" i="1">
                <a:solidFill>
                  <a:srgbClr val="CC0000"/>
                </a:solidFill>
              </a:rPr>
              <a:t>A</a:t>
            </a:r>
            <a:r>
              <a:rPr kumimoji="1" lang="en-US" altLang="zh-CN" sz="2400" i="1">
                <a:solidFill>
                  <a:srgbClr val="CC0000"/>
                </a:solidFill>
              </a:rPr>
              <a:t>  i</a:t>
            </a:r>
            <a:r>
              <a:rPr kumimoji="1" lang="en-US" altLang="zh-CN" sz="1400" i="1">
                <a:solidFill>
                  <a:srgbClr val="CC0000"/>
                </a:solidFill>
              </a:rPr>
              <a:t>B</a:t>
            </a:r>
            <a:r>
              <a:rPr kumimoji="1" lang="zh-CN" altLang="en-US" sz="2400">
                <a:solidFill>
                  <a:srgbClr val="CC0000"/>
                </a:solidFill>
              </a:rPr>
              <a:t>不为0</a:t>
            </a:r>
            <a:endParaRPr kumimoji="1" lang="zh-CN" altLang="en-US" sz="2400">
              <a:solidFill>
                <a:srgbClr val="CC0000"/>
              </a:solidFill>
            </a:endParaRPr>
          </a:p>
        </p:txBody>
      </p:sp>
      <p:sp>
        <p:nvSpPr>
          <p:cNvPr id="10" name="Rectangle 69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647700" y="3392996"/>
            <a:ext cx="20875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b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88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60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4180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4230" indent="-39878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改进电路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16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808288" y="3284984"/>
          <a:ext cx="6037262" cy="282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83" name="Picture" r:id="rId6" imgW="3762375" imgH="1758950" progId="Word.Picture.8">
                  <p:embed/>
                </p:oleObj>
              </mc:Choice>
              <mc:Fallback>
                <p:oleObj name="Picture" r:id="rId6" imgW="3762375" imgH="1758950" progId="Word.Picture.8">
                  <p:embed/>
                  <p:pic>
                    <p:nvPicPr>
                      <p:cNvPr id="0" name="图片 577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288" y="3284984"/>
                        <a:ext cx="6037262" cy="282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75"/>
          <p:cNvSpPr txBox="1">
            <a:spLocks noChangeArrowheads="1"/>
          </p:cNvSpPr>
          <p:nvPr/>
        </p:nvSpPr>
        <p:spPr bwMode="auto">
          <a:xfrm>
            <a:off x="557213" y="5013833"/>
            <a:ext cx="1962150" cy="108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00FF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35000"/>
              </a:lnSpc>
              <a:spcBef>
                <a:spcPct val="5000"/>
              </a:spcBef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kumimoji="1" lang="en-US" altLang="zh-CN" sz="2400">
                <a:solidFill>
                  <a:srgbClr val="CC0000"/>
                </a:solidFill>
              </a:rPr>
              <a:t> </a:t>
            </a:r>
            <a:r>
              <a:rPr kumimoji="1" lang="zh-CN" altLang="en-US" sz="2400">
                <a:solidFill>
                  <a:srgbClr val="CC0000"/>
                </a:solidFill>
              </a:rPr>
              <a:t>有更好的电路吗？</a:t>
            </a:r>
            <a:endParaRPr kumimoji="1" lang="zh-CN" altLang="en-US" sz="2400">
              <a:solidFill>
                <a:srgbClr val="CC0000"/>
              </a:solidFill>
            </a:endParaRPr>
          </a:p>
        </p:txBody>
      </p:sp>
      <p:sp>
        <p:nvSpPr>
          <p:cNvPr id="14" name="Rectangle 69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611188" y="4005771"/>
            <a:ext cx="2089150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b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1pPr>
            <a:lvl2pPr marL="908050" indent="-43688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2pPr>
            <a:lvl3pPr marL="1304925" indent="-395605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3pPr>
            <a:lvl4pPr marL="1694180" indent="-3873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4pPr>
            <a:lvl5pPr marL="2094230" indent="-39878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体现了输入电阻的重要性</a:t>
            </a:r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08705" y="95250"/>
            <a:ext cx="5940846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just" eaLnBrk="1" hangingPunct="1"/>
            <a:r>
              <a:rPr lang="en-US" altLang="zh-CN" sz="3200" dirty="0" smtClean="0">
                <a:solidFill>
                  <a:srgbClr val="0000CC"/>
                </a:solidFill>
              </a:rPr>
              <a:t>2.4.3    </a:t>
            </a:r>
            <a:r>
              <a:rPr lang="zh-CN" altLang="en-US" sz="3200" dirty="0" smtClean="0">
                <a:solidFill>
                  <a:srgbClr val="0000CC"/>
                </a:solidFill>
              </a:rPr>
              <a:t>仪</a:t>
            </a:r>
            <a:r>
              <a:rPr lang="zh-CN" altLang="en-US" sz="3200" dirty="0">
                <a:solidFill>
                  <a:srgbClr val="0000CC"/>
                </a:solidFill>
              </a:rPr>
              <a:t>用</a:t>
            </a:r>
            <a:r>
              <a:rPr lang="zh-CN" altLang="en-US" sz="3200" dirty="0" smtClean="0">
                <a:solidFill>
                  <a:srgbClr val="0000CC"/>
                </a:solidFill>
              </a:rPr>
              <a:t>放大器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 flipV="1">
            <a:off x="5255895" y="1952625"/>
            <a:ext cx="324485" cy="171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 flipH="1" flipV="1">
            <a:off x="3924300" y="1952625"/>
            <a:ext cx="201295" cy="171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bldLvl="0" animBg="1"/>
      <p:bldP spid="10" grpId="0"/>
      <p:bldP spid="13" grpId="0"/>
      <p:bldP spid="1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330" y="1196752"/>
            <a:ext cx="6775126" cy="4565017"/>
          </a:xfrm>
          <a:prstGeom prst="rect">
            <a:avLst/>
          </a:prstGeom>
        </p:spPr>
      </p:pic>
      <p:sp>
        <p:nvSpPr>
          <p:cNvPr id="50180" name="Rectangle 6"/>
          <p:cNvSpPr>
            <a:spLocks noChangeArrowheads="1"/>
          </p:cNvSpPr>
          <p:nvPr/>
        </p:nvSpPr>
        <p:spPr bwMode="auto">
          <a:xfrm>
            <a:off x="539750" y="749648"/>
            <a:ext cx="3492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dirty="0">
                <a:solidFill>
                  <a:schemeClr val="accent2"/>
                </a:solidFill>
              </a:rPr>
              <a:t>1.  </a:t>
            </a:r>
            <a:r>
              <a:rPr kumimoji="1" lang="zh-CN" altLang="en-US" dirty="0">
                <a:solidFill>
                  <a:schemeClr val="accent2"/>
                </a:solidFill>
              </a:rPr>
              <a:t>电路及增益</a:t>
            </a:r>
            <a:r>
              <a:rPr kumimoji="1" lang="zh-CN" altLang="en-US" dirty="0"/>
              <a:t> </a:t>
            </a:r>
            <a:endParaRPr kumimoji="1" lang="zh-CN" altLang="en-US" dirty="0"/>
          </a:p>
        </p:txBody>
      </p:sp>
      <p:sp>
        <p:nvSpPr>
          <p:cNvPr id="926727" name="Line 7"/>
          <p:cNvSpPr>
            <a:spLocks noChangeShapeType="1"/>
          </p:cNvSpPr>
          <p:nvPr/>
        </p:nvSpPr>
        <p:spPr bwMode="auto">
          <a:xfrm>
            <a:off x="2843808" y="2989461"/>
            <a:ext cx="0" cy="540060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6729" name="Line 9"/>
          <p:cNvSpPr>
            <a:spLocks noChangeShapeType="1"/>
          </p:cNvSpPr>
          <p:nvPr/>
        </p:nvSpPr>
        <p:spPr bwMode="auto">
          <a:xfrm flipH="1">
            <a:off x="3456173" y="2881784"/>
            <a:ext cx="1439863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6730" name="Line 10"/>
          <p:cNvSpPr>
            <a:spLocks noChangeShapeType="1"/>
          </p:cNvSpPr>
          <p:nvPr/>
        </p:nvSpPr>
        <p:spPr bwMode="auto">
          <a:xfrm>
            <a:off x="3456173" y="2881784"/>
            <a:ext cx="0" cy="683741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6731" name="Line 11"/>
          <p:cNvSpPr>
            <a:spLocks noChangeShapeType="1"/>
          </p:cNvSpPr>
          <p:nvPr/>
        </p:nvSpPr>
        <p:spPr bwMode="auto">
          <a:xfrm>
            <a:off x="3456173" y="3565525"/>
            <a:ext cx="1439863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926738" name="Object 18"/>
          <p:cNvGraphicFramePr>
            <a:graphicFrameLocks noChangeAspect="1"/>
          </p:cNvGraphicFramePr>
          <p:nvPr/>
        </p:nvGraphicFramePr>
        <p:xfrm>
          <a:off x="1571464" y="2809441"/>
          <a:ext cx="87630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805" name="Equation" r:id="rId2" imgW="469900" imgH="431800" progId="Equation.DSMT4">
                  <p:embed/>
                </p:oleObj>
              </mc:Choice>
              <mc:Fallback>
                <p:oleObj name="Equation" r:id="rId2" imgW="469900" imgH="431800" progId="Equation.DSMT4">
                  <p:embed/>
                  <p:pic>
                    <p:nvPicPr>
                      <p:cNvPr id="0" name="图片 588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464" y="2809441"/>
                        <a:ext cx="876300" cy="80327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739" name="Object 19"/>
          <p:cNvGraphicFramePr>
            <a:graphicFrameLocks noChangeAspect="1"/>
          </p:cNvGraphicFramePr>
          <p:nvPr/>
        </p:nvGraphicFramePr>
        <p:xfrm>
          <a:off x="5004048" y="2269381"/>
          <a:ext cx="1051105" cy="77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806" name="Equation" r:id="rId4" imgW="584200" imgH="431800" progId="Equation.DSMT4">
                  <p:embed/>
                </p:oleObj>
              </mc:Choice>
              <mc:Fallback>
                <p:oleObj name="Equation" r:id="rId4" imgW="584200" imgH="431800" progId="Equation.DSMT4">
                  <p:embed/>
                  <p:pic>
                    <p:nvPicPr>
                      <p:cNvPr id="0" name="图片 588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2269381"/>
                        <a:ext cx="1051105" cy="776903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740" name="Object 20"/>
          <p:cNvGraphicFramePr>
            <a:graphicFrameLocks noChangeAspect="1"/>
          </p:cNvGraphicFramePr>
          <p:nvPr/>
        </p:nvGraphicFramePr>
        <p:xfrm>
          <a:off x="1295636" y="5265204"/>
          <a:ext cx="3838575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807" name="Equation" r:id="rId6" imgW="46024800" imgH="11582400" progId="Equation.DSMT4">
                  <p:embed/>
                </p:oleObj>
              </mc:Choice>
              <mc:Fallback>
                <p:oleObj name="Equation" r:id="rId6" imgW="46024800" imgH="11582400" progId="Equation.DSMT4">
                  <p:embed/>
                  <p:pic>
                    <p:nvPicPr>
                      <p:cNvPr id="0" name="图片 588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636" y="5265204"/>
                        <a:ext cx="3838575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08705" y="95250"/>
            <a:ext cx="5940846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just" eaLnBrk="1" hangingPunct="1"/>
            <a:r>
              <a:rPr lang="en-US" altLang="zh-CN" sz="3200" dirty="0" smtClean="0">
                <a:solidFill>
                  <a:srgbClr val="0000CC"/>
                </a:solidFill>
              </a:rPr>
              <a:t>2.4.3    </a:t>
            </a:r>
            <a:r>
              <a:rPr lang="zh-CN" altLang="en-US" sz="3200" dirty="0" smtClean="0">
                <a:solidFill>
                  <a:srgbClr val="0000CC"/>
                </a:solidFill>
              </a:rPr>
              <a:t>仪</a:t>
            </a:r>
            <a:r>
              <a:rPr lang="zh-CN" altLang="en-US" sz="3200" dirty="0">
                <a:solidFill>
                  <a:srgbClr val="0000CC"/>
                </a:solidFill>
              </a:rPr>
              <a:t>用</a:t>
            </a:r>
            <a:r>
              <a:rPr lang="zh-CN" altLang="en-US" sz="3200" dirty="0" smtClean="0">
                <a:solidFill>
                  <a:srgbClr val="0000CC"/>
                </a:solidFill>
              </a:rPr>
              <a:t>放大器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6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926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26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26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2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2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727" grpId="0" animBg="1"/>
      <p:bldP spid="926729" grpId="0" animBg="1"/>
      <p:bldP spid="926730" grpId="0" animBg="1"/>
      <p:bldP spid="92673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5"/>
          <p:cNvSpPr>
            <a:spLocks noChangeArrowheads="1"/>
          </p:cNvSpPr>
          <p:nvPr/>
        </p:nvSpPr>
        <p:spPr bwMode="auto">
          <a:xfrm>
            <a:off x="547688" y="749648"/>
            <a:ext cx="40687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dirty="0">
                <a:solidFill>
                  <a:schemeClr val="accent2"/>
                </a:solidFill>
              </a:rPr>
              <a:t>2. </a:t>
            </a:r>
            <a:r>
              <a:rPr kumimoji="1" lang="zh-CN" altLang="en-US" dirty="0">
                <a:solidFill>
                  <a:schemeClr val="accent2"/>
                </a:solidFill>
              </a:rPr>
              <a:t>集成仪用放大器</a:t>
            </a:r>
            <a:r>
              <a:rPr kumimoji="1" lang="zh-CN" altLang="en-US" dirty="0"/>
              <a:t> </a:t>
            </a:r>
            <a:endParaRPr kumimoji="1" lang="zh-CN" altLang="en-US" dirty="0"/>
          </a:p>
        </p:txBody>
      </p:sp>
      <p:sp>
        <p:nvSpPr>
          <p:cNvPr id="51204" name="Rectangle 7"/>
          <p:cNvSpPr>
            <a:spLocks noChangeArrowheads="1"/>
          </p:cNvSpPr>
          <p:nvPr/>
        </p:nvSpPr>
        <p:spPr bwMode="auto">
          <a:xfrm>
            <a:off x="3671900" y="745540"/>
            <a:ext cx="14718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lang="en-US" altLang="zh-CN" dirty="0" smtClean="0"/>
              <a:t>INA128</a:t>
            </a:r>
            <a:r>
              <a:rPr kumimoji="1" lang="en-US" altLang="zh-CN" dirty="0" smtClean="0"/>
              <a:t> </a:t>
            </a:r>
            <a:endParaRPr kumimoji="1" lang="en-US" altLang="zh-CN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508705" y="95250"/>
            <a:ext cx="5940846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just" eaLnBrk="1" hangingPunct="1"/>
            <a:r>
              <a:rPr lang="en-US" altLang="zh-CN" sz="3200" dirty="0" smtClean="0">
                <a:solidFill>
                  <a:srgbClr val="0000CC"/>
                </a:solidFill>
              </a:rPr>
              <a:t>2.4.3    </a:t>
            </a:r>
            <a:r>
              <a:rPr lang="zh-CN" altLang="en-US" sz="3200" dirty="0" smtClean="0">
                <a:solidFill>
                  <a:srgbClr val="0000CC"/>
                </a:solidFill>
              </a:rPr>
              <a:t>仪</a:t>
            </a:r>
            <a:r>
              <a:rPr lang="zh-CN" altLang="en-US" sz="3200" dirty="0">
                <a:solidFill>
                  <a:srgbClr val="0000CC"/>
                </a:solidFill>
              </a:rPr>
              <a:t>用</a:t>
            </a:r>
            <a:r>
              <a:rPr lang="zh-CN" altLang="en-US" sz="3200" dirty="0" smtClean="0">
                <a:solidFill>
                  <a:srgbClr val="0000CC"/>
                </a:solidFill>
              </a:rPr>
              <a:t>放大器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35" y="1285267"/>
            <a:ext cx="7972425" cy="4772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116013" y="1844675"/>
            <a:ext cx="5802312" cy="282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lnSpc>
                <a:spcPct val="140000"/>
              </a:lnSpc>
            </a:pPr>
            <a:r>
              <a:rPr lang="en-US" altLang="zh-CN" sz="3200" dirty="0" smtClean="0"/>
              <a:t>2.4.1 </a:t>
            </a:r>
            <a:r>
              <a:rPr lang="zh-CN" altLang="en-US" sz="3200" dirty="0" smtClean="0"/>
              <a:t>求和电路</a:t>
            </a:r>
            <a:r>
              <a:rPr lang="zh-CN" altLang="en-US" sz="3200" dirty="0"/>
              <a:t>	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/>
              <a:t>2.4.2 </a:t>
            </a:r>
            <a:r>
              <a:rPr lang="zh-CN" altLang="en-US" sz="3200" dirty="0"/>
              <a:t>求差电路	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/>
              <a:t>2.4.3 </a:t>
            </a:r>
            <a:r>
              <a:rPr lang="zh-CN" altLang="en-US" sz="3200" dirty="0"/>
              <a:t>仪用</a:t>
            </a:r>
            <a:r>
              <a:rPr lang="zh-CN" altLang="en-US" sz="3200" dirty="0" smtClean="0"/>
              <a:t>放大器</a:t>
            </a:r>
            <a:r>
              <a:rPr lang="zh-CN" altLang="en-US" sz="3200" dirty="0"/>
              <a:t>	</a:t>
            </a:r>
            <a:endParaRPr lang="zh-CN" altLang="en-US" sz="3200" dirty="0"/>
          </a:p>
          <a:p>
            <a:pPr algn="l" eaLnBrk="1" hangingPunct="1">
              <a:lnSpc>
                <a:spcPct val="140000"/>
              </a:lnSpc>
            </a:pPr>
            <a:r>
              <a:rPr lang="en-US" altLang="zh-CN" sz="3200" dirty="0">
                <a:solidFill>
                  <a:schemeClr val="accent2"/>
                </a:solidFill>
              </a:rPr>
              <a:t>2.4.4 </a:t>
            </a:r>
            <a:r>
              <a:rPr lang="zh-CN" altLang="en-US" sz="3200" dirty="0">
                <a:solidFill>
                  <a:schemeClr val="accent2"/>
                </a:solidFill>
              </a:rPr>
              <a:t>积分和微分电路</a:t>
            </a:r>
            <a:endParaRPr lang="zh-CN" altLang="en-US" sz="3200" dirty="0">
              <a:solidFill>
                <a:schemeClr val="accent2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47564" y="93054"/>
            <a:ext cx="7380820" cy="1355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600" dirty="0" smtClean="0">
                <a:solidFill>
                  <a:srgbClr val="000099"/>
                </a:solidFill>
              </a:rPr>
              <a:t>2.4  </a:t>
            </a:r>
            <a:r>
              <a:rPr lang="zh-CN" altLang="en-US" sz="3600" dirty="0">
                <a:solidFill>
                  <a:srgbClr val="000099"/>
                </a:solidFill>
              </a:rPr>
              <a:t>同相输入和反相输入放大电路</a:t>
            </a:r>
            <a:endParaRPr lang="zh-CN" altLang="en-US" sz="3600" dirty="0">
              <a:solidFill>
                <a:srgbClr val="000099"/>
              </a:solidFill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3600" dirty="0">
                <a:solidFill>
                  <a:srgbClr val="000099"/>
                </a:solidFill>
              </a:rPr>
              <a:t>的其他应用	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5"/>
          <p:cNvSpPr>
            <a:spLocks noChangeArrowheads="1"/>
          </p:cNvSpPr>
          <p:nvPr/>
        </p:nvSpPr>
        <p:spPr bwMode="auto">
          <a:xfrm>
            <a:off x="541338" y="748245"/>
            <a:ext cx="5040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>
                <a:solidFill>
                  <a:schemeClr val="accent2"/>
                </a:solidFill>
              </a:rPr>
              <a:t>1.  </a:t>
            </a:r>
            <a:r>
              <a:rPr kumimoji="1" lang="zh-CN" altLang="en-US">
                <a:solidFill>
                  <a:schemeClr val="accent2"/>
                </a:solidFill>
              </a:rPr>
              <a:t>积分电路</a:t>
            </a:r>
            <a:endParaRPr kumimoji="1" lang="zh-CN" altLang="en-US"/>
          </a:p>
        </p:txBody>
      </p:sp>
      <p:sp>
        <p:nvSpPr>
          <p:cNvPr id="23" name="Rectangle 3"/>
          <p:cNvSpPr>
            <a:spLocks noChangeArrowheads="1"/>
          </p:cNvSpPr>
          <p:nvPr/>
        </p:nvSpPr>
        <p:spPr bwMode="auto">
          <a:xfrm>
            <a:off x="508705" y="95250"/>
            <a:ext cx="594084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just" eaLnBrk="1" hangingPunct="1"/>
            <a:r>
              <a:rPr lang="en-US" altLang="zh-CN" sz="3200" dirty="0" smtClean="0">
                <a:solidFill>
                  <a:srgbClr val="0000CC"/>
                </a:solidFill>
              </a:rPr>
              <a:t>2.4.4    </a:t>
            </a:r>
            <a:r>
              <a:rPr lang="zh-CN" altLang="en-US" sz="3200" dirty="0" smtClean="0">
                <a:solidFill>
                  <a:srgbClr val="0000CC"/>
                </a:solidFill>
              </a:rPr>
              <a:t>积分</a:t>
            </a:r>
            <a:r>
              <a:rPr lang="zh-CN" altLang="en-US" sz="3200" dirty="0">
                <a:solidFill>
                  <a:srgbClr val="0000CC"/>
                </a:solidFill>
              </a:rPr>
              <a:t>和微分电路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grpSp>
        <p:nvGrpSpPr>
          <p:cNvPr id="42" name="Group 48"/>
          <p:cNvGrpSpPr/>
          <p:nvPr/>
        </p:nvGrpSpPr>
        <p:grpSpPr bwMode="auto">
          <a:xfrm>
            <a:off x="1292225" y="4767485"/>
            <a:ext cx="3279775" cy="893763"/>
            <a:chOff x="3252" y="2992"/>
            <a:chExt cx="2066" cy="563"/>
          </a:xfrm>
        </p:grpSpPr>
        <p:sp>
          <p:nvSpPr>
            <p:cNvPr id="43" name="AutoShape 41"/>
            <p:cNvSpPr>
              <a:spLocks noChangeArrowheads="1"/>
            </p:cNvSpPr>
            <p:nvPr/>
          </p:nvSpPr>
          <p:spPr bwMode="auto">
            <a:xfrm>
              <a:off x="3252" y="3194"/>
              <a:ext cx="288" cy="192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rgbClr val="A3B2C1"/>
            </a:solidFill>
            <a:ln w="190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44" name="Object 42"/>
            <p:cNvGraphicFramePr>
              <a:graphicFrameLocks noChangeAspect="1"/>
            </p:cNvGraphicFramePr>
            <p:nvPr/>
          </p:nvGraphicFramePr>
          <p:xfrm>
            <a:off x="3771" y="2992"/>
            <a:ext cx="1547" cy="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269" name="公式" r:id="rId1" imgW="1116965" imgH="406400" progId="Equation.3">
                    <p:embed/>
                  </p:oleObj>
                </mc:Choice>
                <mc:Fallback>
                  <p:oleObj name="公式" r:id="rId1" imgW="1116965" imgH="406400" progId="Equation.3">
                    <p:embed/>
                    <p:pic>
                      <p:nvPicPr>
                        <p:cNvPr id="0" name="图片 602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1" y="2992"/>
                          <a:ext cx="1547" cy="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" name="Object 39"/>
          <p:cNvGraphicFramePr>
            <a:graphicFrameLocks noChangeAspect="1"/>
          </p:cNvGraphicFramePr>
          <p:nvPr/>
        </p:nvGraphicFramePr>
        <p:xfrm>
          <a:off x="1251818" y="3846513"/>
          <a:ext cx="4832350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270" name="Equation" r:id="rId3" imgW="52730400" imgH="9753600" progId="Equation.DSMT4">
                  <p:embed/>
                </p:oleObj>
              </mc:Choice>
              <mc:Fallback>
                <p:oleObj name="Equation" r:id="rId3" imgW="52730400" imgH="9753600" progId="Equation.DSMT4">
                  <p:embed/>
                  <p:pic>
                    <p:nvPicPr>
                      <p:cNvPr id="0" name="图片 602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1818" y="3846513"/>
                        <a:ext cx="4832350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Group 47"/>
          <p:cNvGrpSpPr/>
          <p:nvPr/>
        </p:nvGrpSpPr>
        <p:grpSpPr bwMode="auto">
          <a:xfrm>
            <a:off x="1017153" y="2348880"/>
            <a:ext cx="2798763" cy="893763"/>
            <a:chOff x="384" y="1785"/>
            <a:chExt cx="1763" cy="563"/>
          </a:xfrm>
        </p:grpSpPr>
        <p:sp>
          <p:nvSpPr>
            <p:cNvPr id="47" name="Rectangle 33"/>
            <p:cNvSpPr>
              <a:spLocks noChangeArrowheads="1"/>
            </p:cNvSpPr>
            <p:nvPr/>
          </p:nvSpPr>
          <p:spPr bwMode="auto">
            <a:xfrm>
              <a:off x="384" y="1902"/>
              <a:ext cx="684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62000" indent="-285750" algn="l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81100" indent="-228600" algn="l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因此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48" name="Object 34"/>
            <p:cNvGraphicFramePr>
              <a:graphicFrameLocks noChangeAspect="1"/>
            </p:cNvGraphicFramePr>
            <p:nvPr/>
          </p:nvGraphicFramePr>
          <p:xfrm>
            <a:off x="1130" y="1785"/>
            <a:ext cx="1017" cy="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271" name="Equation" r:id="rId5" imgW="735965" imgH="406400" progId="Equation.DSMT4">
                    <p:embed/>
                  </p:oleObj>
                </mc:Choice>
                <mc:Fallback>
                  <p:oleObj name="Equation" r:id="rId5" imgW="735965" imgH="406400" progId="Equation.DSMT4">
                    <p:embed/>
                    <p:pic>
                      <p:nvPicPr>
                        <p:cNvPr id="0" name="图片 602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0" y="1785"/>
                          <a:ext cx="1017" cy="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9" name="对象 48"/>
          <p:cNvGraphicFramePr>
            <a:graphicFrameLocks noChangeAspect="1"/>
          </p:cNvGraphicFramePr>
          <p:nvPr/>
        </p:nvGraphicFramePr>
        <p:xfrm>
          <a:off x="4499992" y="764704"/>
          <a:ext cx="4329239" cy="242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272" name="Picture" r:id="rId7" imgW="1962150" imgH="1101090" progId="Word.Picture.8">
                  <p:embed/>
                </p:oleObj>
              </mc:Choice>
              <mc:Fallback>
                <p:oleObj name="Picture" r:id="rId7" imgW="1962150" imgH="1101090" progId="Word.Picture.8">
                  <p:embed/>
                  <p:pic>
                    <p:nvPicPr>
                      <p:cNvPr id="0" name="图片 602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764704"/>
                        <a:ext cx="4329239" cy="2427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Rectangle 7"/>
          <p:cNvSpPr>
            <a:spLocks noChangeArrowheads="1"/>
          </p:cNvSpPr>
          <p:nvPr/>
        </p:nvSpPr>
        <p:spPr bwMode="auto">
          <a:xfrm>
            <a:off x="1144400" y="5769260"/>
            <a:ext cx="6042025" cy="50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1pPr>
            <a:lvl2pPr marL="762000" indent="-28575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2pPr>
            <a:lvl3pPr marL="1181100" indent="-22860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4pPr>
            <a:lvl5pPr marL="2057400" indent="-228600" algn="l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5pPr>
            <a:lvl6pPr marL="25146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6pPr>
            <a:lvl7pPr marL="29718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7pPr>
            <a:lvl8pPr marL="34290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8pPr>
            <a:lvl9pPr marL="38862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楷体_GB2312" pitchFamily="49" charset="-122"/>
              </a:rPr>
              <a:t>负号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楷体_GB2312" pitchFamily="49" charset="-122"/>
              </a:rPr>
              <a:t>表示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v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楷体_GB2312" pitchFamily="49" charset="-122"/>
              </a:rPr>
              <a:t>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v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楷体_GB2312" pitchFamily="49" charset="-122"/>
              </a:rPr>
              <a:t>在相位上是相反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楷体_GB2312" pitchFamily="49" charset="-122"/>
              </a:rPr>
              <a:t>的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楷体_GB2312" pitchFamily="49" charset="-122"/>
            </a:endParaRPr>
          </a:p>
        </p:txBody>
      </p:sp>
      <p:sp>
        <p:nvSpPr>
          <p:cNvPr id="51" name="Rectangle 8"/>
          <p:cNvSpPr>
            <a:spLocks noChangeArrowheads="1"/>
          </p:cNvSpPr>
          <p:nvPr/>
        </p:nvSpPr>
        <p:spPr bwMode="auto">
          <a:xfrm>
            <a:off x="774626" y="1216707"/>
            <a:ext cx="249555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1pPr>
            <a:lvl2pPr marL="762000" indent="-28575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2pPr>
            <a:lvl3pPr marL="1181100" indent="-22860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4pPr>
            <a:lvl5pPr marL="2057400" indent="-228600" algn="l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5pPr>
            <a:lvl6pPr marL="25146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6pPr>
            <a:lvl7pPr marL="29718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7pPr>
            <a:lvl8pPr marL="34290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8pPr>
            <a:lvl9pPr marL="38862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楷体_GB2312" pitchFamily="49" charset="-122"/>
              </a:rPr>
              <a:t>根据虚短，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楷体_GB2312" pitchFamily="49" charset="-122"/>
              </a:rPr>
              <a:t>得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楷体_GB2312" pitchFamily="49" charset="-122"/>
            </a:endParaRPr>
          </a:p>
        </p:txBody>
      </p:sp>
      <p:sp>
        <p:nvSpPr>
          <p:cNvPr id="52" name="Rectangle 9"/>
          <p:cNvSpPr>
            <a:spLocks noChangeArrowheads="1"/>
          </p:cNvSpPr>
          <p:nvPr/>
        </p:nvSpPr>
        <p:spPr bwMode="auto">
          <a:xfrm>
            <a:off x="755576" y="1806995"/>
            <a:ext cx="260985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1pPr>
            <a:lvl2pPr marL="762000" indent="-28575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2pPr>
            <a:lvl3pPr marL="1181100" indent="-22860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4pPr>
            <a:lvl5pPr marL="2057400" indent="-228600" algn="l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5pPr>
            <a:lvl6pPr marL="25146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6pPr>
            <a:lvl7pPr marL="29718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7pPr>
            <a:lvl8pPr marL="34290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8pPr>
            <a:lvl9pPr marL="38862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楷体_GB2312" pitchFamily="49" charset="-122"/>
              </a:rPr>
              <a:t>根据虚断，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楷体_GB2312" pitchFamily="49" charset="-122"/>
              </a:rPr>
              <a:t>得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楷体_GB2312" pitchFamily="49" charset="-122"/>
            </a:endParaRPr>
          </a:p>
        </p:txBody>
      </p:sp>
      <p:grpSp>
        <p:nvGrpSpPr>
          <p:cNvPr id="53" name="Group 27"/>
          <p:cNvGrpSpPr/>
          <p:nvPr/>
        </p:nvGrpSpPr>
        <p:grpSpPr bwMode="auto">
          <a:xfrm>
            <a:off x="395536" y="3284984"/>
            <a:ext cx="4838700" cy="534988"/>
            <a:chOff x="288" y="2149"/>
            <a:chExt cx="3048" cy="337"/>
          </a:xfrm>
        </p:grpSpPr>
        <p:sp>
          <p:nvSpPr>
            <p:cNvPr id="54" name="Rectangle 19"/>
            <p:cNvSpPr>
              <a:spLocks noChangeArrowheads="1"/>
            </p:cNvSpPr>
            <p:nvPr/>
          </p:nvSpPr>
          <p:spPr bwMode="auto">
            <a:xfrm>
              <a:off x="288" y="2149"/>
              <a:ext cx="3048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1pPr>
              <a:lvl2pPr marL="762000" indent="-285750" algn="l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2pPr>
              <a:lvl3pPr marL="1181100" indent="-228600" algn="l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4pPr>
              <a:lvl5pPr marL="2057400" indent="-228600" algn="l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5pPr>
              <a:lvl6pPr marL="2514600" indent="-228600" fontAlgn="base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6pPr>
              <a:lvl7pPr marL="2971800" indent="-228600" fontAlgn="base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7pPr>
              <a:lvl8pPr marL="3429000" indent="-228600" fontAlgn="base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8pPr>
              <a:lvl9pPr marL="3886200" indent="-228600" fontAlgn="base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楷体_GB2312" pitchFamily="49" charset="-122"/>
                </a:rPr>
                <a:t>电容器被充电</a:t>
              </a:r>
              <a:r>
                <a:rPr kumimoji="0" lang="zh-CN" altLang="en-US" sz="2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楷体_GB2312" pitchFamily="49" charset="-122"/>
                </a:rPr>
                <a:t>，其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楷体_GB2312" pitchFamily="49" charset="-122"/>
                </a:rPr>
                <a:t>充电电流</a:t>
              </a:r>
              <a:r>
                <a:rPr kumimoji="0" lang="zh-CN" altLang="en-US" sz="2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楷体_GB2312" pitchFamily="49" charset="-122"/>
                </a:rPr>
                <a:t>为     ，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55" name="Object 20"/>
            <p:cNvGraphicFramePr>
              <a:graphicFrameLocks noChangeAspect="1"/>
            </p:cNvGraphicFramePr>
            <p:nvPr/>
          </p:nvGraphicFramePr>
          <p:xfrm>
            <a:off x="2880" y="2197"/>
            <a:ext cx="176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273" name="公式" r:id="rId9" imgW="127000" imgH="203200" progId="Equation.3">
                    <p:embed/>
                  </p:oleObj>
                </mc:Choice>
                <mc:Fallback>
                  <p:oleObj name="公式" r:id="rId9" imgW="127000" imgH="203200" progId="Equation.3">
                    <p:embed/>
                    <p:pic>
                      <p:nvPicPr>
                        <p:cNvPr id="0" name="图片 602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2197"/>
                          <a:ext cx="176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" name="Rectangle 21"/>
          <p:cNvSpPr>
            <a:spLocks noChangeArrowheads="1"/>
          </p:cNvSpPr>
          <p:nvPr/>
        </p:nvSpPr>
        <p:spPr bwMode="auto">
          <a:xfrm>
            <a:off x="5144653" y="3284984"/>
            <a:ext cx="3912887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1pPr>
            <a:lvl2pPr marL="762000" indent="-28575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2pPr>
            <a:lvl3pPr marL="1181100" indent="-22860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4pPr>
            <a:lvl5pPr marL="2057400" indent="-228600" algn="l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5pPr>
            <a:lvl6pPr marL="25146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6pPr>
            <a:lvl7pPr marL="29718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7pPr>
            <a:lvl8pPr marL="34290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8pPr>
            <a:lvl9pPr marL="38862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9pPr>
          </a:lstStyle>
          <a:p>
            <a:pPr algn="just" fontAlgn="base">
              <a:lnSpc>
                <a:spcPct val="120000"/>
              </a:lnSpc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设电容器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的初始电压为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零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26"/>
          <p:cNvSpPr>
            <a:spLocks noChangeArrowheads="1"/>
          </p:cNvSpPr>
          <p:nvPr/>
        </p:nvSpPr>
        <p:spPr bwMode="auto">
          <a:xfrm>
            <a:off x="4624679" y="5019513"/>
            <a:ext cx="2040943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1pPr>
            <a:lvl2pPr marL="762000" indent="-28575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2pPr>
            <a:lvl3pPr marL="1181100" indent="-22860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4pPr>
            <a:lvl5pPr marL="2057400" indent="-228600" algn="l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5pPr>
            <a:lvl6pPr marL="25146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6pPr>
            <a:lvl7pPr marL="29718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7pPr>
            <a:lvl8pPr marL="34290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8pPr>
            <a:lvl9pPr marL="38862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9pPr>
          </a:lstStyle>
          <a:p>
            <a:pPr algn="just" fontAlgn="base">
              <a:lnSpc>
                <a:spcPct val="120000"/>
              </a:lnSpc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（积分运算）</a:t>
            </a:r>
            <a:endParaRPr lang="zh-CN" altLang="en-US" sz="24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58" name="Object 27"/>
          <p:cNvGraphicFramePr>
            <a:graphicFrameLocks noChangeAspect="1"/>
          </p:cNvGraphicFramePr>
          <p:nvPr/>
        </p:nvGraphicFramePr>
        <p:xfrm>
          <a:off x="2900363" y="1235225"/>
          <a:ext cx="167163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274" name="Equation" r:id="rId11" imgW="18288000" imgH="5486400" progId="Equation.DSMT4">
                  <p:embed/>
                </p:oleObj>
              </mc:Choice>
              <mc:Fallback>
                <p:oleObj name="Equation" r:id="rId11" imgW="18288000" imgH="5486400" progId="Equation.DSMT4">
                  <p:embed/>
                  <p:pic>
                    <p:nvPicPr>
                      <p:cNvPr id="0" name="图片 602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363" y="1235225"/>
                        <a:ext cx="1671637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28"/>
          <p:cNvGraphicFramePr>
            <a:graphicFrameLocks noChangeAspect="1"/>
          </p:cNvGraphicFramePr>
          <p:nvPr/>
        </p:nvGraphicFramePr>
        <p:xfrm>
          <a:off x="2900363" y="1839801"/>
          <a:ext cx="8382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275" name="公式" r:id="rId13" imgW="381000" imgH="215900" progId="Equation.3">
                  <p:embed/>
                </p:oleObj>
              </mc:Choice>
              <mc:Fallback>
                <p:oleObj name="公式" r:id="rId13" imgW="381000" imgH="215900" progId="Equation.3">
                  <p:embed/>
                  <p:pic>
                    <p:nvPicPr>
                      <p:cNvPr id="0" name="图片 602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363" y="1839801"/>
                        <a:ext cx="8382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Rectangle 21"/>
          <p:cNvSpPr>
            <a:spLocks noChangeArrowheads="1"/>
          </p:cNvSpPr>
          <p:nvPr/>
        </p:nvSpPr>
        <p:spPr bwMode="auto">
          <a:xfrm>
            <a:off x="650354" y="4045597"/>
            <a:ext cx="494046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1pPr>
            <a:lvl2pPr marL="762000" indent="-28575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2pPr>
            <a:lvl3pPr marL="1181100" indent="-22860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4pPr>
            <a:lvl5pPr marL="2057400" indent="-228600" algn="l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5pPr>
            <a:lvl6pPr marL="25146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6pPr>
            <a:lvl7pPr marL="29718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7pPr>
            <a:lvl8pPr marL="34290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8pPr>
            <a:lvl9pPr marL="38862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9pPr>
          </a:lstStyle>
          <a:p>
            <a:pPr algn="just" fontAlgn="base">
              <a:lnSpc>
                <a:spcPct val="120000"/>
              </a:lnSpc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utoUpdateAnimBg="0"/>
      <p:bldP spid="51" grpId="0" autoUpdateAnimBg="0"/>
      <p:bldP spid="52" grpId="0" autoUpdateAnimBg="0"/>
      <p:bldP spid="56" grpId="0" autoUpdateAnimBg="0"/>
      <p:bldP spid="57" grpId="0" autoUpdateAnimBg="0"/>
      <p:bldP spid="60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431540" y="743322"/>
            <a:ext cx="50403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>
                <a:solidFill>
                  <a:schemeClr val="accent2"/>
                </a:solidFill>
              </a:rPr>
              <a:t>2.  </a:t>
            </a:r>
            <a:r>
              <a:rPr kumimoji="1" lang="zh-CN" altLang="en-US">
                <a:solidFill>
                  <a:schemeClr val="accent2"/>
                </a:solidFill>
              </a:rPr>
              <a:t>积分电路的应用</a:t>
            </a:r>
            <a:endParaRPr kumimoji="1" lang="zh-CN" altLang="en-US"/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508705" y="95250"/>
            <a:ext cx="594084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just" eaLnBrk="1" hangingPunct="1"/>
            <a:r>
              <a:rPr lang="en-US" altLang="zh-CN" sz="3200" dirty="0" smtClean="0">
                <a:solidFill>
                  <a:srgbClr val="0000CC"/>
                </a:solidFill>
              </a:rPr>
              <a:t>2.4.4    </a:t>
            </a:r>
            <a:r>
              <a:rPr lang="zh-CN" altLang="en-US" sz="3200" dirty="0" smtClean="0">
                <a:solidFill>
                  <a:srgbClr val="0000CC"/>
                </a:solidFill>
              </a:rPr>
              <a:t>积分</a:t>
            </a:r>
            <a:r>
              <a:rPr lang="zh-CN" altLang="en-US" sz="3200" dirty="0">
                <a:solidFill>
                  <a:srgbClr val="0000CC"/>
                </a:solidFill>
              </a:rPr>
              <a:t>和微分电路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719720" y="4724891"/>
          <a:ext cx="2445894" cy="1487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67" name="Picture" r:id="rId1" imgW="1219835" imgH="742950" progId="Word.Picture.8">
                  <p:embed/>
                </p:oleObj>
              </mc:Choice>
              <mc:Fallback>
                <p:oleObj name="Picture" r:id="rId1" imgW="1219835" imgH="742950" progId="Word.Picture.8">
                  <p:embed/>
                  <p:pic>
                    <p:nvPicPr>
                      <p:cNvPr id="0" name="图片 605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720" y="4724891"/>
                        <a:ext cx="2445894" cy="14875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图片 23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44" y="1232756"/>
            <a:ext cx="2407304" cy="2027203"/>
          </a:xfrm>
          <a:prstGeom prst="rect">
            <a:avLst/>
          </a:prstGeom>
        </p:spPr>
      </p:pic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4331317" y="944724"/>
          <a:ext cx="4329239" cy="242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68" name="Picture" r:id="rId4" imgW="1962150" imgH="1101090" progId="Word.Picture.8">
                  <p:embed/>
                </p:oleObj>
              </mc:Choice>
              <mc:Fallback>
                <p:oleObj name="Picture" r:id="rId4" imgW="1962150" imgH="1101090" progId="Word.Picture.8">
                  <p:embed/>
                  <p:pic>
                    <p:nvPicPr>
                      <p:cNvPr id="0" name="图片 605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1317" y="944724"/>
                        <a:ext cx="4329239" cy="2427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AutoShape 6"/>
          <p:cNvSpPr>
            <a:spLocks noChangeArrowheads="1"/>
          </p:cNvSpPr>
          <p:nvPr/>
        </p:nvSpPr>
        <p:spPr bwMode="auto">
          <a:xfrm>
            <a:off x="3231865" y="2052447"/>
            <a:ext cx="828675" cy="269875"/>
          </a:xfrm>
          <a:prstGeom prst="rightArrow">
            <a:avLst>
              <a:gd name="adj1" fmla="val 50000"/>
              <a:gd name="adj2" fmla="val 76765"/>
            </a:avLst>
          </a:prstGeom>
          <a:noFill/>
          <a:ln w="28575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AutoShape 9"/>
          <p:cNvSpPr>
            <a:spLocks noChangeArrowheads="1"/>
          </p:cNvSpPr>
          <p:nvPr/>
        </p:nvSpPr>
        <p:spPr bwMode="auto">
          <a:xfrm rot="7138186">
            <a:off x="7608748" y="3082236"/>
            <a:ext cx="828675" cy="269875"/>
          </a:xfrm>
          <a:prstGeom prst="rightArrow">
            <a:avLst>
              <a:gd name="adj1" fmla="val 50000"/>
              <a:gd name="adj2" fmla="val 76765"/>
            </a:avLst>
          </a:prstGeom>
          <a:noFill/>
          <a:ln w="28575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Rectangle 10"/>
          <p:cNvSpPr>
            <a:spLocks noChangeArrowheads="1"/>
          </p:cNvSpPr>
          <p:nvPr/>
        </p:nvSpPr>
        <p:spPr bwMode="auto">
          <a:xfrm>
            <a:off x="933166" y="3104964"/>
            <a:ext cx="19446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阶跃电压 </a:t>
            </a:r>
            <a:endParaRPr kumimoji="1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29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3645024"/>
            <a:ext cx="3205162" cy="2538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13"/>
          <p:cNvSpPr>
            <a:spLocks noChangeArrowheads="1"/>
          </p:cNvSpPr>
          <p:nvPr/>
        </p:nvSpPr>
        <p:spPr bwMode="auto">
          <a:xfrm>
            <a:off x="776778" y="3792683"/>
            <a:ext cx="3687210" cy="8660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1pPr>
            <a:lvl2pPr marL="762000" indent="-28575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2pPr>
            <a:lvl3pPr marL="1181100" indent="-22860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4pPr>
            <a:lvl5pPr marL="2057400" indent="-228600" algn="l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5pPr>
            <a:lvl6pPr marL="25146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6pPr>
            <a:lvl7pPr marL="29718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7pPr>
            <a:lvl8pPr marL="34290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8pPr>
            <a:lvl9pPr marL="38862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与一般</a:t>
            </a:r>
            <a:r>
              <a:rPr kumimoji="0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RC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电路相比该积分电路有何特点？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78650" y="3573145"/>
            <a:ext cx="16821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C00000"/>
                </a:solidFill>
              </a:rPr>
              <a:t>恒流积分</a:t>
            </a:r>
            <a:endParaRPr lang="zh-CN" altLang="en-US" sz="2400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5310" y="5723255"/>
            <a:ext cx="16821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C00000"/>
                </a:solidFill>
              </a:rPr>
              <a:t>变流积分</a:t>
            </a:r>
            <a:endParaRPr lang="zh-CN" altLang="en-US" sz="2400">
              <a:solidFill>
                <a:srgbClr val="C00000"/>
              </a:solidFill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2987675" y="4545330"/>
          <a:ext cx="2038350" cy="166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2567940" imgH="1939925" progId="Paint.Picture">
                  <p:embed/>
                </p:oleObj>
              </mc:Choice>
              <mc:Fallback>
                <p:oleObj name="" r:id="rId7" imgW="2567940" imgH="193992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87675" y="4545330"/>
                        <a:ext cx="2038350" cy="1666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/>
      <p:bldP spid="30" grpId="0" animBg="1" autoUpdateAnimBg="0"/>
      <p:bldP spid="2" grpId="0"/>
      <p:bldP spid="2" grpId="1"/>
      <p:bldP spid="3" grpId="0"/>
      <p:bldP spid="3" grpId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494789" y="1540046"/>
          <a:ext cx="4329239" cy="242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49" name="Picture" r:id="rId1" imgW="1962150" imgH="1101090" progId="Word.Picture.8">
                  <p:embed/>
                </p:oleObj>
              </mc:Choice>
              <mc:Fallback>
                <p:oleObj name="Picture" r:id="rId1" imgW="1962150" imgH="1101090" progId="Word.Picture.8">
                  <p:embed/>
                  <p:pic>
                    <p:nvPicPr>
                      <p:cNvPr id="0" name="图片 829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789" y="1540046"/>
                        <a:ext cx="4329239" cy="2427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431540" y="743322"/>
            <a:ext cx="50403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>
                <a:solidFill>
                  <a:schemeClr val="accent2"/>
                </a:solidFill>
              </a:rPr>
              <a:t>2.  </a:t>
            </a:r>
            <a:r>
              <a:rPr kumimoji="1" lang="zh-CN" altLang="en-US">
                <a:solidFill>
                  <a:schemeClr val="accent2"/>
                </a:solidFill>
              </a:rPr>
              <a:t>积分电路的应用</a:t>
            </a:r>
            <a:endParaRPr kumimoji="1" lang="zh-CN" alt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508705" y="95250"/>
            <a:ext cx="594084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just" eaLnBrk="1" hangingPunct="1"/>
            <a:r>
              <a:rPr lang="en-US" altLang="zh-CN" sz="3200" dirty="0" smtClean="0">
                <a:solidFill>
                  <a:srgbClr val="0000CC"/>
                </a:solidFill>
              </a:rPr>
              <a:t>2.4.4    </a:t>
            </a:r>
            <a:r>
              <a:rPr lang="zh-CN" altLang="en-US" sz="3200" dirty="0" smtClean="0">
                <a:solidFill>
                  <a:srgbClr val="0000CC"/>
                </a:solidFill>
              </a:rPr>
              <a:t>积分</a:t>
            </a:r>
            <a:r>
              <a:rPr lang="zh-CN" altLang="en-US" sz="3200" dirty="0">
                <a:solidFill>
                  <a:srgbClr val="0000CC"/>
                </a:solidFill>
              </a:rPr>
              <a:t>和微分电路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grpSp>
        <p:nvGrpSpPr>
          <p:cNvPr id="4" name="Group 32"/>
          <p:cNvGrpSpPr/>
          <p:nvPr/>
        </p:nvGrpSpPr>
        <p:grpSpPr bwMode="auto">
          <a:xfrm>
            <a:off x="5294833" y="1227299"/>
            <a:ext cx="2949575" cy="1258887"/>
            <a:chOff x="3379" y="2205"/>
            <a:chExt cx="1858" cy="793"/>
          </a:xfrm>
        </p:grpSpPr>
        <p:grpSp>
          <p:nvGrpSpPr>
            <p:cNvPr id="5" name="Group 33"/>
            <p:cNvGrpSpPr/>
            <p:nvPr/>
          </p:nvGrpSpPr>
          <p:grpSpPr bwMode="auto">
            <a:xfrm>
              <a:off x="3651" y="2523"/>
              <a:ext cx="1267" cy="365"/>
              <a:chOff x="3442" y="2294"/>
              <a:chExt cx="1440" cy="576"/>
            </a:xfrm>
          </p:grpSpPr>
          <p:sp>
            <p:nvSpPr>
              <p:cNvPr id="15" name="Line 34"/>
              <p:cNvSpPr>
                <a:spLocks noChangeShapeType="1"/>
              </p:cNvSpPr>
              <p:nvPr/>
            </p:nvSpPr>
            <p:spPr bwMode="auto">
              <a:xfrm>
                <a:off x="3730" y="2870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6" name="Group 35"/>
              <p:cNvGrpSpPr/>
              <p:nvPr/>
            </p:nvGrpSpPr>
            <p:grpSpPr bwMode="auto">
              <a:xfrm>
                <a:off x="3442" y="2294"/>
                <a:ext cx="1440" cy="576"/>
                <a:chOff x="3442" y="2294"/>
                <a:chExt cx="1440" cy="576"/>
              </a:xfrm>
            </p:grpSpPr>
            <p:sp>
              <p:nvSpPr>
                <p:cNvPr id="17" name="Line 36"/>
                <p:cNvSpPr>
                  <a:spLocks noChangeShapeType="1"/>
                </p:cNvSpPr>
                <p:nvPr/>
              </p:nvSpPr>
              <p:spPr bwMode="auto">
                <a:xfrm>
                  <a:off x="3442" y="2294"/>
                  <a:ext cx="288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" name="Line 37"/>
                <p:cNvSpPr>
                  <a:spLocks noChangeShapeType="1"/>
                </p:cNvSpPr>
                <p:nvPr/>
              </p:nvSpPr>
              <p:spPr bwMode="auto">
                <a:xfrm>
                  <a:off x="4018" y="2294"/>
                  <a:ext cx="288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" name="Line 38"/>
                <p:cNvSpPr>
                  <a:spLocks noChangeShapeType="1"/>
                </p:cNvSpPr>
                <p:nvPr/>
              </p:nvSpPr>
              <p:spPr bwMode="auto">
                <a:xfrm>
                  <a:off x="4306" y="2870"/>
                  <a:ext cx="288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" name="Line 39"/>
                <p:cNvSpPr>
                  <a:spLocks noChangeShapeType="1"/>
                </p:cNvSpPr>
                <p:nvPr/>
              </p:nvSpPr>
              <p:spPr bwMode="auto">
                <a:xfrm>
                  <a:off x="4594" y="2294"/>
                  <a:ext cx="288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Line 40"/>
                <p:cNvSpPr>
                  <a:spLocks noChangeShapeType="1"/>
                </p:cNvSpPr>
                <p:nvPr/>
              </p:nvSpPr>
              <p:spPr bwMode="auto">
                <a:xfrm>
                  <a:off x="3730" y="2294"/>
                  <a:ext cx="0" cy="57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" name="Line 41"/>
                <p:cNvSpPr>
                  <a:spLocks noChangeShapeType="1"/>
                </p:cNvSpPr>
                <p:nvPr/>
              </p:nvSpPr>
              <p:spPr bwMode="auto">
                <a:xfrm>
                  <a:off x="4018" y="2294"/>
                  <a:ext cx="0" cy="57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" name="Line 42"/>
                <p:cNvSpPr>
                  <a:spLocks noChangeShapeType="1"/>
                </p:cNvSpPr>
                <p:nvPr/>
              </p:nvSpPr>
              <p:spPr bwMode="auto">
                <a:xfrm>
                  <a:off x="4306" y="2294"/>
                  <a:ext cx="0" cy="57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Line 43"/>
                <p:cNvSpPr>
                  <a:spLocks noChangeShapeType="1"/>
                </p:cNvSpPr>
                <p:nvPr/>
              </p:nvSpPr>
              <p:spPr bwMode="auto">
                <a:xfrm>
                  <a:off x="4594" y="2294"/>
                  <a:ext cx="0" cy="57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" name="Group 44"/>
            <p:cNvGrpSpPr/>
            <p:nvPr/>
          </p:nvGrpSpPr>
          <p:grpSpPr bwMode="auto">
            <a:xfrm>
              <a:off x="3379" y="2205"/>
              <a:ext cx="1858" cy="793"/>
              <a:chOff x="3154" y="1766"/>
              <a:chExt cx="2112" cy="1250"/>
            </a:xfrm>
          </p:grpSpPr>
          <p:sp>
            <p:nvSpPr>
              <p:cNvPr id="7" name="Text Box 45"/>
              <p:cNvSpPr txBox="1">
                <a:spLocks noChangeArrowheads="1"/>
              </p:cNvSpPr>
              <p:nvPr/>
            </p:nvSpPr>
            <p:spPr bwMode="auto">
              <a:xfrm>
                <a:off x="5026" y="2438"/>
                <a:ext cx="240" cy="5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CN" sz="2800" i="1">
                    <a:ea typeface="楷体" panose="02010609060101010101" pitchFamily="49" charset="-122"/>
                  </a:rPr>
                  <a:t>t</a:t>
                </a:r>
                <a:endParaRPr lang="en-US" altLang="zh-CN" sz="2800" i="1">
                  <a:ea typeface="楷体" panose="02010609060101010101" pitchFamily="49" charset="-122"/>
                </a:endParaRPr>
              </a:p>
            </p:txBody>
          </p:sp>
          <p:grpSp>
            <p:nvGrpSpPr>
              <p:cNvPr id="8" name="Group 46"/>
              <p:cNvGrpSpPr/>
              <p:nvPr/>
            </p:nvGrpSpPr>
            <p:grpSpPr bwMode="auto">
              <a:xfrm>
                <a:off x="3298" y="1958"/>
                <a:ext cx="1728" cy="1008"/>
                <a:chOff x="3298" y="1958"/>
                <a:chExt cx="1728" cy="1008"/>
              </a:xfrm>
            </p:grpSpPr>
            <p:sp>
              <p:nvSpPr>
                <p:cNvPr id="11" name="Line 47"/>
                <p:cNvSpPr>
                  <a:spLocks noChangeShapeType="1"/>
                </p:cNvSpPr>
                <p:nvPr/>
              </p:nvSpPr>
              <p:spPr bwMode="auto">
                <a:xfrm>
                  <a:off x="3442" y="2102"/>
                  <a:ext cx="0" cy="86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" name="Line 48"/>
                <p:cNvSpPr>
                  <a:spLocks noChangeShapeType="1"/>
                </p:cNvSpPr>
                <p:nvPr/>
              </p:nvSpPr>
              <p:spPr bwMode="auto">
                <a:xfrm>
                  <a:off x="3298" y="2582"/>
                  <a:ext cx="158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" name="Line 49"/>
                <p:cNvSpPr>
                  <a:spLocks noChangeShapeType="1"/>
                </p:cNvSpPr>
                <p:nvPr/>
              </p:nvSpPr>
              <p:spPr bwMode="auto">
                <a:xfrm>
                  <a:off x="4834" y="2582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3442" y="1958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9" name="Text Box 51"/>
              <p:cNvSpPr txBox="1">
                <a:spLocks noChangeArrowheads="1"/>
              </p:cNvSpPr>
              <p:nvPr/>
            </p:nvSpPr>
            <p:spPr bwMode="auto">
              <a:xfrm>
                <a:off x="3154" y="1766"/>
                <a:ext cx="371" cy="4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CN" i="1">
                    <a:ea typeface="楷体" panose="02010609060101010101" pitchFamily="49" charset="-122"/>
                  </a:rPr>
                  <a:t>v</a:t>
                </a:r>
                <a:r>
                  <a:rPr lang="en-US" altLang="zh-CN" i="1" baseline="-25000">
                    <a:ea typeface="楷体" panose="02010609060101010101" pitchFamily="49" charset="-122"/>
                  </a:rPr>
                  <a:t>I</a:t>
                </a:r>
                <a:endParaRPr lang="en-US" altLang="zh-CN" i="1">
                  <a:ea typeface="楷体" panose="02010609060101010101" pitchFamily="49" charset="-122"/>
                </a:endParaRPr>
              </a:p>
            </p:txBody>
          </p:sp>
          <p:sp>
            <p:nvSpPr>
              <p:cNvPr id="10" name="Text Box 52"/>
              <p:cNvSpPr txBox="1">
                <a:spLocks noChangeArrowheads="1"/>
              </p:cNvSpPr>
              <p:nvPr/>
            </p:nvSpPr>
            <p:spPr bwMode="auto">
              <a:xfrm>
                <a:off x="3249" y="2562"/>
                <a:ext cx="241" cy="4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CN">
                    <a:ea typeface="楷体" panose="02010609060101010101" pitchFamily="49" charset="-122"/>
                  </a:rPr>
                  <a:t>0</a:t>
                </a:r>
                <a:endParaRPr lang="en-US" altLang="zh-CN" i="1">
                  <a:ea typeface="楷体" panose="02010609060101010101" pitchFamily="49" charset="-122"/>
                </a:endParaRPr>
              </a:p>
            </p:txBody>
          </p:sp>
        </p:grpSp>
      </p:grpSp>
      <p:grpSp>
        <p:nvGrpSpPr>
          <p:cNvPr id="25" name="Group 54"/>
          <p:cNvGrpSpPr/>
          <p:nvPr/>
        </p:nvGrpSpPr>
        <p:grpSpPr bwMode="auto">
          <a:xfrm>
            <a:off x="6122925" y="2308386"/>
            <a:ext cx="1206500" cy="1266878"/>
            <a:chOff x="3730" y="2822"/>
            <a:chExt cx="864" cy="1008"/>
          </a:xfrm>
        </p:grpSpPr>
        <p:sp>
          <p:nvSpPr>
            <p:cNvPr id="26" name="Line 55"/>
            <p:cNvSpPr>
              <a:spLocks noChangeShapeType="1"/>
            </p:cNvSpPr>
            <p:nvPr/>
          </p:nvSpPr>
          <p:spPr bwMode="auto">
            <a:xfrm>
              <a:off x="3730" y="2822"/>
              <a:ext cx="0" cy="100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56"/>
            <p:cNvSpPr>
              <a:spLocks noChangeShapeType="1"/>
            </p:cNvSpPr>
            <p:nvPr/>
          </p:nvSpPr>
          <p:spPr bwMode="auto">
            <a:xfrm>
              <a:off x="4018" y="2846"/>
              <a:ext cx="0" cy="96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57"/>
            <p:cNvSpPr>
              <a:spLocks noChangeShapeType="1"/>
            </p:cNvSpPr>
            <p:nvPr/>
          </p:nvSpPr>
          <p:spPr bwMode="auto">
            <a:xfrm flipH="1">
              <a:off x="4309" y="2847"/>
              <a:ext cx="0" cy="96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58"/>
            <p:cNvSpPr>
              <a:spLocks noChangeShapeType="1"/>
            </p:cNvSpPr>
            <p:nvPr/>
          </p:nvSpPr>
          <p:spPr bwMode="auto">
            <a:xfrm>
              <a:off x="4594" y="2834"/>
              <a:ext cx="0" cy="9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696252" y="2960948"/>
            <a:ext cx="2020963" cy="445810"/>
            <a:chOff x="5549483" y="2947186"/>
            <a:chExt cx="2020963" cy="445810"/>
          </a:xfrm>
        </p:grpSpPr>
        <p:sp>
          <p:nvSpPr>
            <p:cNvPr id="31" name="Line 59"/>
            <p:cNvSpPr>
              <a:spLocks noChangeShapeType="1"/>
            </p:cNvSpPr>
            <p:nvPr/>
          </p:nvSpPr>
          <p:spPr bwMode="auto">
            <a:xfrm rot="16200000" flipV="1">
              <a:off x="5543397" y="2962171"/>
              <a:ext cx="436911" cy="42473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60"/>
            <p:cNvSpPr>
              <a:spLocks noChangeShapeType="1"/>
            </p:cNvSpPr>
            <p:nvPr/>
          </p:nvSpPr>
          <p:spPr bwMode="auto">
            <a:xfrm flipV="1">
              <a:off x="6779108" y="2947186"/>
              <a:ext cx="419824" cy="44581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Line 61"/>
            <p:cNvSpPr>
              <a:spLocks noChangeShapeType="1"/>
            </p:cNvSpPr>
            <p:nvPr/>
          </p:nvSpPr>
          <p:spPr bwMode="auto">
            <a:xfrm flipV="1">
              <a:off x="5985250" y="2956086"/>
              <a:ext cx="397815" cy="43691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62"/>
            <p:cNvSpPr>
              <a:spLocks noChangeShapeType="1"/>
            </p:cNvSpPr>
            <p:nvPr/>
          </p:nvSpPr>
          <p:spPr bwMode="auto">
            <a:xfrm>
              <a:off x="6372201" y="2956086"/>
              <a:ext cx="406354" cy="43691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63"/>
            <p:cNvSpPr>
              <a:spLocks noChangeShapeType="1"/>
            </p:cNvSpPr>
            <p:nvPr/>
          </p:nvSpPr>
          <p:spPr bwMode="auto">
            <a:xfrm>
              <a:off x="7193111" y="2956087"/>
              <a:ext cx="377335" cy="43690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6" name="Group 64"/>
          <p:cNvGrpSpPr/>
          <p:nvPr/>
        </p:nvGrpSpPr>
        <p:grpSpPr bwMode="auto">
          <a:xfrm>
            <a:off x="5294833" y="2379824"/>
            <a:ext cx="2949575" cy="1258888"/>
            <a:chOff x="3154" y="1766"/>
            <a:chExt cx="2112" cy="1250"/>
          </a:xfrm>
        </p:grpSpPr>
        <p:sp>
          <p:nvSpPr>
            <p:cNvPr id="37" name="Text Box 65"/>
            <p:cNvSpPr txBox="1">
              <a:spLocks noChangeArrowheads="1"/>
            </p:cNvSpPr>
            <p:nvPr/>
          </p:nvSpPr>
          <p:spPr bwMode="auto">
            <a:xfrm>
              <a:off x="5026" y="2438"/>
              <a:ext cx="240" cy="5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2800" i="1">
                  <a:ea typeface="楷体" panose="02010609060101010101" pitchFamily="49" charset="-122"/>
                </a:rPr>
                <a:t>t</a:t>
              </a:r>
              <a:endParaRPr lang="en-US" altLang="zh-CN" sz="2800" i="1">
                <a:ea typeface="楷体" panose="02010609060101010101" pitchFamily="49" charset="-122"/>
              </a:endParaRPr>
            </a:p>
          </p:txBody>
        </p:sp>
        <p:grpSp>
          <p:nvGrpSpPr>
            <p:cNvPr id="38" name="Group 66"/>
            <p:cNvGrpSpPr/>
            <p:nvPr/>
          </p:nvGrpSpPr>
          <p:grpSpPr bwMode="auto">
            <a:xfrm>
              <a:off x="3298" y="1958"/>
              <a:ext cx="1728" cy="1008"/>
              <a:chOff x="3298" y="1958"/>
              <a:chExt cx="1728" cy="1008"/>
            </a:xfrm>
          </p:grpSpPr>
          <p:sp>
            <p:nvSpPr>
              <p:cNvPr id="41" name="Line 67"/>
              <p:cNvSpPr>
                <a:spLocks noChangeShapeType="1"/>
              </p:cNvSpPr>
              <p:nvPr/>
            </p:nvSpPr>
            <p:spPr bwMode="auto">
              <a:xfrm>
                <a:off x="3442" y="2102"/>
                <a:ext cx="0" cy="8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" name="Line 68"/>
              <p:cNvSpPr>
                <a:spLocks noChangeShapeType="1"/>
              </p:cNvSpPr>
              <p:nvPr/>
            </p:nvSpPr>
            <p:spPr bwMode="auto">
              <a:xfrm>
                <a:off x="3298" y="2582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" name="Line 69"/>
              <p:cNvSpPr>
                <a:spLocks noChangeShapeType="1"/>
              </p:cNvSpPr>
              <p:nvPr/>
            </p:nvSpPr>
            <p:spPr bwMode="auto">
              <a:xfrm>
                <a:off x="4834" y="2582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" name="Line 70"/>
              <p:cNvSpPr>
                <a:spLocks noChangeShapeType="1"/>
              </p:cNvSpPr>
              <p:nvPr/>
            </p:nvSpPr>
            <p:spPr bwMode="auto">
              <a:xfrm flipV="1">
                <a:off x="3442" y="1958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9" name="Text Box 71"/>
            <p:cNvSpPr txBox="1">
              <a:spLocks noChangeArrowheads="1"/>
            </p:cNvSpPr>
            <p:nvPr/>
          </p:nvSpPr>
          <p:spPr bwMode="auto">
            <a:xfrm>
              <a:off x="3154" y="1766"/>
              <a:ext cx="371" cy="4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i="1">
                  <a:ea typeface="楷体" panose="02010609060101010101" pitchFamily="49" charset="-122"/>
                </a:rPr>
                <a:t>v</a:t>
              </a:r>
              <a:r>
                <a:rPr lang="en-US" altLang="zh-CN" i="1" baseline="-25000">
                  <a:ea typeface="楷体" panose="02010609060101010101" pitchFamily="49" charset="-122"/>
                </a:rPr>
                <a:t>O</a:t>
              </a:r>
              <a:endParaRPr lang="en-US" altLang="zh-CN" i="1">
                <a:ea typeface="楷体" panose="02010609060101010101" pitchFamily="49" charset="-122"/>
              </a:endParaRPr>
            </a:p>
          </p:txBody>
        </p:sp>
        <p:sp>
          <p:nvSpPr>
            <p:cNvPr id="40" name="Text Box 72"/>
            <p:cNvSpPr txBox="1">
              <a:spLocks noChangeArrowheads="1"/>
            </p:cNvSpPr>
            <p:nvPr/>
          </p:nvSpPr>
          <p:spPr bwMode="auto">
            <a:xfrm>
              <a:off x="3249" y="2562"/>
              <a:ext cx="241" cy="4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>
                  <a:ea typeface="楷体" panose="02010609060101010101" pitchFamily="49" charset="-122"/>
                </a:rPr>
                <a:t>0</a:t>
              </a:r>
              <a:endParaRPr lang="en-US" altLang="zh-CN" i="1">
                <a:ea typeface="楷体" panose="02010609060101010101" pitchFamily="49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576263" y="732917"/>
            <a:ext cx="50403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>
                <a:solidFill>
                  <a:schemeClr val="accent2"/>
                </a:solidFill>
              </a:rPr>
              <a:t>3. </a:t>
            </a:r>
            <a:r>
              <a:rPr kumimoji="1" lang="zh-CN" altLang="en-US">
                <a:solidFill>
                  <a:schemeClr val="accent2"/>
                </a:solidFill>
              </a:rPr>
              <a:t>微分电路</a:t>
            </a:r>
            <a:endParaRPr kumimoji="1" lang="zh-CN" altLang="en-US"/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508705" y="95250"/>
            <a:ext cx="594084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just" eaLnBrk="1" hangingPunct="1"/>
            <a:r>
              <a:rPr lang="en-US" altLang="zh-CN" sz="3200" dirty="0" smtClean="0">
                <a:solidFill>
                  <a:srgbClr val="0000CC"/>
                </a:solidFill>
              </a:rPr>
              <a:t>2.4.4    </a:t>
            </a:r>
            <a:r>
              <a:rPr lang="zh-CN" altLang="en-US" sz="3200" dirty="0" smtClean="0">
                <a:solidFill>
                  <a:srgbClr val="0000CC"/>
                </a:solidFill>
              </a:rPr>
              <a:t>积分</a:t>
            </a:r>
            <a:r>
              <a:rPr lang="zh-CN" altLang="en-US" sz="3200" dirty="0">
                <a:solidFill>
                  <a:srgbClr val="0000CC"/>
                </a:solidFill>
              </a:rPr>
              <a:t>和微分电路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sp>
        <p:nvSpPr>
          <p:cNvPr id="23" name="Text Box 6"/>
          <p:cNvSpPr txBox="1">
            <a:spLocks noChangeArrowheads="1"/>
          </p:cNvSpPr>
          <p:nvPr/>
        </p:nvSpPr>
        <p:spPr bwMode="auto">
          <a:xfrm>
            <a:off x="631741" y="4182840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而</a:t>
            </a:r>
            <a:endParaRPr lang="zh-CN" altLang="en-US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4" name="Object 7"/>
          <p:cNvGraphicFramePr>
            <a:graphicFrameLocks noChangeAspect="1"/>
          </p:cNvGraphicFramePr>
          <p:nvPr/>
        </p:nvGraphicFramePr>
        <p:xfrm>
          <a:off x="1152661" y="3954463"/>
          <a:ext cx="2735263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24" name="Equation" r:id="rId1" imgW="29870400" imgH="9753600" progId="Equation.DSMT4">
                  <p:embed/>
                </p:oleObj>
              </mc:Choice>
              <mc:Fallback>
                <p:oleObj name="Equation" r:id="rId1" imgW="29870400" imgH="9753600" progId="Equation.DSMT4">
                  <p:embed/>
                  <p:pic>
                    <p:nvPicPr>
                      <p:cNvPr id="0" name="图片 620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661" y="3954463"/>
                        <a:ext cx="2735263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8"/>
          <p:cNvGraphicFramePr>
            <a:graphicFrameLocks noChangeAspect="1"/>
          </p:cNvGraphicFramePr>
          <p:nvPr/>
        </p:nvGraphicFramePr>
        <p:xfrm>
          <a:off x="1151620" y="4924649"/>
          <a:ext cx="1341438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25" name="Equation" r:id="rId3" imgW="14630400" imgH="9753600" progId="Equation.DSMT4">
                  <p:embed/>
                </p:oleObj>
              </mc:Choice>
              <mc:Fallback>
                <p:oleObj name="Equation" r:id="rId3" imgW="14630400" imgH="9753600" progId="Equation.DSMT4">
                  <p:embed/>
                  <p:pic>
                    <p:nvPicPr>
                      <p:cNvPr id="0" name="图片 62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620" y="4924649"/>
                        <a:ext cx="1341438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648273" y="1327351"/>
            <a:ext cx="4074096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1pPr>
            <a:lvl2pPr marL="762000" indent="-28575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2pPr>
            <a:lvl3pPr marL="1181100" indent="-22860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4pPr>
            <a:lvl5pPr marL="2057400" indent="-228600" algn="l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5pPr>
            <a:lvl6pPr marL="25146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6pPr>
            <a:lvl7pPr marL="29718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7pPr>
            <a:lvl8pPr marL="34290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8pPr>
            <a:lvl9pPr marL="38862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楷体_GB2312" pitchFamily="49" charset="-122"/>
              </a:rPr>
              <a:t>根据虚断得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楷体_GB2312" pitchFamily="49" charset="-122"/>
            </a:endParaRPr>
          </a:p>
        </p:txBody>
      </p:sp>
      <p:graphicFrame>
        <p:nvGraphicFramePr>
          <p:cNvPr id="27" name="Object 34"/>
          <p:cNvGraphicFramePr>
            <a:graphicFrameLocks noChangeAspect="1"/>
          </p:cNvGraphicFramePr>
          <p:nvPr/>
        </p:nvGraphicFramePr>
        <p:xfrm>
          <a:off x="1731963" y="1933541"/>
          <a:ext cx="8636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26" name="Equation" r:id="rId5" imgW="9448800" imgH="5486400" progId="Equation.DSMT4">
                  <p:embed/>
                </p:oleObj>
              </mc:Choice>
              <mc:Fallback>
                <p:oleObj name="Equation" r:id="rId5" imgW="9448800" imgH="5486400" progId="Equation.DSMT4">
                  <p:embed/>
                  <p:pic>
                    <p:nvPicPr>
                      <p:cNvPr id="0" name="图片 62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1963" y="1933541"/>
                        <a:ext cx="8636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34"/>
          <p:cNvGraphicFramePr>
            <a:graphicFrameLocks noChangeAspect="1"/>
          </p:cNvGraphicFramePr>
          <p:nvPr/>
        </p:nvGraphicFramePr>
        <p:xfrm>
          <a:off x="1121415" y="3159808"/>
          <a:ext cx="23653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27" name="Equation" r:id="rId7" imgW="25908000" imgH="5486400" progId="Equation.DSMT4">
                  <p:embed/>
                </p:oleObj>
              </mc:Choice>
              <mc:Fallback>
                <p:oleObj name="Equation" r:id="rId7" imgW="25908000" imgH="5486400" progId="Equation.DSMT4">
                  <p:embed/>
                  <p:pic>
                    <p:nvPicPr>
                      <p:cNvPr id="0" name="图片 62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1415" y="3159808"/>
                        <a:ext cx="236537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10"/>
          <p:cNvSpPr>
            <a:spLocks noChangeArrowheads="1"/>
          </p:cNvSpPr>
          <p:nvPr/>
        </p:nvSpPr>
        <p:spPr bwMode="auto">
          <a:xfrm>
            <a:off x="623367" y="2553618"/>
            <a:ext cx="4074096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1pPr>
            <a:lvl2pPr marL="762000" indent="-28575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2pPr>
            <a:lvl3pPr marL="1181100" indent="-22860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4pPr>
            <a:lvl5pPr marL="2057400" indent="-228600" algn="l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5pPr>
            <a:lvl6pPr marL="25146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6pPr>
            <a:lvl7pPr marL="29718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7pPr>
            <a:lvl8pPr marL="34290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8pPr>
            <a:lvl9pPr marL="3886200" indent="-22860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楷体_GB2312" pitchFamily="49" charset="-122"/>
              </a:rPr>
              <a:t>根据虚短得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楷体_GB2312" pitchFamily="49" charset="-122"/>
            </a:endParaRPr>
          </a:p>
        </p:txBody>
      </p:sp>
      <p:sp>
        <p:nvSpPr>
          <p:cNvPr id="30" name="Text Box 6"/>
          <p:cNvSpPr txBox="1">
            <a:spLocks noChangeArrowheads="1"/>
          </p:cNvSpPr>
          <p:nvPr/>
        </p:nvSpPr>
        <p:spPr bwMode="auto">
          <a:xfrm>
            <a:off x="4740683" y="4267042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所以</a:t>
            </a:r>
            <a:endParaRPr lang="zh-CN" altLang="en-US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1" name="Object 8"/>
          <p:cNvGraphicFramePr>
            <a:graphicFrameLocks noChangeAspect="1"/>
          </p:cNvGraphicFramePr>
          <p:nvPr/>
        </p:nvGraphicFramePr>
        <p:xfrm>
          <a:off x="5033981" y="4728707"/>
          <a:ext cx="310197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28" name="Equation" r:id="rId9" imgW="33832800" imgH="9753600" progId="Equation.DSMT4">
                  <p:embed/>
                </p:oleObj>
              </mc:Choice>
              <mc:Fallback>
                <p:oleObj name="Equation" r:id="rId9" imgW="33832800" imgH="9753600" progId="Equation.DSMT4">
                  <p:embed/>
                  <p:pic>
                    <p:nvPicPr>
                      <p:cNvPr id="0" name="图片 62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981" y="4728707"/>
                        <a:ext cx="3101975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/>
          <p:nvPr/>
        </p:nvGraphicFramePr>
        <p:xfrm>
          <a:off x="3707765" y="819785"/>
          <a:ext cx="4925695" cy="3134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1" imgW="4921885" imgH="3132455" progId="Paint.Picture">
                  <p:embed/>
                </p:oleObj>
              </mc:Choice>
              <mc:Fallback>
                <p:oleObj name="" r:id="rId11" imgW="4921885" imgH="313245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07765" y="819785"/>
                        <a:ext cx="4925695" cy="31349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  <p:bldP spid="26" grpId="0" autoUpdateAnimBg="0"/>
      <p:bldP spid="29" grpId="0" autoUpdateAnimBg="0"/>
      <p:bldP spid="30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4"/>
          <p:cNvSpPr>
            <a:spLocks noChangeArrowheads="1"/>
          </p:cNvSpPr>
          <p:nvPr/>
        </p:nvSpPr>
        <p:spPr bwMode="auto">
          <a:xfrm>
            <a:off x="539750" y="785651"/>
            <a:ext cx="50403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en-US" altLang="zh-CN" dirty="0">
                <a:solidFill>
                  <a:schemeClr val="accent2"/>
                </a:solidFill>
              </a:rPr>
              <a:t>4.  </a:t>
            </a:r>
            <a:r>
              <a:rPr kumimoji="1" lang="zh-CN" altLang="en-US" dirty="0">
                <a:solidFill>
                  <a:schemeClr val="accent2"/>
                </a:solidFill>
              </a:rPr>
              <a:t>微分电路的应用</a:t>
            </a:r>
            <a:endParaRPr kumimoji="1" lang="zh-CN" altLang="en-US" dirty="0"/>
          </a:p>
        </p:txBody>
      </p:sp>
      <p:sp>
        <p:nvSpPr>
          <p:cNvPr id="56324" name="Rectangle 5"/>
          <p:cNvSpPr>
            <a:spLocks noChangeArrowheads="1"/>
          </p:cNvSpPr>
          <p:nvPr/>
        </p:nvSpPr>
        <p:spPr bwMode="auto">
          <a:xfrm>
            <a:off x="1476375" y="1557338"/>
            <a:ext cx="34210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zh-CN" altLang="en-US"/>
              <a:t>方波输入信号 </a:t>
            </a:r>
            <a:endParaRPr kumimoji="1" lang="zh-CN" altLang="en-US"/>
          </a:p>
        </p:txBody>
      </p:sp>
      <p:sp>
        <p:nvSpPr>
          <p:cNvPr id="56325" name="Rectangle 6"/>
          <p:cNvSpPr>
            <a:spLocks noChangeArrowheads="1"/>
          </p:cNvSpPr>
          <p:nvPr/>
        </p:nvSpPr>
        <p:spPr bwMode="auto">
          <a:xfrm>
            <a:off x="1728788" y="4400550"/>
            <a:ext cx="2771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/>
            <a:r>
              <a:rPr kumimoji="1" lang="zh-CN" altLang="en-US"/>
              <a:t>尖脉冲输出 </a:t>
            </a:r>
            <a:endParaRPr kumimoji="1" lang="zh-CN" altLang="en-US"/>
          </a:p>
        </p:txBody>
      </p:sp>
      <p:grpSp>
        <p:nvGrpSpPr>
          <p:cNvPr id="56326" name="Group 8"/>
          <p:cNvGrpSpPr/>
          <p:nvPr/>
        </p:nvGrpSpPr>
        <p:grpSpPr bwMode="auto">
          <a:xfrm>
            <a:off x="4500563" y="800100"/>
            <a:ext cx="4002087" cy="5508625"/>
            <a:chOff x="2835" y="504"/>
            <a:chExt cx="2521" cy="3470"/>
          </a:xfrm>
        </p:grpSpPr>
        <p:pic>
          <p:nvPicPr>
            <p:cNvPr id="56327" name="Picture 3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5" y="504"/>
              <a:ext cx="2521" cy="3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28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3" y="2237"/>
              <a:ext cx="272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508705" y="95250"/>
            <a:ext cx="594084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just" eaLnBrk="1" hangingPunct="1"/>
            <a:r>
              <a:rPr lang="en-US" altLang="zh-CN" sz="3200" dirty="0" smtClean="0">
                <a:solidFill>
                  <a:srgbClr val="0000CC"/>
                </a:solidFill>
              </a:rPr>
              <a:t>2.4.4    </a:t>
            </a:r>
            <a:r>
              <a:rPr lang="zh-CN" altLang="en-US" sz="3200" dirty="0" smtClean="0">
                <a:solidFill>
                  <a:srgbClr val="0000CC"/>
                </a:solidFill>
              </a:rPr>
              <a:t>积分</a:t>
            </a:r>
            <a:r>
              <a:rPr lang="zh-CN" altLang="en-US" sz="3200" dirty="0">
                <a:solidFill>
                  <a:srgbClr val="0000CC"/>
                </a:solidFill>
              </a:rPr>
              <a:t>和微分电路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5202238" y="6345324"/>
            <a:ext cx="762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algn="ctr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end</a:t>
            </a:r>
            <a:endParaRPr kumimoji="1" lang="en-US" altLang="zh-CN" sz="2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Mzk3MzljMGRjNmJmNWVmZmI0YWE3YzE5ZGNkOWUzZG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4450</Words>
  <Application>WPS 演示</Application>
  <PresentationFormat>全屏显示(4:3)</PresentationFormat>
  <Paragraphs>612</Paragraphs>
  <Slides>56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149</vt:i4>
      </vt:variant>
      <vt:variant>
        <vt:lpstr>幻灯片标题</vt:lpstr>
      </vt:variant>
      <vt:variant>
        <vt:i4>56</vt:i4>
      </vt:variant>
    </vt:vector>
  </HeadingPairs>
  <TitlesOfParts>
    <vt:vector size="232" baseType="lpstr">
      <vt:lpstr>Arial</vt:lpstr>
      <vt:lpstr>宋体</vt:lpstr>
      <vt:lpstr>Wingdings</vt:lpstr>
      <vt:lpstr>黑体</vt:lpstr>
      <vt:lpstr>华文行楷</vt:lpstr>
      <vt:lpstr>楷体</vt:lpstr>
      <vt:lpstr>Arial Narrow</vt:lpstr>
      <vt:lpstr>Times New Roman</vt:lpstr>
      <vt:lpstr>楷体_GB2312</vt:lpstr>
      <vt:lpstr>新宋体</vt:lpstr>
      <vt:lpstr>Monotype Sorts</vt:lpstr>
      <vt:lpstr>Wingdings</vt:lpstr>
      <vt:lpstr>Symbol</vt:lpstr>
      <vt:lpstr>Book Antiqua</vt:lpstr>
      <vt:lpstr>华康简宋</vt:lpstr>
      <vt:lpstr>华文楷体</vt:lpstr>
      <vt:lpstr>方正书宋_GBK</vt:lpstr>
      <vt:lpstr>微软雅黑</vt:lpstr>
      <vt:lpstr>Calibri</vt:lpstr>
      <vt:lpstr>Arial Unicode MS</vt:lpstr>
      <vt:lpstr>仿宋_GB2312</vt:lpstr>
      <vt:lpstr>仿宋</vt:lpstr>
      <vt:lpstr>方正细等线_GBK</vt:lpstr>
      <vt:lpstr>Segoe Print</vt:lpstr>
      <vt:lpstr>Calibri</vt:lpstr>
      <vt:lpstr>楷体_GB2312</vt:lpstr>
      <vt:lpstr>Office 主题​​</vt:lpstr>
      <vt:lpstr>Word.Picture.8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Word.Picture.8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Word.Picture.8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Word.Picture.8</vt:lpstr>
      <vt:lpstr>Equation.3</vt:lpstr>
      <vt:lpstr>Word.Picture.8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Word.Picture.8</vt:lpstr>
      <vt:lpstr>Equation.3</vt:lpstr>
      <vt:lpstr>Equation.DSMT4</vt:lpstr>
      <vt:lpstr>Equation.3</vt:lpstr>
      <vt:lpstr>Equation.DSMT4</vt:lpstr>
      <vt:lpstr>Word.Picture.8</vt:lpstr>
      <vt:lpstr>Word.Picture.8</vt:lpstr>
      <vt:lpstr>Paint.Picture</vt:lpstr>
      <vt:lpstr>Word.Picture.8</vt:lpstr>
      <vt:lpstr>Equation.DSMT4</vt:lpstr>
      <vt:lpstr>Equation.DSMT4</vt:lpstr>
      <vt:lpstr>Equation.DSMT4</vt:lpstr>
      <vt:lpstr>Equation.DSMT4</vt:lpstr>
      <vt:lpstr>Equation.DSMT4</vt:lpstr>
      <vt:lpstr>Paint.Picture</vt:lpstr>
      <vt:lpstr>Word.Picture.8</vt:lpstr>
      <vt:lpstr>Word.Picture.8</vt:lpstr>
      <vt:lpstr>Word.Picture.8</vt:lpstr>
      <vt:lpstr>Equation.DSMT4</vt:lpstr>
      <vt:lpstr>Equation.DSMT4</vt:lpstr>
      <vt:lpstr>Word.Picture.8</vt:lpstr>
      <vt:lpstr>Equation.DSMT4</vt:lpstr>
      <vt:lpstr>Word.Picture.8</vt:lpstr>
      <vt:lpstr>Word.Picture.8</vt:lpstr>
      <vt:lpstr>Equation.DSMT4</vt:lpstr>
      <vt:lpstr>Equation.DSMT4</vt:lpstr>
      <vt:lpstr>Word.Picture.8</vt:lpstr>
      <vt:lpstr>Word.Picture.8</vt:lpstr>
      <vt:lpstr>Word.Picture.8</vt:lpstr>
      <vt:lpstr>Equation.DSMT4</vt:lpstr>
      <vt:lpstr>Equation.DSMT4</vt:lpstr>
      <vt:lpstr>Word.Picture.8</vt:lpstr>
      <vt:lpstr>Word.Picture.8</vt:lpstr>
      <vt:lpstr>Equation.DSMT4</vt:lpstr>
      <vt:lpstr>Equation.DSMT4</vt:lpstr>
      <vt:lpstr>Word.Picture.8</vt:lpstr>
      <vt:lpstr>Equation.DSMT4</vt:lpstr>
      <vt:lpstr>Equation.DSMT4</vt:lpstr>
      <vt:lpstr>Equation.DSMT4</vt:lpstr>
      <vt:lpstr>Equation.DSMT4</vt:lpstr>
      <vt:lpstr>Word.Picture.8</vt:lpstr>
      <vt:lpstr>Word.Picture.8</vt:lpstr>
      <vt:lpstr>Word.Picture.8</vt:lpstr>
      <vt:lpstr>Word.Picture.8</vt:lpstr>
      <vt:lpstr>Word.Picture.8</vt:lpstr>
      <vt:lpstr>Equation.3</vt:lpstr>
      <vt:lpstr>Equation.3</vt:lpstr>
      <vt:lpstr>Word.Picture.8</vt:lpstr>
      <vt:lpstr>Equation.3</vt:lpstr>
      <vt:lpstr>Word.Picture.8</vt:lpstr>
      <vt:lpstr>Word.Picture.8</vt:lpstr>
      <vt:lpstr>Equation.3</vt:lpstr>
      <vt:lpstr>Equation.3</vt:lpstr>
      <vt:lpstr>Word.Picture.8</vt:lpstr>
      <vt:lpstr>Word.Picture.8</vt:lpstr>
      <vt:lpstr>Equation.3</vt:lpstr>
      <vt:lpstr>Equation.3</vt:lpstr>
      <vt:lpstr>Equation.3</vt:lpstr>
      <vt:lpstr>Equation.3</vt:lpstr>
      <vt:lpstr>Equation.3</vt:lpstr>
      <vt:lpstr>Word.Picture.8</vt:lpstr>
      <vt:lpstr>Equation.DSMT4</vt:lpstr>
      <vt:lpstr>Word.Picture.8</vt:lpstr>
      <vt:lpstr>Word.Picture.8</vt:lpstr>
      <vt:lpstr>Word.Picture.8</vt:lpstr>
      <vt:lpstr>Word.Picture.8</vt:lpstr>
      <vt:lpstr>Word.Picture.8</vt:lpstr>
      <vt:lpstr>Equation.3</vt:lpstr>
      <vt:lpstr>Equation.DSMT4</vt:lpstr>
      <vt:lpstr>Equation.3</vt:lpstr>
      <vt:lpstr>Paint.Picture</vt:lpstr>
      <vt:lpstr>Word.Picture.8</vt:lpstr>
      <vt:lpstr>Word.Picture.8</vt:lpstr>
      <vt:lpstr>Word.Picture.8</vt:lpstr>
      <vt:lpstr>Equation.3</vt:lpstr>
      <vt:lpstr>Word.Picture.8</vt:lpstr>
      <vt:lpstr>Paint.Picture</vt:lpstr>
      <vt:lpstr>Word.Picture.8</vt:lpstr>
      <vt:lpstr>Equation.3</vt:lpstr>
      <vt:lpstr>Equation.3</vt:lpstr>
      <vt:lpstr>Word.Picture.8</vt:lpstr>
      <vt:lpstr>Equation.3</vt:lpstr>
      <vt:lpstr>Paint.Picture</vt:lpstr>
      <vt:lpstr>Paint.Picture</vt:lpstr>
      <vt:lpstr>Equation.DSMT4</vt:lpstr>
      <vt:lpstr>Equation.DSMT4</vt:lpstr>
      <vt:lpstr>Word.Picture.8</vt:lpstr>
      <vt:lpstr>Equation.DSMT4</vt:lpstr>
      <vt:lpstr>Equation.DSMT4</vt:lpstr>
      <vt:lpstr>Equation.DSMT4</vt:lpstr>
      <vt:lpstr>Equation.DSMT4</vt:lpstr>
      <vt:lpstr>Equation.DSMT4</vt:lpstr>
      <vt:lpstr>Word.Picture.8</vt:lpstr>
      <vt:lpstr>Equation.DSMT4</vt:lpstr>
      <vt:lpstr>Equation.DSMT4</vt:lpstr>
      <vt:lpstr>Equation.DSMT4</vt:lpstr>
      <vt:lpstr>Equation.DSMT4</vt:lpstr>
      <vt:lpstr>Paint.Picture</vt:lpstr>
      <vt:lpstr>Equation.DSMT4</vt:lpstr>
      <vt:lpstr>Word.Picture.8</vt:lpstr>
      <vt:lpstr>Equation.DSMT4</vt:lpstr>
      <vt:lpstr>Equation.DSMT4</vt:lpstr>
      <vt:lpstr>Equation.DSMT4</vt:lpstr>
      <vt:lpstr>Equation.DSMT4</vt:lpstr>
      <vt:lpstr>Equation.DSMT4</vt:lpstr>
      <vt:lpstr>Word.Picture.8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Lin Zhang</dc:creator>
  <cp:lastModifiedBy>WPS_1661702256</cp:lastModifiedBy>
  <cp:revision>1269</cp:revision>
  <dcterms:created xsi:type="dcterms:W3CDTF">2014-01-02T08:12:00Z</dcterms:created>
  <dcterms:modified xsi:type="dcterms:W3CDTF">2024-06-13T03:08:53Z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37519922E4784A26ACBC1108319098C9_12</vt:lpwstr>
  </property>
  <property fmtid="{D5CDD505-2E9C-101B-9397-08002B2CF9AE}" pid="3" name="KSOProductBuildVer">
    <vt:lpwstr>2052-12.1.0.16729</vt:lpwstr>
  </property>
</Properties>
</file>